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70" r:id="rId6"/>
    <p:sldId id="260" r:id="rId7"/>
    <p:sldId id="261" r:id="rId8"/>
    <p:sldId id="271" r:id="rId9"/>
    <p:sldId id="262" r:id="rId10"/>
    <p:sldId id="263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417A3-1E3F-4B57-833C-A311F4080B71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EF29B3-0BFE-45E1-AC17-47FA859AF7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84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B3F1CF-5D29-0ECE-6854-7AA41236D7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08297F5-009E-E132-D4C1-8EB589AF7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75E982-1D86-4A35-22FB-85F0C9342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05ED8C-C764-41F5-96CF-0F9B15F62710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CA8F91-44C0-C53F-84CB-82093B91E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307FA1-517C-6E49-DF2C-DE20401CE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7426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F8F0C3-8723-E6EB-1CD3-FF4A48739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BCC6CE-1AA6-29B8-FA2C-E44291A07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0E23E14-85C5-9886-633C-EE02CDB1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D9CF9-F98D-4852-8F64-2FC979518458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AF512B-C418-D84D-DFC3-181C251AA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2BB726C-AE8F-154B-B1A7-2C3B20782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9973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4306B5-3470-456A-8E2A-7C4752A27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5839A7D-4172-F7D4-8E9B-D01D6D369E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73C8BF-2C78-DBA1-35D2-7B2906E3A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A392E-DF18-4958-95B6-B6810D71BE20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87C6A4-0198-F886-17C5-57538154B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88519C7-E3DE-2675-8A36-C16B78F3A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2081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B8E40E-362D-4859-CD43-4B7F4999D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C75C2B-402B-7466-0882-CCBDDBD1C0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0C9C484-16CF-4831-A5CD-17300D7B8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27A976-DA37-FBBF-4B31-6C9B04988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F5635-DC9A-4631-B178-36166F94D0A9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69D9321-97A1-3FB7-7319-C46945412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DD7204-BEEB-970F-6009-99090142D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7448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CE865E-4FCA-CEC7-31AE-0CCDC4628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6B7E2B8-DAE5-C016-965A-C15BEF25F1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205343D-5E29-2C38-1441-D0A70DD644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EFDAFE0-28DA-5E3F-16C7-2738A35DE7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00A10E0-9493-7A45-EF68-CE368E448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DDF3B20-4C5C-724E-E129-C9214B113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E3DF5-06DF-4B12-9B13-4D54DD2F3862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5E6C0C9-8463-9E94-671D-F76AA9D8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1B4F47E-58A7-2BCF-8B4E-8EF9D9A9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6069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F63021-E7EE-68E0-1E0E-0EE81526E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4FDB582-024A-A711-B7EA-0ACD3001D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E9157-DC33-4C39-A1DB-7F5B1368E853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511D26C-0405-54AF-A233-5BC70981B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0708BF2-F1CC-81CC-F018-3254567B2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1977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C4D75C-4ED2-F943-1BA4-DE7C0ABA0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24E4A-5C14-47F0-9BD0-23FAEA541D2C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3F7ABD5-7F31-5353-5765-43B66B13C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2F8FF4-A0CD-2810-775E-D809700A7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5489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544B77-687F-A018-0944-93A3F54B1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38E86A7-E8E9-76DA-B1DC-B5A7A926A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79B20AD-E832-6B04-8A6C-88534A9689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4306BB-4E95-B626-454F-D0C39023F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F0B9-5C83-45E1-ABC4-8556F01C6EA6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A687D1-F9B2-0055-A2F5-A41A34F83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00E05D-D278-84D7-6C9A-8969F9E38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72206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C7F0E7-7CC8-C35C-D9C1-5C35A6323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65E79FF-BDC0-FCE9-5166-FD23AD3F29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7288C77-EB14-C734-47CD-13EB1A79D2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B63277-6071-3C39-DED9-3C889E0E1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7A24-7C32-4FF8-B071-FD61542E569C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786C79-B916-96C7-2B33-C63E81146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03A883-7AA3-5493-40B8-8BBF4841D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8182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4B4A97-BFF5-516E-1C9D-89431A9C3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4A3951C-A90B-3B28-DBAE-5C3F3EB1C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4F9E02-E2B0-B1C2-2994-A3CC220F2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F5EB3-C563-4E68-80FD-8D5ACBE0CBEB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219C13D-BDCB-A6C8-9D76-4FCAEAB83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C4854A-DC00-ED83-A23C-2679B3A07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7335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EE43455-376C-0277-BFD8-EF739243A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D5A633F-8EDB-0D05-EA52-27CD6265DF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5CFFE9-77D8-8731-1255-83F016F3F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E1D79-E096-42C4-8C59-BE7309206E82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138AA9-B2FF-E8EB-D99C-683EA8E4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5A1821-53BC-8E26-545F-D60DDFF6C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4253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0C49BD6-F266-F60D-BF1E-D9E3D9D77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7C3D3C9-F0AA-8D41-8E28-6D6C21EEC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2AD035-3394-1915-7111-E22525F139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C2DDFB-653B-45E7-9B69-D78293D4C1C1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9CC7E2B-79B8-FD40-8B4B-EB19090F14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C99D347-34E8-D89A-6C95-32DD89D26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C8F3A-98E9-46B1-BAC9-77D0933372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841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6E668D-5CDA-1613-AF0D-9C304D370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2133" y="1122363"/>
            <a:ext cx="10227733" cy="2387600"/>
          </a:xfrm>
        </p:spPr>
        <p:txBody>
          <a:bodyPr>
            <a:normAutofit/>
          </a:bodyPr>
          <a:lstStyle/>
          <a:p>
            <a:r>
              <a:rPr lang="en-US" altLang="ja-JP" dirty="0"/>
              <a:t>LLM</a:t>
            </a:r>
            <a:r>
              <a:rPr lang="ja-JP" altLang="ja-JP" dirty="0"/>
              <a:t>による打合せログからの要求仕様書生成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3D93682-2F44-1227-6C31-A8922748F3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公立諏訪東京理科大学</a:t>
            </a:r>
            <a:endParaRPr kumimoji="1" lang="en-US" altLang="ja-JP" dirty="0"/>
          </a:p>
          <a:p>
            <a:r>
              <a:rPr lang="ja-JP" altLang="en-US" dirty="0"/>
              <a:t>山田研究室</a:t>
            </a:r>
            <a:endParaRPr lang="en-US" altLang="ja-JP" dirty="0"/>
          </a:p>
          <a:p>
            <a:r>
              <a:rPr kumimoji="1" lang="ja-JP" altLang="en-US" dirty="0"/>
              <a:t>飯田 琉斗</a:t>
            </a:r>
          </a:p>
        </p:txBody>
      </p:sp>
    </p:spTree>
    <p:extLst>
      <p:ext uri="{BB962C8B-B14F-4D97-AF65-F5344CB8AC3E}">
        <p14:creationId xmlns:p14="http://schemas.microsoft.com/office/powerpoint/2010/main" val="15519339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5BFDDE-CC8F-D0B0-15EA-4087785B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背景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5D0C152-B436-27BA-B500-718E1CD29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要求仕様書の作成は、人手に依存しており、いくつか課題を抱えている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を用いることで、課題解決を試みる</a:t>
            </a:r>
            <a:endParaRPr kumimoji="1" lang="ja-JP" altLang="en-US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BC8B84CE-91CE-E69B-5A88-09E1A82339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680796"/>
              </p:ext>
            </p:extLst>
          </p:nvPr>
        </p:nvGraphicFramePr>
        <p:xfrm>
          <a:off x="838199" y="3236628"/>
          <a:ext cx="10515600" cy="3075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5064">
                  <a:extLst>
                    <a:ext uri="{9D8B030D-6E8A-4147-A177-3AD203B41FA5}">
                      <a16:colId xmlns:a16="http://schemas.microsoft.com/office/drawing/2014/main" val="3116518062"/>
                    </a:ext>
                  </a:extLst>
                </a:gridCol>
                <a:gridCol w="6300536">
                  <a:extLst>
                    <a:ext uri="{9D8B030D-6E8A-4147-A177-3AD203B41FA5}">
                      <a16:colId xmlns:a16="http://schemas.microsoft.com/office/drawing/2014/main" val="3329680842"/>
                    </a:ext>
                  </a:extLst>
                </a:gridCol>
              </a:tblGrid>
              <a:tr h="19571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課題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内容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052137"/>
                  </a:ext>
                </a:extLst>
              </a:tr>
              <a:tr h="789272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コスト・スピードの課題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人手によって、数時間を要する。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優先度やログの量によって、簡略化・先送りが発生する</a:t>
                      </a:r>
                      <a:endParaRPr kumimoji="1" lang="en-US" altLang="ja-JP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7867090"/>
                  </a:ext>
                </a:extLst>
              </a:tr>
              <a:tr h="58853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主観バイアスと選択的要約の課題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作成者の理解や発言者との関係による発言バイアスに引っ張られ、偏りが生まれる場合がある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5532750"/>
                  </a:ext>
                </a:extLst>
              </a:tr>
              <a:tr h="58853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形式・粒度の不一致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引継ぎ等で作成者が変わった場合、書き方の癖や粒度のずれによって、一貫性のない文書が蓄積される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885375"/>
                  </a:ext>
                </a:extLst>
              </a:tr>
              <a:tr h="58853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単純ミスの多発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コピペのミス、打ち間違い、別トピックとの混同といったヒューマンエラーの発生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9670269"/>
                  </a:ext>
                </a:extLst>
              </a:tr>
            </a:tbl>
          </a:graphicData>
        </a:graphic>
      </p:graphicFrame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297FAF7-6321-F777-B92A-4C1831CC4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347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9310C8-914A-C623-238B-D329C89AC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生成</a:t>
            </a:r>
            <a:r>
              <a:rPr kumimoji="1" lang="en-US" altLang="ja-JP" dirty="0"/>
              <a:t>AI</a:t>
            </a:r>
            <a:r>
              <a:rPr kumimoji="1" lang="ja-JP" altLang="en-US" dirty="0"/>
              <a:t>の限界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29AD134-49CF-C3EA-C157-A296237E3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をそのまま使うだけでは、人手による課題の解決はできず、新たな課題があることがわかった</a:t>
            </a:r>
            <a:endParaRPr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39A08C1-3344-764C-ED7A-5467E0D1A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907272"/>
              </p:ext>
            </p:extLst>
          </p:nvPr>
        </p:nvGraphicFramePr>
        <p:xfrm>
          <a:off x="838200" y="2723280"/>
          <a:ext cx="10022305" cy="38668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7332">
                  <a:extLst>
                    <a:ext uri="{9D8B030D-6E8A-4147-A177-3AD203B41FA5}">
                      <a16:colId xmlns:a16="http://schemas.microsoft.com/office/drawing/2014/main" val="3116518062"/>
                    </a:ext>
                  </a:extLst>
                </a:gridCol>
                <a:gridCol w="6004973">
                  <a:extLst>
                    <a:ext uri="{9D8B030D-6E8A-4147-A177-3AD203B41FA5}">
                      <a16:colId xmlns:a16="http://schemas.microsoft.com/office/drawing/2014/main" val="3329680842"/>
                    </a:ext>
                  </a:extLst>
                </a:gridCol>
              </a:tblGrid>
              <a:tr h="37402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課題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内容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052137"/>
                  </a:ext>
                </a:extLst>
              </a:tr>
              <a:tr h="8071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事実・推測の混同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予測補完によって、記されていない情報を埋め込んだり、推測で情報を拡張したりする</a:t>
                      </a:r>
                      <a:endParaRPr kumimoji="1" lang="en-US" altLang="ja-JP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7867090"/>
                  </a:ext>
                </a:extLst>
              </a:tr>
              <a:tr h="654542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項目の欠落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全項目をまとめられず、いくつか漏れが発生することがある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5532750"/>
                  </a:ext>
                </a:extLst>
              </a:tr>
              <a:tr h="654542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項目の重複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同項目にて、古い情報と新しい情報の２つが抽出され、まとめられていることがある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783641"/>
                  </a:ext>
                </a:extLst>
              </a:tr>
              <a:tr h="72208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時系列の乱れ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項目の変更がある場合、最新情報に更新されず、古い情報を保持している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885375"/>
                  </a:ext>
                </a:extLst>
              </a:tr>
              <a:tr h="654542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書式形式の非一貫性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出力によって、書式方法が異なる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9670269"/>
                  </a:ext>
                </a:extLst>
              </a:tr>
            </a:tbl>
          </a:graphicData>
        </a:graphic>
      </p:graphicFrame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F3E637D-8F0A-EAA9-ADBA-A659D410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6755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B8FB12-F5EC-5C50-42C7-C51EDBB9D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生成</a:t>
            </a:r>
            <a:r>
              <a:rPr kumimoji="1" lang="en-US" altLang="ja-JP" dirty="0"/>
              <a:t>AI</a:t>
            </a:r>
            <a:r>
              <a:rPr kumimoji="1" lang="ja-JP" altLang="en-US" dirty="0"/>
              <a:t>の特徴と現状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0B74D25-EC23-B211-CC4A-8C1897440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lnSpcReduction="10000"/>
          </a:bodyPr>
          <a:lstStyle/>
          <a:p>
            <a:r>
              <a:rPr kumimoji="1" lang="ja-JP" altLang="en-US" dirty="0"/>
              <a:t>複雑な命令は、出力のばらつきや要点の漏れが発生する</a:t>
            </a:r>
            <a:endParaRPr kumimoji="1" lang="en-US" altLang="ja-JP" dirty="0"/>
          </a:p>
          <a:p>
            <a:r>
              <a:rPr lang="ja-JP" altLang="en-US" dirty="0"/>
              <a:t>単純な命令は、処理が早く、一定の精度を保つ</a:t>
            </a:r>
            <a:endParaRPr lang="en-US" altLang="ja-JP" dirty="0"/>
          </a:p>
          <a:p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同一命令で</a:t>
            </a:r>
            <a:r>
              <a:rPr lang="en-US" altLang="ja-JP" dirty="0"/>
              <a:t>10</a:t>
            </a:r>
            <a:r>
              <a:rPr lang="ja-JP" altLang="en-US" dirty="0"/>
              <a:t>回行った場合の決定事項抽出率</a:t>
            </a:r>
            <a:r>
              <a:rPr lang="en-US" altLang="ja-JP" dirty="0"/>
              <a:t>:</a:t>
            </a:r>
          </a:p>
          <a:p>
            <a:pPr marL="0" indent="0">
              <a:buNone/>
            </a:pPr>
            <a:r>
              <a:rPr lang="ja-JP" altLang="en-US" dirty="0"/>
              <a:t>最小</a:t>
            </a:r>
            <a:r>
              <a:rPr lang="en-US" altLang="ja-JP" dirty="0"/>
              <a:t>: 5</a:t>
            </a:r>
            <a:r>
              <a:rPr lang="ja-JP" altLang="en-US" dirty="0"/>
              <a:t>項目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最大</a:t>
            </a:r>
            <a:r>
              <a:rPr lang="en-US" altLang="ja-JP" dirty="0"/>
              <a:t>: 8</a:t>
            </a:r>
            <a:r>
              <a:rPr lang="ja-JP" altLang="en-US" dirty="0"/>
              <a:t>項目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平均</a:t>
            </a:r>
            <a:r>
              <a:rPr lang="en-US" altLang="ja-JP" dirty="0"/>
              <a:t>: 6.2</a:t>
            </a:r>
            <a:r>
              <a:rPr lang="ja-JP" altLang="en-US" dirty="0"/>
              <a:t>項目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平均抽出率</a:t>
            </a:r>
            <a:r>
              <a:rPr lang="en-US" altLang="ja-JP" dirty="0"/>
              <a:t>: 68.89%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実際の正解項目数</a:t>
            </a:r>
            <a:r>
              <a:rPr lang="en-US" altLang="ja-JP" dirty="0"/>
              <a:t>: 9</a:t>
            </a:r>
            <a:r>
              <a:rPr lang="ja-JP" altLang="en-US" dirty="0"/>
              <a:t>項目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CBAE86-F056-511E-1D35-7C5B6B161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318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DF9013-461A-455C-8DF1-DC407E2B0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目的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468351-AFAB-7E73-357E-37AD7D9F9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00874" cy="4351338"/>
          </a:xfrm>
        </p:spPr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人手・</a:t>
            </a:r>
            <a:r>
              <a:rPr kumimoji="1" lang="en-US" altLang="ja-JP" dirty="0"/>
              <a:t>AI</a:t>
            </a:r>
            <a:r>
              <a:rPr kumimoji="1" lang="ja-JP" altLang="en-US" dirty="0"/>
              <a:t>の課題を解決し、この工程を自動化することを目的とする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38BF8509-A4D8-E1A6-AC54-52FB4AD2AD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344600"/>
              </p:ext>
            </p:extLst>
          </p:nvPr>
        </p:nvGraphicFramePr>
        <p:xfrm>
          <a:off x="838200" y="2445059"/>
          <a:ext cx="10515599" cy="3715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8956">
                  <a:extLst>
                    <a:ext uri="{9D8B030D-6E8A-4147-A177-3AD203B41FA5}">
                      <a16:colId xmlns:a16="http://schemas.microsoft.com/office/drawing/2014/main" val="3116518062"/>
                    </a:ext>
                  </a:extLst>
                </a:gridCol>
                <a:gridCol w="1222149">
                  <a:extLst>
                    <a:ext uri="{9D8B030D-6E8A-4147-A177-3AD203B41FA5}">
                      <a16:colId xmlns:a16="http://schemas.microsoft.com/office/drawing/2014/main" val="1496987676"/>
                    </a:ext>
                  </a:extLst>
                </a:gridCol>
                <a:gridCol w="6284494">
                  <a:extLst>
                    <a:ext uri="{9D8B030D-6E8A-4147-A177-3AD203B41FA5}">
                      <a16:colId xmlns:a16="http://schemas.microsoft.com/office/drawing/2014/main" val="3329680842"/>
                    </a:ext>
                  </a:extLst>
                </a:gridCol>
              </a:tblGrid>
              <a:tr h="40900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課題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内容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052137"/>
                  </a:ext>
                </a:extLst>
              </a:tr>
              <a:tr h="466656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事実・推測の混同防止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事実と異なる、提案されていないことを含まない</a:t>
                      </a:r>
                      <a:endParaRPr kumimoji="1" lang="en-US" altLang="ja-JP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7867090"/>
                  </a:ext>
                </a:extLst>
              </a:tr>
              <a:tr h="433136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項目の欠落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主要機能、重要条件を漏らさない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5532750"/>
                  </a:ext>
                </a:extLst>
              </a:tr>
              <a:tr h="40719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ノイズの除去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決定事項ではない項目を含まない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783641"/>
                  </a:ext>
                </a:extLst>
              </a:tr>
              <a:tr h="52563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時系列の乱れ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AI</a:t>
                      </a:r>
                      <a:r>
                        <a:rPr kumimoji="1" lang="ja-JP" altLang="en-US" dirty="0"/>
                        <a:t>・人手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項目内容が最新情報と一致する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885375"/>
                  </a:ext>
                </a:extLst>
              </a:tr>
              <a:tr h="462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書式形式の統一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AI</a:t>
                      </a:r>
                      <a:r>
                        <a:rPr kumimoji="1" lang="ja-JP" altLang="en-US" dirty="0"/>
                        <a:t>・人手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使用者に限らず、決まったテンプレートを使用する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9670269"/>
                  </a:ext>
                </a:extLst>
              </a:tr>
              <a:tr h="43313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処理コストの削減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人手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数時間かかる処理を数分で行えるようにする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1221960"/>
                  </a:ext>
                </a:extLst>
              </a:tr>
              <a:tr h="577515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ヒューマンエラーの排除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人手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数値・テキストの誤り、別トピックの混合を防ぐ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7738565"/>
                  </a:ext>
                </a:extLst>
              </a:tr>
            </a:tbl>
          </a:graphicData>
        </a:graphic>
      </p:graphicFrame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E1A34E0-0FD7-E128-BF2E-B20C8B42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424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1ABAD1-1B73-B4E2-F374-1C936C2A3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提案手法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3C298A-EF36-85F5-4EC5-42902A5F3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ステップを分けて、補正を行うプログラムを設定する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① 議事録入力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② </a:t>
            </a:r>
            <a:r>
              <a:rPr kumimoji="1" lang="en-US" altLang="ja-JP" dirty="0"/>
              <a:t>GPT-4o</a:t>
            </a:r>
            <a:r>
              <a:rPr kumimoji="1" lang="ja-JP" altLang="en-US" dirty="0"/>
              <a:t>を用いた分類ラベルの付与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③ 分類より決定事項とその情報を抽出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④ 指定テンプレートに反映し、</a:t>
            </a:r>
            <a:r>
              <a:rPr kumimoji="1" lang="en-US" altLang="ja-JP" dirty="0"/>
              <a:t>Markdown</a:t>
            </a:r>
            <a:r>
              <a:rPr kumimoji="1" lang="ja-JP" altLang="en-US" dirty="0"/>
              <a:t>形式ファイルに出力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69E0483-FE8D-2687-FD70-8F2015B1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735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5A5FA6-2290-72EB-A1AE-605481728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課題に対してのアプローチ</a:t>
            </a:r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0F4CA273-052E-ACE7-694E-0D6FB83562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9310652"/>
              </p:ext>
            </p:extLst>
          </p:nvPr>
        </p:nvGraphicFramePr>
        <p:xfrm>
          <a:off x="838200" y="2707941"/>
          <a:ext cx="10515600" cy="24280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2137">
                  <a:extLst>
                    <a:ext uri="{9D8B030D-6E8A-4147-A177-3AD203B41FA5}">
                      <a16:colId xmlns:a16="http://schemas.microsoft.com/office/drawing/2014/main" val="895973317"/>
                    </a:ext>
                  </a:extLst>
                </a:gridCol>
                <a:gridCol w="6653463">
                  <a:extLst>
                    <a:ext uri="{9D8B030D-6E8A-4147-A177-3AD203B41FA5}">
                      <a16:colId xmlns:a16="http://schemas.microsoft.com/office/drawing/2014/main" val="523500318"/>
                    </a:ext>
                  </a:extLst>
                </a:gridCol>
              </a:tblGrid>
              <a:tr h="37214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課題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対策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1935950"/>
                  </a:ext>
                </a:extLst>
              </a:tr>
              <a:tr h="513982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出力のばらつき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temperature</a:t>
                      </a:r>
                      <a:r>
                        <a:rPr kumimoji="1" lang="ja-JP" altLang="en-US" dirty="0"/>
                        <a:t>の最適化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3752494"/>
                  </a:ext>
                </a:extLst>
              </a:tr>
              <a:tr h="513982">
                <a:tc>
                  <a:txBody>
                    <a:bodyPr/>
                    <a:lstStyle/>
                    <a:p>
                      <a:r>
                        <a:rPr lang="ja-JP" altLang="en-US" dirty="0"/>
                        <a:t>事実・推測の混同＋ノイズの除去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分類基準の固定</a:t>
                      </a:r>
                      <a:r>
                        <a:rPr kumimoji="1" lang="en-US" altLang="ja-JP" dirty="0"/>
                        <a:t>+</a:t>
                      </a:r>
                      <a:r>
                        <a:rPr kumimoji="1" lang="ja-JP" altLang="en-US" dirty="0"/>
                        <a:t>ラベルの付与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766733"/>
                  </a:ext>
                </a:extLst>
              </a:tr>
              <a:tr h="513982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文脈の欠落</a:t>
                      </a:r>
                      <a:r>
                        <a:rPr kumimoji="1" lang="en-US" altLang="ja-JP" dirty="0"/>
                        <a:t>+</a:t>
                      </a:r>
                      <a:r>
                        <a:rPr kumimoji="1" lang="ja-JP" altLang="en-US" dirty="0"/>
                        <a:t>時系列の乱れ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中間</a:t>
                      </a:r>
                      <a:r>
                        <a:rPr kumimoji="1" lang="en-US" altLang="ja-JP" dirty="0"/>
                        <a:t>JSON</a:t>
                      </a:r>
                      <a:r>
                        <a:rPr kumimoji="1" lang="ja-JP" altLang="en-US" dirty="0"/>
                        <a:t>で対象者、時間、ラベルを追跡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436432"/>
                  </a:ext>
                </a:extLst>
              </a:tr>
              <a:tr h="513982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構造の統一化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Jinja2</a:t>
                      </a:r>
                      <a:r>
                        <a:rPr kumimoji="1" lang="ja-JP" altLang="en-US" dirty="0"/>
                        <a:t>テンプレートで章立て、文体を統一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623067"/>
                  </a:ext>
                </a:extLst>
              </a:tr>
            </a:tbl>
          </a:graphicData>
        </a:graphic>
      </p:graphicFrame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1B13D3A-91EF-E27E-04AF-9512EF5D9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3617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FB7AB-5597-CE7C-326B-2C69ECADD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使用</a:t>
            </a:r>
            <a:r>
              <a:rPr kumimoji="1" lang="ja-JP" altLang="en-US" dirty="0"/>
              <a:t>データ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CB3F03-6CE7-70CB-7788-964795534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Web</a:t>
            </a:r>
            <a:r>
              <a:rPr kumimoji="1" lang="ja-JP" altLang="en-US" dirty="0"/>
              <a:t>アプリケーション開発についての打ち合わせログ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発言数</a:t>
            </a:r>
            <a:r>
              <a:rPr kumimoji="1" lang="en-US" altLang="ja-JP" dirty="0"/>
              <a:t>: 35</a:t>
            </a:r>
            <a:r>
              <a:rPr kumimoji="1" lang="ja-JP" altLang="en-US" dirty="0"/>
              <a:t>発言</a:t>
            </a:r>
            <a:endParaRPr kumimoji="1" lang="en-US" altLang="ja-JP" dirty="0"/>
          </a:p>
          <a:p>
            <a:pPr lvl="1"/>
            <a:r>
              <a:rPr lang="ja-JP" altLang="en-US" dirty="0"/>
              <a:t>参加者</a:t>
            </a:r>
            <a:r>
              <a:rPr lang="en-US" altLang="ja-JP" dirty="0"/>
              <a:t>: 4</a:t>
            </a:r>
            <a:r>
              <a:rPr lang="ja-JP" altLang="en-US" dirty="0"/>
              <a:t>名 </a:t>
            </a:r>
            <a:r>
              <a:rPr lang="en-US" altLang="ja-JP" dirty="0"/>
              <a:t>(PM, </a:t>
            </a:r>
            <a:r>
              <a:rPr lang="ja-JP" altLang="en-US" dirty="0"/>
              <a:t>クライアント</a:t>
            </a:r>
            <a:r>
              <a:rPr lang="en-US" altLang="ja-JP" dirty="0"/>
              <a:t>, </a:t>
            </a:r>
            <a:r>
              <a:rPr lang="ja-JP" altLang="en-US" dirty="0"/>
              <a:t>エンジニア</a:t>
            </a:r>
            <a:r>
              <a:rPr lang="en-US" altLang="ja-JP" dirty="0"/>
              <a:t>, </a:t>
            </a:r>
            <a:r>
              <a:rPr lang="ja-JP" altLang="en-US" dirty="0"/>
              <a:t>デザイナー</a:t>
            </a:r>
            <a:r>
              <a:rPr lang="en-US" altLang="ja-JP" dirty="0"/>
              <a:t>)</a:t>
            </a:r>
          </a:p>
          <a:p>
            <a:pPr lvl="1"/>
            <a:r>
              <a:rPr lang="ja-JP" altLang="en-US" dirty="0"/>
              <a:t>特徴</a:t>
            </a:r>
            <a:r>
              <a:rPr lang="en-US" altLang="ja-JP" dirty="0"/>
              <a:t>: </a:t>
            </a:r>
            <a:r>
              <a:rPr lang="ja-JP" altLang="en-US" dirty="0"/>
              <a:t>長期間での要件変更、明確な決定プロセス</a:t>
            </a:r>
            <a:endParaRPr lang="en-US" altLang="ja-JP" dirty="0"/>
          </a:p>
          <a:p>
            <a:pPr lvl="1"/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62D527-0B2D-5CD3-27C0-94F3646EE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5911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8D795F-3571-2932-A553-AFB3741A5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① </a:t>
            </a:r>
            <a:r>
              <a:rPr lang="en-US" altLang="ja-JP" dirty="0"/>
              <a:t>JSON</a:t>
            </a:r>
            <a:r>
              <a:rPr lang="ja-JP" altLang="en-US" dirty="0"/>
              <a:t>入力</a:t>
            </a:r>
            <a:r>
              <a:rPr lang="en-US" altLang="ja-JP" dirty="0"/>
              <a:t>+</a:t>
            </a:r>
            <a:r>
              <a:rPr kumimoji="1" lang="ja-JP" altLang="en-US" dirty="0"/>
              <a:t>② 分類ラベルの付与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D9FBC1-780C-9F71-1BA4-3865D9D0C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</a:p>
          <a:p>
            <a:pPr marL="0" indent="0">
              <a:buNone/>
            </a:pPr>
            <a:r>
              <a:rPr kumimoji="1" lang="ja-JP" altLang="en-US" dirty="0"/>
              <a:t>ラベル付けをして、情報の分析を行い、機能とノイズを識別する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入力</a:t>
            </a:r>
            <a:r>
              <a:rPr kumimoji="1" lang="en-US" altLang="ja-JP" dirty="0"/>
              <a:t>: </a:t>
            </a:r>
            <a:r>
              <a:rPr kumimoji="1" lang="ja-JP" altLang="en-US" dirty="0"/>
              <a:t>データ</a:t>
            </a:r>
            <a:r>
              <a:rPr kumimoji="1" lang="en-US" altLang="ja-JP" dirty="0"/>
              <a:t>JSON</a:t>
            </a:r>
          </a:p>
          <a:p>
            <a:pPr marL="0" indent="0">
              <a:buNone/>
            </a:pPr>
            <a:r>
              <a:rPr lang="ja-JP" altLang="en-US" dirty="0"/>
              <a:t>出力</a:t>
            </a:r>
            <a:r>
              <a:rPr lang="en-US" altLang="ja-JP" dirty="0"/>
              <a:t>: </a:t>
            </a:r>
            <a:r>
              <a:rPr lang="ja-JP" altLang="en-US" dirty="0"/>
              <a:t>中間</a:t>
            </a:r>
            <a:r>
              <a:rPr lang="en-US" altLang="ja-JP" dirty="0"/>
              <a:t>JSON(</a:t>
            </a:r>
            <a:r>
              <a:rPr lang="ja-JP" altLang="en-US" dirty="0"/>
              <a:t>ラベル付与</a:t>
            </a:r>
            <a:r>
              <a:rPr lang="en-US" altLang="ja-JP" dirty="0"/>
              <a:t>)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ラベル定義</a:t>
            </a:r>
            <a:r>
              <a:rPr kumimoji="1" lang="en-US" altLang="ja-JP" dirty="0"/>
              <a:t>: decision/proposal/question/chitchat/other</a:t>
            </a:r>
          </a:p>
          <a:p>
            <a:pPr marL="0" indent="0">
              <a:buNone/>
            </a:pPr>
            <a:r>
              <a:rPr kumimoji="1" lang="ja-JP" altLang="en-US" dirty="0"/>
              <a:t>設定</a:t>
            </a:r>
            <a:r>
              <a:rPr kumimoji="1" lang="en-US" altLang="ja-JP" dirty="0"/>
              <a:t>: temperature=0.2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D02FA91-04BC-946F-88F6-711FEBDD0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1097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7DA839-E95E-908B-711A-361B862C3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③ 決定事項の抽出</a:t>
            </a:r>
            <a:r>
              <a:rPr kumimoji="1" lang="en-US" altLang="ja-JP" dirty="0"/>
              <a:t>+</a:t>
            </a:r>
            <a:r>
              <a:rPr kumimoji="1" lang="ja-JP" altLang="en-US" dirty="0"/>
              <a:t>④ テンプレート出力 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B658B0-79D1-D7D5-BE9D-C61CB1339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72537" cy="4351338"/>
          </a:xfrm>
        </p:spPr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目的</a:t>
            </a:r>
            <a:r>
              <a:rPr kumimoji="1" lang="en-US" altLang="ja-JP" dirty="0"/>
              <a:t>:</a:t>
            </a:r>
          </a:p>
          <a:p>
            <a:pPr marL="0" indent="0">
              <a:buNone/>
            </a:pPr>
            <a:r>
              <a:rPr lang="ja-JP" altLang="en-US" dirty="0"/>
              <a:t>②で出力したラベル付き</a:t>
            </a:r>
            <a:r>
              <a:rPr lang="en-US" altLang="ja-JP" dirty="0"/>
              <a:t>JSON</a:t>
            </a:r>
            <a:r>
              <a:rPr lang="ja-JP" altLang="en-US" dirty="0"/>
              <a:t>から、時系列と情報の整合化を行う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手法</a:t>
            </a:r>
            <a:r>
              <a:rPr kumimoji="1" lang="en-US" altLang="ja-JP" dirty="0"/>
              <a:t>:</a:t>
            </a:r>
          </a:p>
          <a:p>
            <a:r>
              <a:rPr kumimoji="1" lang="ja-JP" altLang="en-US" dirty="0"/>
              <a:t>中間</a:t>
            </a:r>
            <a:r>
              <a:rPr kumimoji="1" lang="en-US" altLang="ja-JP" dirty="0"/>
              <a:t>JSON</a:t>
            </a:r>
            <a:r>
              <a:rPr kumimoji="1" lang="ja-JP" altLang="en-US" dirty="0"/>
              <a:t>から</a:t>
            </a:r>
            <a:r>
              <a:rPr kumimoji="1" lang="en-US" altLang="ja-JP" dirty="0"/>
              <a:t>decision</a:t>
            </a:r>
            <a:r>
              <a:rPr kumimoji="1" lang="ja-JP" altLang="en-US" dirty="0"/>
              <a:t>ラベルを抽出</a:t>
            </a:r>
            <a:endParaRPr kumimoji="1" lang="en-US" altLang="ja-JP" dirty="0"/>
          </a:p>
          <a:p>
            <a:r>
              <a:rPr lang="en-US" altLang="ja-JP" dirty="0"/>
              <a:t>chitchat</a:t>
            </a:r>
            <a:r>
              <a:rPr lang="ja-JP" altLang="en-US" dirty="0"/>
              <a:t>ラベルを除去することでノイズを取り除く</a:t>
            </a:r>
            <a:endParaRPr lang="en-US" altLang="ja-JP" dirty="0"/>
          </a:p>
          <a:p>
            <a:r>
              <a:rPr lang="en-US" altLang="ja-JP" dirty="0"/>
              <a:t>Jinja2</a:t>
            </a:r>
            <a:r>
              <a:rPr lang="ja-JP" altLang="en-US" dirty="0"/>
              <a:t>より、テンプレートを指定し、書式の統一化を行う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B80E148-22FE-BF74-0A29-0379B4D12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2067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FA88E0-30F9-EB7C-4AA1-94D92B6A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比較①</a:t>
            </a:r>
            <a:r>
              <a:rPr kumimoji="1" lang="en-US" altLang="ja-JP" dirty="0"/>
              <a:t>: </a:t>
            </a:r>
            <a:r>
              <a:rPr lang="ja-JP" altLang="en-US" dirty="0"/>
              <a:t>素の</a:t>
            </a:r>
            <a:r>
              <a:rPr lang="en-US" altLang="ja-JP" dirty="0"/>
              <a:t>AI vs AI</a:t>
            </a:r>
            <a:r>
              <a:rPr lang="ja-JP" altLang="en-US" dirty="0"/>
              <a:t>プログラム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E68077-EA7A-F552-733B-BA7C7CFB7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それぞれ、</a:t>
            </a:r>
            <a:r>
              <a:rPr kumimoji="1" lang="en-US" altLang="ja-JP" dirty="0"/>
              <a:t>10</a:t>
            </a:r>
            <a:r>
              <a:rPr kumimoji="1" lang="ja-JP" altLang="en-US" dirty="0"/>
              <a:t>回行った平均の値を用いて比較する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ED792A9-450D-5492-EFDC-3A9EB610B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11</a:t>
            </a:fld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8CB1FA8-3109-497E-515A-B822D9D6D6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27518"/>
              </p:ext>
            </p:extLst>
          </p:nvPr>
        </p:nvGraphicFramePr>
        <p:xfrm>
          <a:off x="989263" y="2436171"/>
          <a:ext cx="10192083" cy="37756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3578949869"/>
                    </a:ext>
                  </a:extLst>
                </a:gridCol>
                <a:gridCol w="3769895">
                  <a:extLst>
                    <a:ext uri="{9D8B030D-6E8A-4147-A177-3AD203B41FA5}">
                      <a16:colId xmlns:a16="http://schemas.microsoft.com/office/drawing/2014/main" val="6292362"/>
                    </a:ext>
                  </a:extLst>
                </a:gridCol>
                <a:gridCol w="3882188">
                  <a:extLst>
                    <a:ext uri="{9D8B030D-6E8A-4147-A177-3AD203B41FA5}">
                      <a16:colId xmlns:a16="http://schemas.microsoft.com/office/drawing/2014/main" val="3020801297"/>
                    </a:ext>
                  </a:extLst>
                </a:gridCol>
              </a:tblGrid>
              <a:tr h="57521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課題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素の</a:t>
                      </a:r>
                      <a:r>
                        <a:rPr kumimoji="1" lang="en-US" altLang="ja-JP" dirty="0"/>
                        <a:t>AI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AI</a:t>
                      </a:r>
                      <a:r>
                        <a:rPr kumimoji="1" lang="ja-JP" altLang="en-US" dirty="0"/>
                        <a:t>プログラム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7808197"/>
                  </a:ext>
                </a:extLst>
              </a:tr>
              <a:tr h="57521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事実・推測の混同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推測が混じった内容が見られる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抽出データに基づき、不要な推測が見られない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464009"/>
                  </a:ext>
                </a:extLst>
              </a:tr>
              <a:tr h="57521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項目の欠落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項目数</a:t>
                      </a:r>
                      <a:r>
                        <a:rPr kumimoji="1" lang="en-US" altLang="ja-JP" dirty="0"/>
                        <a:t>9</a:t>
                      </a:r>
                      <a:r>
                        <a:rPr kumimoji="1" lang="ja-JP" altLang="en-US" dirty="0"/>
                        <a:t>に対し、抽出数が足りていない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平均抽出数が</a:t>
                      </a:r>
                      <a:r>
                        <a:rPr kumimoji="1" lang="en-US" altLang="ja-JP" dirty="0"/>
                        <a:t>9</a:t>
                      </a:r>
                      <a:r>
                        <a:rPr kumimoji="1" lang="ja-JP" altLang="en-US" dirty="0"/>
                        <a:t>であり、すべて抽出できている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975348"/>
                  </a:ext>
                </a:extLst>
              </a:tr>
              <a:tr h="57521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項目の重複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低頻度だが、時系列問題同様にみられる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項目の重複無し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677753"/>
                  </a:ext>
                </a:extLst>
              </a:tr>
              <a:tr h="57521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時系列の乱れ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最新情報が抽出されておらず、過去の内容になっている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最新情報に置き換えられている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855497"/>
                  </a:ext>
                </a:extLst>
              </a:tr>
              <a:tr h="57521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書式形式の非一貫性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箇条書きや番振り、テーブル形式など統一性が見られない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Jinja2</a:t>
                      </a:r>
                      <a:r>
                        <a:rPr kumimoji="1" lang="ja-JP" altLang="en-US" dirty="0"/>
                        <a:t>テンプレート通りすべて同じ書式で出力された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4771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1795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EBC5C0-DAEB-24D4-71E9-F99F7953C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比較②</a:t>
            </a:r>
            <a:r>
              <a:rPr kumimoji="1" lang="en-US" altLang="ja-JP" dirty="0"/>
              <a:t>: AI</a:t>
            </a:r>
            <a:r>
              <a:rPr kumimoji="1" lang="ja-JP" altLang="en-US" dirty="0"/>
              <a:t>プログラム </a:t>
            </a:r>
            <a:r>
              <a:rPr kumimoji="1" lang="en-US" altLang="ja-JP" dirty="0"/>
              <a:t>vs </a:t>
            </a:r>
            <a:r>
              <a:rPr kumimoji="1" lang="ja-JP" altLang="en-US" dirty="0"/>
              <a:t>人手作成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C231956-0386-AC71-349D-7E4E3CA93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ja-JP" dirty="0"/>
              <a:t>AI</a:t>
            </a:r>
            <a:r>
              <a:rPr kumimoji="1" lang="ja-JP" altLang="en-US" dirty="0"/>
              <a:t>プログラムは</a:t>
            </a:r>
            <a:r>
              <a:rPr kumimoji="1" lang="en-US" altLang="ja-JP" dirty="0"/>
              <a:t>10</a:t>
            </a:r>
            <a:r>
              <a:rPr kumimoji="1" lang="ja-JP" altLang="en-US" dirty="0"/>
              <a:t>回行った平均を用いて、人手作成と比較する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045C1DE-5D0D-14BF-4F80-D0766FB6C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12</a:t>
            </a:fld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DF3C60AB-F39D-2151-9024-CC0079202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09993"/>
              </p:ext>
            </p:extLst>
          </p:nvPr>
        </p:nvGraphicFramePr>
        <p:xfrm>
          <a:off x="989263" y="2436171"/>
          <a:ext cx="10192083" cy="37632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3578949869"/>
                    </a:ext>
                  </a:extLst>
                </a:gridCol>
                <a:gridCol w="3769895">
                  <a:extLst>
                    <a:ext uri="{9D8B030D-6E8A-4147-A177-3AD203B41FA5}">
                      <a16:colId xmlns:a16="http://schemas.microsoft.com/office/drawing/2014/main" val="6292362"/>
                    </a:ext>
                  </a:extLst>
                </a:gridCol>
                <a:gridCol w="3882188">
                  <a:extLst>
                    <a:ext uri="{9D8B030D-6E8A-4147-A177-3AD203B41FA5}">
                      <a16:colId xmlns:a16="http://schemas.microsoft.com/office/drawing/2014/main" val="3020801297"/>
                    </a:ext>
                  </a:extLst>
                </a:gridCol>
              </a:tblGrid>
              <a:tr h="656681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課題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AI</a:t>
                      </a:r>
                      <a:r>
                        <a:rPr kumimoji="1" lang="ja-JP" altLang="en-US" dirty="0"/>
                        <a:t>プログラム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人手作成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7808197"/>
                  </a:ext>
                </a:extLst>
              </a:tr>
              <a:tr h="73073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コスト・スピードの課題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データ入力から出力まで、平均</a:t>
                      </a:r>
                      <a:r>
                        <a:rPr kumimoji="1" lang="en-US" altLang="ja-JP" dirty="0"/>
                        <a:t>9.3</a:t>
                      </a:r>
                      <a:r>
                        <a:rPr kumimoji="1" lang="ja-JP" altLang="en-US" dirty="0"/>
                        <a:t>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要求仕様書作成まで約</a:t>
                      </a:r>
                      <a:r>
                        <a:rPr kumimoji="1" lang="en-US" altLang="ja-JP" dirty="0"/>
                        <a:t>3</a:t>
                      </a:r>
                      <a:r>
                        <a:rPr kumimoji="1" lang="ja-JP" altLang="en-US" dirty="0"/>
                        <a:t>時間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464009"/>
                  </a:ext>
                </a:extLst>
              </a:tr>
              <a:tr h="73073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主観バイアスと選択的要約の課題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データ全体に基づいた内容になっている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直近優先度に応じたバイアスがかかる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975348"/>
                  </a:ext>
                </a:extLst>
              </a:tr>
              <a:tr h="73073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形式・粒度の不一致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テンプレート通りの出力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作成者によって、書式が異なる場合がある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677753"/>
                  </a:ext>
                </a:extLst>
              </a:tr>
              <a:tr h="73073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単純ミスの多発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データからの抽出により、数値等の出力ミスは見られなかった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データ数が多い、変更が行われている場合に誤った情報が混じるケースがある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8554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0693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0B8726-2F14-6E86-3EE0-073DC0749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評価まとめ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1A01277-3616-851A-7BBC-AF5B59E4B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本プログラムにて、挙げていた</a:t>
            </a:r>
            <a:r>
              <a:rPr lang="en-US" altLang="ja-JP" dirty="0"/>
              <a:t>AI</a:t>
            </a:r>
            <a:r>
              <a:rPr lang="ja-JP" altLang="en-US" dirty="0"/>
              <a:t>・人手の課題を満たしている</a:t>
            </a:r>
            <a:endParaRPr lang="en-US" altLang="ja-JP" dirty="0"/>
          </a:p>
          <a:p>
            <a:r>
              <a:rPr kumimoji="1" lang="ja-JP" altLang="en-US" dirty="0"/>
              <a:t>作成時間を人手と比較して大幅削減できた</a:t>
            </a: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本プログラムの処理時間</a:t>
            </a:r>
            <a:r>
              <a:rPr lang="en-US" altLang="ja-JP" dirty="0"/>
              <a:t>:</a:t>
            </a:r>
          </a:p>
          <a:p>
            <a:pPr marL="0" indent="0">
              <a:buNone/>
            </a:pPr>
            <a:r>
              <a:rPr kumimoji="1" lang="ja-JP" altLang="en-US" dirty="0"/>
              <a:t>最小</a:t>
            </a:r>
            <a:r>
              <a:rPr kumimoji="1" lang="en-US" altLang="ja-JP" dirty="0"/>
              <a:t>: 7</a:t>
            </a:r>
            <a:r>
              <a:rPr kumimoji="1" lang="ja-JP" altLang="en-US" dirty="0"/>
              <a:t>分</a:t>
            </a:r>
            <a:r>
              <a:rPr kumimoji="1" lang="en-US" altLang="ja-JP" dirty="0"/>
              <a:t>26</a:t>
            </a:r>
            <a:r>
              <a:rPr kumimoji="1" lang="ja-JP" altLang="en-US" dirty="0"/>
              <a:t>秒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最大</a:t>
            </a:r>
            <a:r>
              <a:rPr kumimoji="1" lang="en-US" altLang="ja-JP" dirty="0"/>
              <a:t>: 12</a:t>
            </a:r>
            <a:r>
              <a:rPr kumimoji="1" lang="ja-JP" altLang="en-US" dirty="0"/>
              <a:t>分</a:t>
            </a:r>
            <a:r>
              <a:rPr kumimoji="1" lang="en-US" altLang="ja-JP" dirty="0"/>
              <a:t>3</a:t>
            </a:r>
            <a:r>
              <a:rPr kumimoji="1" lang="ja-JP" altLang="en-US" dirty="0"/>
              <a:t>秒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平均</a:t>
            </a:r>
            <a:r>
              <a:rPr lang="en-US" altLang="ja-JP" dirty="0"/>
              <a:t>: 9</a:t>
            </a:r>
            <a:r>
              <a:rPr lang="ja-JP" altLang="en-US" dirty="0"/>
              <a:t>分</a:t>
            </a:r>
            <a:r>
              <a:rPr lang="en-US" altLang="ja-JP" dirty="0"/>
              <a:t>18</a:t>
            </a:r>
            <a:r>
              <a:rPr lang="ja-JP" altLang="en-US" dirty="0"/>
              <a:t>秒</a:t>
            </a:r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21FE781-C1E2-FB7D-0EC7-BA82BC686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997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A863AB-7D98-4734-8F3C-55234BE5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結論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32E176-FCD7-3C70-78D1-FEFDE228B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使用したデータにおいて、高い精度が見られた</a:t>
            </a:r>
            <a:endParaRPr lang="en-US" altLang="ja-JP" dirty="0"/>
          </a:p>
          <a:p>
            <a:r>
              <a:rPr kumimoji="1" lang="ja-JP" altLang="en-US" dirty="0"/>
              <a:t>テストデータが少ない為、実用性について評価することができなかった</a:t>
            </a:r>
            <a:endParaRPr kumimoji="1" lang="en-US" altLang="ja-JP" dirty="0"/>
          </a:p>
          <a:p>
            <a:r>
              <a:rPr kumimoji="1" lang="en-US" altLang="ja-JP" dirty="0"/>
              <a:t>Web</a:t>
            </a:r>
            <a:r>
              <a:rPr kumimoji="1" lang="ja-JP" altLang="en-US" dirty="0"/>
              <a:t>開発においては、仕様変更にて</a:t>
            </a:r>
            <a:r>
              <a:rPr kumimoji="1" lang="en-US" altLang="ja-JP" dirty="0"/>
              <a:t>UI</a:t>
            </a:r>
            <a:r>
              <a:rPr kumimoji="1" lang="ja-JP" altLang="en-US" dirty="0"/>
              <a:t>の重なりや他項目への影響までは考慮することができなかった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E16830D-5AE5-1862-4234-E4A5BDA4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700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19FA5C-2E60-9E37-507E-B3AC6FDA5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352" y="2766218"/>
            <a:ext cx="8113295" cy="1325563"/>
          </a:xfrm>
        </p:spPr>
        <p:txBody>
          <a:bodyPr/>
          <a:lstStyle/>
          <a:p>
            <a:r>
              <a:rPr kumimoji="1" lang="ja-JP" altLang="en-US" dirty="0"/>
              <a:t>ご清聴ありがとうございました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0396061-894C-1538-9906-34F655A08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C8F3A-98E9-46B1-BAC9-77D093337233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5524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1200</TotalTime>
  <Words>1108</Words>
  <Application>Microsoft Office PowerPoint</Application>
  <PresentationFormat>ワイド画面</PresentationFormat>
  <Paragraphs>173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LLMによる打合せログからの要求仕様書生成</vt:lpstr>
      <vt:lpstr>背景</vt:lpstr>
      <vt:lpstr>生成AIの限界</vt:lpstr>
      <vt:lpstr>生成AIの特徴と現状</vt:lpstr>
      <vt:lpstr>目的</vt:lpstr>
      <vt:lpstr>提案手法</vt:lpstr>
      <vt:lpstr>課題に対してのアプローチ</vt:lpstr>
      <vt:lpstr>使用データ</vt:lpstr>
      <vt:lpstr>① JSON入力+② 分類ラベルの付与</vt:lpstr>
      <vt:lpstr>③ 決定事項の抽出+④ テンプレート出力 </vt:lpstr>
      <vt:lpstr>比較①: 素のAI vs AIプログラム</vt:lpstr>
      <vt:lpstr>比較②: AIプログラム vs 人手作成</vt:lpstr>
      <vt:lpstr>評価まとめ</vt:lpstr>
      <vt:lpstr>結論</vt:lpstr>
      <vt:lpstr>ご清聴ありがとうございました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琉斗 飯田</dc:creator>
  <cp:lastModifiedBy>琉斗 飯田</cp:lastModifiedBy>
  <cp:revision>7</cp:revision>
  <dcterms:created xsi:type="dcterms:W3CDTF">2026-02-01T02:28:45Z</dcterms:created>
  <dcterms:modified xsi:type="dcterms:W3CDTF">2026-02-01T22:30:06Z</dcterms:modified>
</cp:coreProperties>
</file>