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8"/>
  </p:notesMasterIdLst>
  <p:sldIdLst>
    <p:sldId id="256" r:id="rId2"/>
    <p:sldId id="257" r:id="rId3"/>
    <p:sldId id="272" r:id="rId4"/>
    <p:sldId id="259" r:id="rId5"/>
    <p:sldId id="258" r:id="rId6"/>
    <p:sldId id="270" r:id="rId7"/>
    <p:sldId id="260" r:id="rId8"/>
    <p:sldId id="261" r:id="rId9"/>
    <p:sldId id="271" r:id="rId10"/>
    <p:sldId id="262" r:id="rId11"/>
    <p:sldId id="263" r:id="rId12"/>
    <p:sldId id="265" r:id="rId13"/>
    <p:sldId id="266" r:id="rId14"/>
    <p:sldId id="267" r:id="rId15"/>
    <p:sldId id="268" r:id="rId16"/>
    <p:sldId id="269" r:id="rId1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0541" autoAdjust="0"/>
  </p:normalViewPr>
  <p:slideViewPr>
    <p:cSldViewPr snapToGrid="0">
      <p:cViewPr varScale="1">
        <p:scale>
          <a:sx n="104" d="100"/>
          <a:sy n="104" d="100"/>
        </p:scale>
        <p:origin x="1157" y="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3D417A3-1E3F-4B57-833C-A311F4080B71}" type="datetimeFigureOut">
              <a:rPr kumimoji="1" lang="ja-JP" altLang="en-US" smtClean="0"/>
              <a:t>2026/2/2</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BEF29B3-0BFE-45E1-AC17-47FA859AF79F}" type="slidenum">
              <a:rPr kumimoji="1" lang="ja-JP" altLang="en-US" smtClean="0"/>
              <a:t>‹#›</a:t>
            </a:fld>
            <a:endParaRPr kumimoji="1" lang="ja-JP" altLang="en-US"/>
          </a:p>
        </p:txBody>
      </p:sp>
    </p:spTree>
    <p:extLst>
      <p:ext uri="{BB962C8B-B14F-4D97-AF65-F5344CB8AC3E}">
        <p14:creationId xmlns:p14="http://schemas.microsoft.com/office/powerpoint/2010/main" val="298084177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山田研究室所属の飯田琉斗です</a:t>
            </a:r>
            <a:endParaRPr kumimoji="1" lang="en-US" altLang="ja-JP" dirty="0"/>
          </a:p>
          <a:p>
            <a:r>
              <a:rPr kumimoji="1" lang="ja-JP" altLang="en-US" dirty="0"/>
              <a:t>本研究テーマは、</a:t>
            </a:r>
            <a:r>
              <a:rPr kumimoji="1" lang="en-US" altLang="ja-JP" dirty="0"/>
              <a:t>LLM</a:t>
            </a:r>
            <a:r>
              <a:rPr kumimoji="1" lang="ja-JP" altLang="en-US" dirty="0"/>
              <a:t>による打ち合わせログからの要求仕様書生成です</a:t>
            </a:r>
            <a:endParaRPr kumimoji="1" lang="en-US" altLang="ja-JP" dirty="0"/>
          </a:p>
          <a:p>
            <a:r>
              <a:rPr kumimoji="1" lang="ja-JP" altLang="en-US" dirty="0"/>
              <a:t>よろしくお願いします</a:t>
            </a:r>
          </a:p>
        </p:txBody>
      </p:sp>
      <p:sp>
        <p:nvSpPr>
          <p:cNvPr id="4" name="スライド番号プレースホルダー 3"/>
          <p:cNvSpPr>
            <a:spLocks noGrp="1"/>
          </p:cNvSpPr>
          <p:nvPr>
            <p:ph type="sldNum" sz="quarter" idx="5"/>
          </p:nvPr>
        </p:nvSpPr>
        <p:spPr/>
        <p:txBody>
          <a:bodyPr/>
          <a:lstStyle/>
          <a:p>
            <a:fld id="{0BEF29B3-0BFE-45E1-AC17-47FA859AF79F}" type="slidenum">
              <a:rPr kumimoji="1" lang="ja-JP" altLang="en-US" smtClean="0"/>
              <a:t>1</a:t>
            </a:fld>
            <a:endParaRPr kumimoji="1" lang="ja-JP" altLang="en-US"/>
          </a:p>
        </p:txBody>
      </p:sp>
    </p:spTree>
    <p:extLst>
      <p:ext uri="{BB962C8B-B14F-4D97-AF65-F5344CB8AC3E}">
        <p14:creationId xmlns:p14="http://schemas.microsoft.com/office/powerpoint/2010/main" val="9515152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背景として、仕様書の作成は、現在人手に依存しており、多くの時間とコストがかかっています。</a:t>
            </a:r>
            <a:endParaRPr kumimoji="1" lang="en-US" altLang="ja-JP" dirty="0"/>
          </a:p>
          <a:p>
            <a:r>
              <a:rPr kumimoji="1" lang="ja-JP" altLang="en-US" dirty="0"/>
              <a:t>私の体験として、開発プロジェクトでは、開発チーム向けに開発要件や機能をまとめた仕様書が共有されます。</a:t>
            </a:r>
            <a:endParaRPr kumimoji="1" lang="en-US" altLang="ja-JP" dirty="0"/>
          </a:p>
          <a:p>
            <a:r>
              <a:rPr kumimoji="1" lang="ja-JP" altLang="en-US" dirty="0"/>
              <a:t>しかし、所要時間やタスク優先度によって、更新が先送りになったり、タイプミスや別トピックとの混同により内容に誤りがあるなどいくつか課題があります。</a:t>
            </a:r>
            <a:endParaRPr kumimoji="1" lang="en-US" altLang="ja-JP" dirty="0"/>
          </a:p>
          <a:p>
            <a:r>
              <a:rPr kumimoji="1" lang="ja-JP" altLang="en-US" dirty="0"/>
              <a:t>そこで、提示している</a:t>
            </a:r>
            <a:r>
              <a:rPr kumimoji="1" lang="en-US" altLang="ja-JP" dirty="0"/>
              <a:t>4</a:t>
            </a:r>
            <a:r>
              <a:rPr kumimoji="1" lang="ja-JP" altLang="en-US" dirty="0"/>
              <a:t>つの課題について、生成</a:t>
            </a:r>
            <a:r>
              <a:rPr kumimoji="1" lang="en-US" altLang="ja-JP" dirty="0"/>
              <a:t>AI</a:t>
            </a:r>
            <a:r>
              <a:rPr kumimoji="1" lang="ja-JP" altLang="en-US" dirty="0"/>
              <a:t>を用いて解決できないかと考えました。</a:t>
            </a:r>
          </a:p>
        </p:txBody>
      </p:sp>
      <p:sp>
        <p:nvSpPr>
          <p:cNvPr id="4" name="スライド番号プレースホルダー 3"/>
          <p:cNvSpPr>
            <a:spLocks noGrp="1"/>
          </p:cNvSpPr>
          <p:nvPr>
            <p:ph type="sldNum" sz="quarter" idx="5"/>
          </p:nvPr>
        </p:nvSpPr>
        <p:spPr/>
        <p:txBody>
          <a:bodyPr/>
          <a:lstStyle/>
          <a:p>
            <a:fld id="{0BEF29B3-0BFE-45E1-AC17-47FA859AF79F}" type="slidenum">
              <a:rPr kumimoji="1" lang="ja-JP" altLang="en-US" smtClean="0"/>
              <a:t>2</a:t>
            </a:fld>
            <a:endParaRPr kumimoji="1" lang="ja-JP" altLang="en-US"/>
          </a:p>
        </p:txBody>
      </p:sp>
    </p:spTree>
    <p:extLst>
      <p:ext uri="{BB962C8B-B14F-4D97-AF65-F5344CB8AC3E}">
        <p14:creationId xmlns:p14="http://schemas.microsoft.com/office/powerpoint/2010/main" val="19820703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まず、生成</a:t>
            </a:r>
            <a:r>
              <a:rPr kumimoji="1" lang="en-US" altLang="ja-JP" dirty="0"/>
              <a:t>AI</a:t>
            </a:r>
            <a:r>
              <a:rPr kumimoji="1" lang="ja-JP" altLang="en-US" dirty="0"/>
              <a:t>の現状について調査してみました。</a:t>
            </a:r>
            <a:endParaRPr kumimoji="1" lang="en-US" altLang="ja-JP" dirty="0"/>
          </a:p>
          <a:p>
            <a:r>
              <a:rPr kumimoji="1" lang="ja-JP" altLang="en-US" dirty="0"/>
              <a:t>同一プロンプト、データファイルを用いて、同じ処理を</a:t>
            </a:r>
            <a:r>
              <a:rPr kumimoji="1" lang="en-US" altLang="ja-JP" dirty="0"/>
              <a:t>10</a:t>
            </a:r>
            <a:r>
              <a:rPr kumimoji="1" lang="ja-JP" altLang="en-US" dirty="0"/>
              <a:t>回行ってみたところ、毎回同じ結果というわけではなく、ばらつきが生じることが分かりました。</a:t>
            </a:r>
            <a:endParaRPr kumimoji="1" lang="en-US" altLang="ja-JP" dirty="0"/>
          </a:p>
          <a:p>
            <a:r>
              <a:rPr kumimoji="1" lang="en-US" altLang="ja-JP" dirty="0"/>
              <a:t>10</a:t>
            </a:r>
            <a:r>
              <a:rPr kumimoji="1" lang="ja-JP" altLang="en-US" dirty="0"/>
              <a:t>回の平均をとってみると、全項目数</a:t>
            </a:r>
            <a:r>
              <a:rPr kumimoji="1" lang="en-US" altLang="ja-JP" dirty="0"/>
              <a:t>9</a:t>
            </a:r>
            <a:r>
              <a:rPr kumimoji="1" lang="ja-JP" altLang="en-US" dirty="0"/>
              <a:t>に対して、最大が</a:t>
            </a:r>
            <a:r>
              <a:rPr kumimoji="1" lang="en-US" altLang="ja-JP" dirty="0"/>
              <a:t>8</a:t>
            </a:r>
            <a:r>
              <a:rPr kumimoji="1" lang="ja-JP" altLang="en-US" dirty="0"/>
              <a:t>項目、平均で</a:t>
            </a:r>
            <a:r>
              <a:rPr kumimoji="1" lang="en-US" altLang="ja-JP" dirty="0"/>
              <a:t>6.2</a:t>
            </a:r>
            <a:r>
              <a:rPr kumimoji="1" lang="ja-JP" altLang="en-US" dirty="0"/>
              <a:t>項目という結果でした。</a:t>
            </a:r>
            <a:endParaRPr kumimoji="1" lang="en-US" altLang="ja-JP" dirty="0"/>
          </a:p>
          <a:p>
            <a:r>
              <a:rPr kumimoji="1" lang="ja-JP" altLang="en-US" dirty="0"/>
              <a:t>また、一度に命令を与えるのではなく、命令を分けて行ってみると、処理時間の短縮、ばらつきの軽減を確認できました。</a:t>
            </a:r>
            <a:endParaRPr kumimoji="1" lang="en-US" altLang="ja-JP" dirty="0"/>
          </a:p>
          <a:p>
            <a:r>
              <a:rPr kumimoji="1" lang="ja-JP" altLang="en-US" dirty="0"/>
              <a:t>しかし、ばらつきを完全になくすことはできませんでした。</a:t>
            </a:r>
          </a:p>
        </p:txBody>
      </p:sp>
      <p:sp>
        <p:nvSpPr>
          <p:cNvPr id="4" name="スライド番号プレースホルダー 3"/>
          <p:cNvSpPr>
            <a:spLocks noGrp="1"/>
          </p:cNvSpPr>
          <p:nvPr>
            <p:ph type="sldNum" sz="quarter" idx="5"/>
          </p:nvPr>
        </p:nvSpPr>
        <p:spPr/>
        <p:txBody>
          <a:bodyPr/>
          <a:lstStyle/>
          <a:p>
            <a:fld id="{0BEF29B3-0BFE-45E1-AC17-47FA859AF79F}" type="slidenum">
              <a:rPr kumimoji="1" lang="ja-JP" altLang="en-US" smtClean="0"/>
              <a:t>4</a:t>
            </a:fld>
            <a:endParaRPr kumimoji="1" lang="ja-JP" altLang="en-US"/>
          </a:p>
        </p:txBody>
      </p:sp>
    </p:spTree>
    <p:extLst>
      <p:ext uri="{BB962C8B-B14F-4D97-AF65-F5344CB8AC3E}">
        <p14:creationId xmlns:p14="http://schemas.microsoft.com/office/powerpoint/2010/main" val="6150828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先ほどの</a:t>
            </a:r>
            <a:r>
              <a:rPr kumimoji="1" lang="en-US" altLang="ja-JP" dirty="0"/>
              <a:t>10</a:t>
            </a:r>
            <a:r>
              <a:rPr kumimoji="1" lang="ja-JP" altLang="en-US" dirty="0"/>
              <a:t>回の試行により、素の生成</a:t>
            </a:r>
            <a:r>
              <a:rPr kumimoji="1" lang="en-US" altLang="ja-JP" dirty="0"/>
              <a:t>AI</a:t>
            </a:r>
            <a:r>
              <a:rPr kumimoji="1" lang="ja-JP" altLang="en-US" dirty="0"/>
              <a:t>では、人が作成する場合とは異なる新たな課題があることが分かりました。</a:t>
            </a:r>
            <a:endParaRPr kumimoji="1" lang="en-US" altLang="ja-JP" dirty="0"/>
          </a:p>
          <a:p>
            <a:r>
              <a:rPr kumimoji="1" lang="ja-JP" altLang="en-US" dirty="0"/>
              <a:t>昨今の生成</a:t>
            </a:r>
            <a:r>
              <a:rPr kumimoji="1" lang="en-US" altLang="ja-JP" dirty="0"/>
              <a:t>AI</a:t>
            </a:r>
            <a:r>
              <a:rPr kumimoji="1" lang="ja-JP" altLang="en-US" dirty="0"/>
              <a:t>の進化に伴い、推測する能力が向上しています。</a:t>
            </a:r>
            <a:endParaRPr kumimoji="1" lang="en-US" altLang="ja-JP" dirty="0"/>
          </a:p>
          <a:p>
            <a:r>
              <a:rPr kumimoji="1" lang="ja-JP" altLang="en-US" dirty="0"/>
              <a:t>その影響で、データに含まれていない情報を推測補完したり、情報を勝手に拡張させるケースが見られました。</a:t>
            </a:r>
            <a:endParaRPr kumimoji="1" lang="en-US" altLang="ja-JP" dirty="0"/>
          </a:p>
          <a:p>
            <a:r>
              <a:rPr kumimoji="1" lang="ja-JP" altLang="en-US" dirty="0"/>
              <a:t>また、要件の変更があった場合、変更前の情報で出力されていたり、変更前と変更後を別項目として抽出されるケースも確認されました。</a:t>
            </a:r>
            <a:endParaRPr kumimoji="1" lang="en-US" altLang="ja-JP" dirty="0"/>
          </a:p>
          <a:p>
            <a:r>
              <a:rPr kumimoji="1" lang="ja-JP" altLang="en-US" dirty="0"/>
              <a:t>これにより、生成</a:t>
            </a:r>
            <a:r>
              <a:rPr kumimoji="1" lang="en-US" altLang="ja-JP" dirty="0"/>
              <a:t>AI</a:t>
            </a:r>
            <a:r>
              <a:rPr kumimoji="1" lang="ja-JP" altLang="en-US" dirty="0"/>
              <a:t>をそのまま利用することは難しいと判断しました。</a:t>
            </a:r>
          </a:p>
        </p:txBody>
      </p:sp>
      <p:sp>
        <p:nvSpPr>
          <p:cNvPr id="4" name="スライド番号プレースホルダー 3"/>
          <p:cNvSpPr>
            <a:spLocks noGrp="1"/>
          </p:cNvSpPr>
          <p:nvPr>
            <p:ph type="sldNum" sz="quarter" idx="5"/>
          </p:nvPr>
        </p:nvSpPr>
        <p:spPr/>
        <p:txBody>
          <a:bodyPr/>
          <a:lstStyle/>
          <a:p>
            <a:fld id="{0BEF29B3-0BFE-45E1-AC17-47FA859AF79F}" type="slidenum">
              <a:rPr kumimoji="1" lang="ja-JP" altLang="en-US" smtClean="0"/>
              <a:t>5</a:t>
            </a:fld>
            <a:endParaRPr kumimoji="1" lang="ja-JP" altLang="en-US"/>
          </a:p>
        </p:txBody>
      </p:sp>
    </p:spTree>
    <p:extLst>
      <p:ext uri="{BB962C8B-B14F-4D97-AF65-F5344CB8AC3E}">
        <p14:creationId xmlns:p14="http://schemas.microsoft.com/office/powerpoint/2010/main" val="34373061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そこで、本研究では、人手と</a:t>
            </a:r>
            <a:r>
              <a:rPr kumimoji="1" lang="en-US" altLang="ja-JP" dirty="0"/>
              <a:t>AI</a:t>
            </a:r>
            <a:r>
              <a:rPr kumimoji="1" lang="ja-JP" altLang="en-US" dirty="0"/>
              <a:t>で見られた課題に対して、技術的アプローチを行い解決することを目的として進めます。</a:t>
            </a:r>
            <a:endParaRPr kumimoji="1" lang="en-US" altLang="ja-JP" dirty="0"/>
          </a:p>
          <a:p>
            <a:r>
              <a:rPr kumimoji="1" lang="ja-JP" altLang="en-US" dirty="0"/>
              <a:t>今回、改善対象としている課題は、この</a:t>
            </a:r>
            <a:r>
              <a:rPr kumimoji="1" lang="en-US" altLang="ja-JP" dirty="0"/>
              <a:t>7</a:t>
            </a:r>
            <a:r>
              <a:rPr kumimoji="1" lang="ja-JP" altLang="en-US" dirty="0"/>
              <a:t>つになります。</a:t>
            </a:r>
            <a:endParaRPr kumimoji="1" lang="en-US" altLang="ja-JP" dirty="0"/>
          </a:p>
          <a:p>
            <a:endParaRPr kumimoji="1" lang="en-US" altLang="ja-JP" dirty="0"/>
          </a:p>
          <a:p>
            <a:endParaRPr kumimoji="1" lang="ja-JP" altLang="en-US" dirty="0"/>
          </a:p>
        </p:txBody>
      </p:sp>
      <p:sp>
        <p:nvSpPr>
          <p:cNvPr id="4" name="スライド番号プレースホルダー 3"/>
          <p:cNvSpPr>
            <a:spLocks noGrp="1"/>
          </p:cNvSpPr>
          <p:nvPr>
            <p:ph type="sldNum" sz="quarter" idx="5"/>
          </p:nvPr>
        </p:nvSpPr>
        <p:spPr/>
        <p:txBody>
          <a:bodyPr/>
          <a:lstStyle/>
          <a:p>
            <a:fld id="{0BEF29B3-0BFE-45E1-AC17-47FA859AF79F}" type="slidenum">
              <a:rPr kumimoji="1" lang="ja-JP" altLang="en-US" smtClean="0"/>
              <a:t>6</a:t>
            </a:fld>
            <a:endParaRPr kumimoji="1" lang="ja-JP" altLang="en-US"/>
          </a:p>
        </p:txBody>
      </p:sp>
    </p:spTree>
    <p:extLst>
      <p:ext uri="{BB962C8B-B14F-4D97-AF65-F5344CB8AC3E}">
        <p14:creationId xmlns:p14="http://schemas.microsoft.com/office/powerpoint/2010/main" val="631946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提案手法についてです。</a:t>
            </a:r>
            <a:endParaRPr kumimoji="1" lang="en-US" altLang="ja-JP" dirty="0"/>
          </a:p>
          <a:p>
            <a:r>
              <a:rPr kumimoji="1" lang="ja-JP" altLang="en-US" dirty="0"/>
              <a:t>先ほど、単純な命令では精度がよいことが確認できたので、ステップを分けて、ステップごとに補正を行うプログラムを設計します。</a:t>
            </a:r>
            <a:endParaRPr kumimoji="1" lang="en-US" altLang="ja-JP" dirty="0"/>
          </a:p>
          <a:p>
            <a:r>
              <a:rPr kumimoji="1" lang="ja-JP" altLang="en-US" dirty="0"/>
              <a:t>手順として、生成</a:t>
            </a:r>
            <a:r>
              <a:rPr kumimoji="1" lang="en-US" altLang="ja-JP" dirty="0"/>
              <a:t>AI</a:t>
            </a:r>
            <a:r>
              <a:rPr kumimoji="1" lang="ja-JP" altLang="en-US" dirty="0"/>
              <a:t>を用いるのは、②と③なので、①と②、③と④を同時に行い、２ステップで行うよう設計しました。</a:t>
            </a:r>
            <a:endParaRPr kumimoji="1" lang="en-US" altLang="ja-JP" dirty="0"/>
          </a:p>
          <a:p>
            <a:r>
              <a:rPr kumimoji="1" lang="ja-JP" altLang="en-US" dirty="0"/>
              <a:t>今回用いる生成</a:t>
            </a:r>
            <a:r>
              <a:rPr kumimoji="1" lang="en-US" altLang="ja-JP" dirty="0"/>
              <a:t>AI</a:t>
            </a:r>
            <a:r>
              <a:rPr kumimoji="1" lang="ja-JP" altLang="en-US" dirty="0"/>
              <a:t>は、</a:t>
            </a:r>
            <a:r>
              <a:rPr kumimoji="1" lang="en-US" altLang="ja-JP" dirty="0"/>
              <a:t>OpenAI</a:t>
            </a:r>
            <a:r>
              <a:rPr kumimoji="1" lang="ja-JP" altLang="en-US" dirty="0"/>
              <a:t>の</a:t>
            </a:r>
            <a:r>
              <a:rPr kumimoji="1" lang="en-US" altLang="ja-JP" dirty="0"/>
              <a:t>GPT-4o</a:t>
            </a:r>
            <a:r>
              <a:rPr kumimoji="1" lang="ja-JP" altLang="en-US" dirty="0"/>
              <a:t>を使用します。</a:t>
            </a:r>
            <a:endParaRPr kumimoji="1" lang="en-US" altLang="ja-JP" dirty="0"/>
          </a:p>
          <a:p>
            <a:r>
              <a:rPr kumimoji="1" lang="ja-JP" altLang="en-US" dirty="0"/>
              <a:t>このモデルの特徴として、</a:t>
            </a:r>
            <a:r>
              <a:rPr kumimoji="1" lang="ja-JP" altLang="ja-JP" sz="1200" kern="1200" dirty="0">
                <a:solidFill>
                  <a:schemeClr val="tx1"/>
                </a:solidFill>
                <a:effectLst/>
                <a:latin typeface="+mn-lt"/>
                <a:ea typeface="+mn-ea"/>
                <a:cs typeface="+mn-cs"/>
              </a:rPr>
              <a:t>高度な自然言語理解能力を持ち、テキストの文脈理解や要約処理において優れた性能を</a:t>
            </a:r>
            <a:r>
              <a:rPr kumimoji="1" lang="ja-JP" altLang="en-US" sz="1200" kern="1200" dirty="0">
                <a:solidFill>
                  <a:schemeClr val="tx1"/>
                </a:solidFill>
                <a:effectLst/>
                <a:latin typeface="+mn-lt"/>
                <a:ea typeface="+mn-ea"/>
                <a:cs typeface="+mn-cs"/>
              </a:rPr>
              <a:t>示しています。</a:t>
            </a:r>
            <a:endParaRPr kumimoji="1" lang="en-US" altLang="ja-JP" sz="1200" kern="1200" dirty="0">
              <a:solidFill>
                <a:schemeClr val="tx1"/>
              </a:solidFill>
              <a:effectLst/>
              <a:latin typeface="+mn-lt"/>
              <a:ea typeface="+mn-ea"/>
              <a:cs typeface="+mn-cs"/>
            </a:endParaRPr>
          </a:p>
          <a:p>
            <a:r>
              <a:rPr kumimoji="1" lang="ja-JP" altLang="en-US" sz="1200" kern="1200" dirty="0">
                <a:solidFill>
                  <a:schemeClr val="tx1"/>
                </a:solidFill>
                <a:effectLst/>
                <a:latin typeface="+mn-lt"/>
                <a:ea typeface="+mn-ea"/>
                <a:cs typeface="+mn-cs"/>
              </a:rPr>
              <a:t>そのため、本プログラムに適していると判断しました。</a:t>
            </a:r>
            <a:endParaRPr kumimoji="1" lang="ja-JP" altLang="en-US" dirty="0"/>
          </a:p>
        </p:txBody>
      </p:sp>
      <p:sp>
        <p:nvSpPr>
          <p:cNvPr id="4" name="スライド番号プレースホルダー 3"/>
          <p:cNvSpPr>
            <a:spLocks noGrp="1"/>
          </p:cNvSpPr>
          <p:nvPr>
            <p:ph type="sldNum" sz="quarter" idx="5"/>
          </p:nvPr>
        </p:nvSpPr>
        <p:spPr/>
        <p:txBody>
          <a:bodyPr/>
          <a:lstStyle/>
          <a:p>
            <a:fld id="{0BEF29B3-0BFE-45E1-AC17-47FA859AF79F}" type="slidenum">
              <a:rPr kumimoji="1" lang="ja-JP" altLang="en-US" smtClean="0"/>
              <a:t>7</a:t>
            </a:fld>
            <a:endParaRPr kumimoji="1" lang="ja-JP" altLang="en-US"/>
          </a:p>
        </p:txBody>
      </p:sp>
    </p:spTree>
    <p:extLst>
      <p:ext uri="{BB962C8B-B14F-4D97-AF65-F5344CB8AC3E}">
        <p14:creationId xmlns:p14="http://schemas.microsoft.com/office/powerpoint/2010/main" val="15810363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各課題に対してのアプローチ方法です。</a:t>
            </a:r>
            <a:endParaRPr kumimoji="1" lang="en-US" altLang="ja-JP" dirty="0"/>
          </a:p>
          <a:p>
            <a:r>
              <a:rPr kumimoji="1" lang="en-US" altLang="ja-JP" dirty="0"/>
              <a:t>temperature</a:t>
            </a:r>
            <a:r>
              <a:rPr kumimoji="1" lang="ja-JP" altLang="en-US" dirty="0"/>
              <a:t>を最適化することで、出力に一貫性を持たせる。</a:t>
            </a:r>
            <a:endParaRPr kumimoji="1" lang="en-US" altLang="ja-JP" dirty="0"/>
          </a:p>
          <a:p>
            <a:r>
              <a:rPr kumimoji="1" lang="ja-JP" altLang="en-US" dirty="0"/>
              <a:t>中間の出力として、識別ラベルを付与した</a:t>
            </a:r>
            <a:r>
              <a:rPr kumimoji="1" lang="en-US" altLang="ja-JP" dirty="0"/>
              <a:t>JSON</a:t>
            </a:r>
            <a:r>
              <a:rPr kumimoji="1" lang="ja-JP" altLang="en-US" dirty="0"/>
              <a:t>ファイルを用いることで、必要データを識別する。</a:t>
            </a:r>
            <a:endParaRPr kumimoji="1" lang="en-US" altLang="ja-JP" dirty="0"/>
          </a:p>
          <a:p>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0BEF29B3-0BFE-45E1-AC17-47FA859AF79F}" type="slidenum">
              <a:rPr kumimoji="1" lang="ja-JP" altLang="en-US" smtClean="0"/>
              <a:t>8</a:t>
            </a:fld>
            <a:endParaRPr kumimoji="1" lang="ja-JP" altLang="en-US"/>
          </a:p>
        </p:txBody>
      </p:sp>
    </p:spTree>
    <p:extLst>
      <p:ext uri="{BB962C8B-B14F-4D97-AF65-F5344CB8AC3E}">
        <p14:creationId xmlns:p14="http://schemas.microsoft.com/office/powerpoint/2010/main" val="35754182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4B3F1CF-5D29-0ECE-6854-7AA41236D7CF}"/>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808297F5-009E-E132-D4C1-8EB589AF76C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2E75E982-1D86-4A35-22FB-85F0C934270E}"/>
              </a:ext>
            </a:extLst>
          </p:cNvPr>
          <p:cNvSpPr>
            <a:spLocks noGrp="1"/>
          </p:cNvSpPr>
          <p:nvPr>
            <p:ph type="dt" sz="half" idx="10"/>
          </p:nvPr>
        </p:nvSpPr>
        <p:spPr/>
        <p:txBody>
          <a:bodyPr/>
          <a:lstStyle/>
          <a:p>
            <a:fld id="{D705ED8C-C764-41F5-96CF-0F9B15F62710}" type="datetime1">
              <a:rPr kumimoji="1" lang="ja-JP" altLang="en-US" smtClean="0"/>
              <a:t>2026/2/2</a:t>
            </a:fld>
            <a:endParaRPr kumimoji="1" lang="ja-JP" altLang="en-US"/>
          </a:p>
        </p:txBody>
      </p:sp>
      <p:sp>
        <p:nvSpPr>
          <p:cNvPr id="5" name="フッター プレースホルダー 4">
            <a:extLst>
              <a:ext uri="{FF2B5EF4-FFF2-40B4-BE49-F238E27FC236}">
                <a16:creationId xmlns:a16="http://schemas.microsoft.com/office/drawing/2014/main" id="{FACA8F91-44C0-C53F-84CB-82093B91EC7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307FA1-517C-6E49-DF2C-DE20401CE3A8}"/>
              </a:ext>
            </a:extLst>
          </p:cNvPr>
          <p:cNvSpPr>
            <a:spLocks noGrp="1"/>
          </p:cNvSpPr>
          <p:nvPr>
            <p:ph type="sldNum" sz="quarter" idx="12"/>
          </p:nvPr>
        </p:nvSpPr>
        <p:spPr/>
        <p:txBody>
          <a:bodyPr/>
          <a:lstStyle/>
          <a:p>
            <a:fld id="{F32C8F3A-98E9-46B1-BAC9-77D093337233}" type="slidenum">
              <a:rPr kumimoji="1" lang="ja-JP" altLang="en-US" smtClean="0"/>
              <a:t>‹#›</a:t>
            </a:fld>
            <a:endParaRPr kumimoji="1" lang="ja-JP" altLang="en-US"/>
          </a:p>
        </p:txBody>
      </p:sp>
    </p:spTree>
    <p:extLst>
      <p:ext uri="{BB962C8B-B14F-4D97-AF65-F5344CB8AC3E}">
        <p14:creationId xmlns:p14="http://schemas.microsoft.com/office/powerpoint/2010/main" val="37174261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CF8F0C3-8723-E6EB-1CD3-FF4A4873939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ABCC6CE-1AA6-29B8-FA2C-E44291A07E8C}"/>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0E23E14-85C5-9886-633C-EE02CDB1B09B}"/>
              </a:ext>
            </a:extLst>
          </p:cNvPr>
          <p:cNvSpPr>
            <a:spLocks noGrp="1"/>
          </p:cNvSpPr>
          <p:nvPr>
            <p:ph type="dt" sz="half" idx="10"/>
          </p:nvPr>
        </p:nvSpPr>
        <p:spPr/>
        <p:txBody>
          <a:bodyPr/>
          <a:lstStyle/>
          <a:p>
            <a:fld id="{11BD9CF9-F98D-4852-8F64-2FC979518458}" type="datetime1">
              <a:rPr kumimoji="1" lang="ja-JP" altLang="en-US" smtClean="0"/>
              <a:t>2026/2/2</a:t>
            </a:fld>
            <a:endParaRPr kumimoji="1" lang="ja-JP" altLang="en-US"/>
          </a:p>
        </p:txBody>
      </p:sp>
      <p:sp>
        <p:nvSpPr>
          <p:cNvPr id="5" name="フッター プレースホルダー 4">
            <a:extLst>
              <a:ext uri="{FF2B5EF4-FFF2-40B4-BE49-F238E27FC236}">
                <a16:creationId xmlns:a16="http://schemas.microsoft.com/office/drawing/2014/main" id="{7CAF512B-C418-D84D-DFC3-181C251AAAA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2BB726C-AE8F-154B-B1A7-2C3B207821C0}"/>
              </a:ext>
            </a:extLst>
          </p:cNvPr>
          <p:cNvSpPr>
            <a:spLocks noGrp="1"/>
          </p:cNvSpPr>
          <p:nvPr>
            <p:ph type="sldNum" sz="quarter" idx="12"/>
          </p:nvPr>
        </p:nvSpPr>
        <p:spPr/>
        <p:txBody>
          <a:bodyPr/>
          <a:lstStyle/>
          <a:p>
            <a:fld id="{F32C8F3A-98E9-46B1-BAC9-77D093337233}" type="slidenum">
              <a:rPr kumimoji="1" lang="ja-JP" altLang="en-US" smtClean="0"/>
              <a:t>‹#›</a:t>
            </a:fld>
            <a:endParaRPr kumimoji="1" lang="ja-JP" altLang="en-US"/>
          </a:p>
        </p:txBody>
      </p:sp>
    </p:spTree>
    <p:extLst>
      <p:ext uri="{BB962C8B-B14F-4D97-AF65-F5344CB8AC3E}">
        <p14:creationId xmlns:p14="http://schemas.microsoft.com/office/powerpoint/2010/main" val="18399730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14306B5-3470-456A-8E2A-7C4752A27102}"/>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D5839A7D-4172-F7D4-8E9B-D01D6D369E5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D373C8BF-2C78-DBA1-35D2-7B2906E3AEC6}"/>
              </a:ext>
            </a:extLst>
          </p:cNvPr>
          <p:cNvSpPr>
            <a:spLocks noGrp="1"/>
          </p:cNvSpPr>
          <p:nvPr>
            <p:ph type="dt" sz="half" idx="10"/>
          </p:nvPr>
        </p:nvSpPr>
        <p:spPr/>
        <p:txBody>
          <a:bodyPr/>
          <a:lstStyle/>
          <a:p>
            <a:fld id="{BC7A392E-DF18-4958-95B6-B6810D71BE20}" type="datetime1">
              <a:rPr kumimoji="1" lang="ja-JP" altLang="en-US" smtClean="0"/>
              <a:t>2026/2/2</a:t>
            </a:fld>
            <a:endParaRPr kumimoji="1" lang="ja-JP" altLang="en-US"/>
          </a:p>
        </p:txBody>
      </p:sp>
      <p:sp>
        <p:nvSpPr>
          <p:cNvPr id="5" name="フッター プレースホルダー 4">
            <a:extLst>
              <a:ext uri="{FF2B5EF4-FFF2-40B4-BE49-F238E27FC236}">
                <a16:creationId xmlns:a16="http://schemas.microsoft.com/office/drawing/2014/main" id="{6887C6A4-0198-F886-17C5-57538154B60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88519C7-E3DE-2675-8A36-C16B78F3A5E2}"/>
              </a:ext>
            </a:extLst>
          </p:cNvPr>
          <p:cNvSpPr>
            <a:spLocks noGrp="1"/>
          </p:cNvSpPr>
          <p:nvPr>
            <p:ph type="sldNum" sz="quarter" idx="12"/>
          </p:nvPr>
        </p:nvSpPr>
        <p:spPr/>
        <p:txBody>
          <a:bodyPr/>
          <a:lstStyle/>
          <a:p>
            <a:fld id="{F32C8F3A-98E9-46B1-BAC9-77D093337233}" type="slidenum">
              <a:rPr kumimoji="1" lang="ja-JP" altLang="en-US" smtClean="0"/>
              <a:t>‹#›</a:t>
            </a:fld>
            <a:endParaRPr kumimoji="1" lang="ja-JP" altLang="en-US"/>
          </a:p>
        </p:txBody>
      </p:sp>
    </p:spTree>
    <p:extLst>
      <p:ext uri="{BB962C8B-B14F-4D97-AF65-F5344CB8AC3E}">
        <p14:creationId xmlns:p14="http://schemas.microsoft.com/office/powerpoint/2010/main" val="28620819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3B8E40E-362D-4859-CD43-4B7F4999DE6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EC75C2B-402B-7466-0882-CCBDDBD1C038}"/>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90C9C484-16CF-4831-A5CD-17300D7B852D}"/>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7027A976-DA37-FBBF-4B31-6C9B04988196}"/>
              </a:ext>
            </a:extLst>
          </p:cNvPr>
          <p:cNvSpPr>
            <a:spLocks noGrp="1"/>
          </p:cNvSpPr>
          <p:nvPr>
            <p:ph type="dt" sz="half" idx="10"/>
          </p:nvPr>
        </p:nvSpPr>
        <p:spPr/>
        <p:txBody>
          <a:bodyPr/>
          <a:lstStyle/>
          <a:p>
            <a:fld id="{18DF5635-DC9A-4631-B178-36166F94D0A9}" type="datetime1">
              <a:rPr kumimoji="1" lang="ja-JP" altLang="en-US" smtClean="0"/>
              <a:t>2026/2/2</a:t>
            </a:fld>
            <a:endParaRPr kumimoji="1" lang="ja-JP" altLang="en-US"/>
          </a:p>
        </p:txBody>
      </p:sp>
      <p:sp>
        <p:nvSpPr>
          <p:cNvPr id="6" name="フッター プレースホルダー 5">
            <a:extLst>
              <a:ext uri="{FF2B5EF4-FFF2-40B4-BE49-F238E27FC236}">
                <a16:creationId xmlns:a16="http://schemas.microsoft.com/office/drawing/2014/main" id="{769D9321-97A1-3FB7-7319-C4694541226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3FDD7204-BEEB-970F-6009-99090142D5B2}"/>
              </a:ext>
            </a:extLst>
          </p:cNvPr>
          <p:cNvSpPr>
            <a:spLocks noGrp="1"/>
          </p:cNvSpPr>
          <p:nvPr>
            <p:ph type="sldNum" sz="quarter" idx="12"/>
          </p:nvPr>
        </p:nvSpPr>
        <p:spPr/>
        <p:txBody>
          <a:bodyPr/>
          <a:lstStyle/>
          <a:p>
            <a:fld id="{F32C8F3A-98E9-46B1-BAC9-77D093337233}" type="slidenum">
              <a:rPr kumimoji="1" lang="ja-JP" altLang="en-US" smtClean="0"/>
              <a:t>‹#›</a:t>
            </a:fld>
            <a:endParaRPr kumimoji="1" lang="ja-JP" altLang="en-US"/>
          </a:p>
        </p:txBody>
      </p:sp>
    </p:spTree>
    <p:extLst>
      <p:ext uri="{BB962C8B-B14F-4D97-AF65-F5344CB8AC3E}">
        <p14:creationId xmlns:p14="http://schemas.microsoft.com/office/powerpoint/2010/main" val="7474489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7CE865E-4FCA-CEC7-31AE-0CCDC4628792}"/>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6B7E2B8-DAE5-C016-965A-C15BEF25F1A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1205343D-5E29-2C38-1441-D0A70DD64480}"/>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2EFDAFE0-28DA-5E3F-16C7-2738A35DE77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100A10E0-9493-7A45-EF68-CE368E448DBB}"/>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2DDF3B20-4C5C-724E-E129-C9214B1136B8}"/>
              </a:ext>
            </a:extLst>
          </p:cNvPr>
          <p:cNvSpPr>
            <a:spLocks noGrp="1"/>
          </p:cNvSpPr>
          <p:nvPr>
            <p:ph type="dt" sz="half" idx="10"/>
          </p:nvPr>
        </p:nvSpPr>
        <p:spPr/>
        <p:txBody>
          <a:bodyPr/>
          <a:lstStyle/>
          <a:p>
            <a:fld id="{C66E3DF5-06DF-4B12-9B13-4D54DD2F3862}" type="datetime1">
              <a:rPr kumimoji="1" lang="ja-JP" altLang="en-US" smtClean="0"/>
              <a:t>2026/2/2</a:t>
            </a:fld>
            <a:endParaRPr kumimoji="1" lang="ja-JP" altLang="en-US"/>
          </a:p>
        </p:txBody>
      </p:sp>
      <p:sp>
        <p:nvSpPr>
          <p:cNvPr id="8" name="フッター プレースホルダー 7">
            <a:extLst>
              <a:ext uri="{FF2B5EF4-FFF2-40B4-BE49-F238E27FC236}">
                <a16:creationId xmlns:a16="http://schemas.microsoft.com/office/drawing/2014/main" id="{45E6C0C9-8463-9E94-671D-F76AA9D8A3E6}"/>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41B4F47E-58A7-2BCF-8B4E-8EF9D9A9F837}"/>
              </a:ext>
            </a:extLst>
          </p:cNvPr>
          <p:cNvSpPr>
            <a:spLocks noGrp="1"/>
          </p:cNvSpPr>
          <p:nvPr>
            <p:ph type="sldNum" sz="quarter" idx="12"/>
          </p:nvPr>
        </p:nvSpPr>
        <p:spPr/>
        <p:txBody>
          <a:bodyPr/>
          <a:lstStyle/>
          <a:p>
            <a:fld id="{F32C8F3A-98E9-46B1-BAC9-77D093337233}" type="slidenum">
              <a:rPr kumimoji="1" lang="ja-JP" altLang="en-US" smtClean="0"/>
              <a:t>‹#›</a:t>
            </a:fld>
            <a:endParaRPr kumimoji="1" lang="ja-JP" altLang="en-US"/>
          </a:p>
        </p:txBody>
      </p:sp>
    </p:spTree>
    <p:extLst>
      <p:ext uri="{BB962C8B-B14F-4D97-AF65-F5344CB8AC3E}">
        <p14:creationId xmlns:p14="http://schemas.microsoft.com/office/powerpoint/2010/main" val="30960698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3F63021-E7EE-68E0-1E0E-0EE81526E795}"/>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24FDB582-024A-A711-B7EA-0ACD3001DD37}"/>
              </a:ext>
            </a:extLst>
          </p:cNvPr>
          <p:cNvSpPr>
            <a:spLocks noGrp="1"/>
          </p:cNvSpPr>
          <p:nvPr>
            <p:ph type="dt" sz="half" idx="10"/>
          </p:nvPr>
        </p:nvSpPr>
        <p:spPr/>
        <p:txBody>
          <a:bodyPr/>
          <a:lstStyle/>
          <a:p>
            <a:fld id="{C8BE9157-DC33-4C39-A1DB-7F5B1368E853}" type="datetime1">
              <a:rPr kumimoji="1" lang="ja-JP" altLang="en-US" smtClean="0"/>
              <a:t>2026/2/2</a:t>
            </a:fld>
            <a:endParaRPr kumimoji="1" lang="ja-JP" altLang="en-US"/>
          </a:p>
        </p:txBody>
      </p:sp>
      <p:sp>
        <p:nvSpPr>
          <p:cNvPr id="4" name="フッター プレースホルダー 3">
            <a:extLst>
              <a:ext uri="{FF2B5EF4-FFF2-40B4-BE49-F238E27FC236}">
                <a16:creationId xmlns:a16="http://schemas.microsoft.com/office/drawing/2014/main" id="{9511D26C-0405-54AF-A233-5BC70981B362}"/>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40708BF2-F1CC-81CC-F018-3254567B2095}"/>
              </a:ext>
            </a:extLst>
          </p:cNvPr>
          <p:cNvSpPr>
            <a:spLocks noGrp="1"/>
          </p:cNvSpPr>
          <p:nvPr>
            <p:ph type="sldNum" sz="quarter" idx="12"/>
          </p:nvPr>
        </p:nvSpPr>
        <p:spPr/>
        <p:txBody>
          <a:bodyPr/>
          <a:lstStyle/>
          <a:p>
            <a:fld id="{F32C8F3A-98E9-46B1-BAC9-77D093337233}" type="slidenum">
              <a:rPr kumimoji="1" lang="ja-JP" altLang="en-US" smtClean="0"/>
              <a:t>‹#›</a:t>
            </a:fld>
            <a:endParaRPr kumimoji="1" lang="ja-JP" altLang="en-US"/>
          </a:p>
        </p:txBody>
      </p:sp>
    </p:spTree>
    <p:extLst>
      <p:ext uri="{BB962C8B-B14F-4D97-AF65-F5344CB8AC3E}">
        <p14:creationId xmlns:p14="http://schemas.microsoft.com/office/powerpoint/2010/main" val="17019773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0EC4D75C-4ED2-F943-1BA4-DE7C0ABA07EF}"/>
              </a:ext>
            </a:extLst>
          </p:cNvPr>
          <p:cNvSpPr>
            <a:spLocks noGrp="1"/>
          </p:cNvSpPr>
          <p:nvPr>
            <p:ph type="dt" sz="half" idx="10"/>
          </p:nvPr>
        </p:nvSpPr>
        <p:spPr/>
        <p:txBody>
          <a:bodyPr/>
          <a:lstStyle/>
          <a:p>
            <a:fld id="{1F524E4A-5C14-47F0-9BD0-23FAEA541D2C}" type="datetime1">
              <a:rPr kumimoji="1" lang="ja-JP" altLang="en-US" smtClean="0"/>
              <a:t>2026/2/2</a:t>
            </a:fld>
            <a:endParaRPr kumimoji="1" lang="ja-JP" altLang="en-US"/>
          </a:p>
        </p:txBody>
      </p:sp>
      <p:sp>
        <p:nvSpPr>
          <p:cNvPr id="3" name="フッター プレースホルダー 2">
            <a:extLst>
              <a:ext uri="{FF2B5EF4-FFF2-40B4-BE49-F238E27FC236}">
                <a16:creationId xmlns:a16="http://schemas.microsoft.com/office/drawing/2014/main" id="{73F7ABD5-7F31-5353-5765-43B66B13CBB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52F8FF4-A0CD-2810-775E-D809700A74F9}"/>
              </a:ext>
            </a:extLst>
          </p:cNvPr>
          <p:cNvSpPr>
            <a:spLocks noGrp="1"/>
          </p:cNvSpPr>
          <p:nvPr>
            <p:ph type="sldNum" sz="quarter" idx="12"/>
          </p:nvPr>
        </p:nvSpPr>
        <p:spPr/>
        <p:txBody>
          <a:bodyPr/>
          <a:lstStyle/>
          <a:p>
            <a:fld id="{F32C8F3A-98E9-46B1-BAC9-77D093337233}" type="slidenum">
              <a:rPr kumimoji="1" lang="ja-JP" altLang="en-US" smtClean="0"/>
              <a:t>‹#›</a:t>
            </a:fld>
            <a:endParaRPr kumimoji="1" lang="ja-JP" altLang="en-US"/>
          </a:p>
        </p:txBody>
      </p:sp>
    </p:spTree>
    <p:extLst>
      <p:ext uri="{BB962C8B-B14F-4D97-AF65-F5344CB8AC3E}">
        <p14:creationId xmlns:p14="http://schemas.microsoft.com/office/powerpoint/2010/main" val="36054898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544B77-687F-A018-0944-93A3F54B12D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38E86A7-E8E9-76DA-B1DC-B5A7A926A7C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579B20AD-E832-6B04-8A6C-88534A96896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214306BB-4E95-B626-454F-D0C39023F7F0}"/>
              </a:ext>
            </a:extLst>
          </p:cNvPr>
          <p:cNvSpPr>
            <a:spLocks noGrp="1"/>
          </p:cNvSpPr>
          <p:nvPr>
            <p:ph type="dt" sz="half" idx="10"/>
          </p:nvPr>
        </p:nvSpPr>
        <p:spPr/>
        <p:txBody>
          <a:bodyPr/>
          <a:lstStyle/>
          <a:p>
            <a:fld id="{3D72F0B9-5C83-45E1-ABC4-8556F01C6EA6}" type="datetime1">
              <a:rPr kumimoji="1" lang="ja-JP" altLang="en-US" smtClean="0"/>
              <a:t>2026/2/2</a:t>
            </a:fld>
            <a:endParaRPr kumimoji="1" lang="ja-JP" altLang="en-US"/>
          </a:p>
        </p:txBody>
      </p:sp>
      <p:sp>
        <p:nvSpPr>
          <p:cNvPr id="6" name="フッター プレースホルダー 5">
            <a:extLst>
              <a:ext uri="{FF2B5EF4-FFF2-40B4-BE49-F238E27FC236}">
                <a16:creationId xmlns:a16="http://schemas.microsoft.com/office/drawing/2014/main" id="{65A687D1-F9B2-0055-A2F5-A41A34F832E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1100E05D-D278-84D7-6C9A-8969F9E38D62}"/>
              </a:ext>
            </a:extLst>
          </p:cNvPr>
          <p:cNvSpPr>
            <a:spLocks noGrp="1"/>
          </p:cNvSpPr>
          <p:nvPr>
            <p:ph type="sldNum" sz="quarter" idx="12"/>
          </p:nvPr>
        </p:nvSpPr>
        <p:spPr/>
        <p:txBody>
          <a:bodyPr/>
          <a:lstStyle/>
          <a:p>
            <a:fld id="{F32C8F3A-98E9-46B1-BAC9-77D093337233}" type="slidenum">
              <a:rPr kumimoji="1" lang="ja-JP" altLang="en-US" smtClean="0"/>
              <a:t>‹#›</a:t>
            </a:fld>
            <a:endParaRPr kumimoji="1" lang="ja-JP" altLang="en-US"/>
          </a:p>
        </p:txBody>
      </p:sp>
    </p:spTree>
    <p:extLst>
      <p:ext uri="{BB962C8B-B14F-4D97-AF65-F5344CB8AC3E}">
        <p14:creationId xmlns:p14="http://schemas.microsoft.com/office/powerpoint/2010/main" val="13872206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CC7F0E7-7CC8-C35C-D9C1-5C35A6323612}"/>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D65E79FF-BDC0-FCE9-5166-FD23AD3F29E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17288C77-EB14-C734-47CD-13EB1A79D2D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EB63277-6071-3C39-DED9-3C889E0E1D4C}"/>
              </a:ext>
            </a:extLst>
          </p:cNvPr>
          <p:cNvSpPr>
            <a:spLocks noGrp="1"/>
          </p:cNvSpPr>
          <p:nvPr>
            <p:ph type="dt" sz="half" idx="10"/>
          </p:nvPr>
        </p:nvSpPr>
        <p:spPr/>
        <p:txBody>
          <a:bodyPr/>
          <a:lstStyle/>
          <a:p>
            <a:fld id="{3BC37A24-7C32-4FF8-B071-FD61542E569C}" type="datetime1">
              <a:rPr kumimoji="1" lang="ja-JP" altLang="en-US" smtClean="0"/>
              <a:t>2026/2/2</a:t>
            </a:fld>
            <a:endParaRPr kumimoji="1" lang="ja-JP" altLang="en-US"/>
          </a:p>
        </p:txBody>
      </p:sp>
      <p:sp>
        <p:nvSpPr>
          <p:cNvPr id="6" name="フッター プレースホルダー 5">
            <a:extLst>
              <a:ext uri="{FF2B5EF4-FFF2-40B4-BE49-F238E27FC236}">
                <a16:creationId xmlns:a16="http://schemas.microsoft.com/office/drawing/2014/main" id="{B6786C79-B916-96C7-2B33-C63E81146BD1}"/>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403A883-7AA3-5493-40B8-8BBF4841DDE2}"/>
              </a:ext>
            </a:extLst>
          </p:cNvPr>
          <p:cNvSpPr>
            <a:spLocks noGrp="1"/>
          </p:cNvSpPr>
          <p:nvPr>
            <p:ph type="sldNum" sz="quarter" idx="12"/>
          </p:nvPr>
        </p:nvSpPr>
        <p:spPr/>
        <p:txBody>
          <a:bodyPr/>
          <a:lstStyle/>
          <a:p>
            <a:fld id="{F32C8F3A-98E9-46B1-BAC9-77D093337233}" type="slidenum">
              <a:rPr kumimoji="1" lang="ja-JP" altLang="en-US" smtClean="0"/>
              <a:t>‹#›</a:t>
            </a:fld>
            <a:endParaRPr kumimoji="1" lang="ja-JP" altLang="en-US"/>
          </a:p>
        </p:txBody>
      </p:sp>
    </p:spTree>
    <p:extLst>
      <p:ext uri="{BB962C8B-B14F-4D97-AF65-F5344CB8AC3E}">
        <p14:creationId xmlns:p14="http://schemas.microsoft.com/office/powerpoint/2010/main" val="8081824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C4B4A97-BFF5-516E-1C9D-89431A9C36A8}"/>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4A3951C-A90B-3B28-DBAE-5C3F3EB1CE3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854F9E02-E2B0-B1C2-2994-A3CC220F2579}"/>
              </a:ext>
            </a:extLst>
          </p:cNvPr>
          <p:cNvSpPr>
            <a:spLocks noGrp="1"/>
          </p:cNvSpPr>
          <p:nvPr>
            <p:ph type="dt" sz="half" idx="10"/>
          </p:nvPr>
        </p:nvSpPr>
        <p:spPr/>
        <p:txBody>
          <a:bodyPr/>
          <a:lstStyle/>
          <a:p>
            <a:fld id="{C2DF5EB3-C563-4E68-80FD-8D5ACBE0CBEB}" type="datetime1">
              <a:rPr kumimoji="1" lang="ja-JP" altLang="en-US" smtClean="0"/>
              <a:t>2026/2/2</a:t>
            </a:fld>
            <a:endParaRPr kumimoji="1" lang="ja-JP" altLang="en-US"/>
          </a:p>
        </p:txBody>
      </p:sp>
      <p:sp>
        <p:nvSpPr>
          <p:cNvPr id="5" name="フッター プレースホルダー 4">
            <a:extLst>
              <a:ext uri="{FF2B5EF4-FFF2-40B4-BE49-F238E27FC236}">
                <a16:creationId xmlns:a16="http://schemas.microsoft.com/office/drawing/2014/main" id="{6219C13D-BDCB-A6C8-9D76-4FCAEAB8305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8C4854A-DC00-ED83-A23C-2679B3A07BA9}"/>
              </a:ext>
            </a:extLst>
          </p:cNvPr>
          <p:cNvSpPr>
            <a:spLocks noGrp="1"/>
          </p:cNvSpPr>
          <p:nvPr>
            <p:ph type="sldNum" sz="quarter" idx="12"/>
          </p:nvPr>
        </p:nvSpPr>
        <p:spPr/>
        <p:txBody>
          <a:bodyPr/>
          <a:lstStyle/>
          <a:p>
            <a:fld id="{F32C8F3A-98E9-46B1-BAC9-77D093337233}" type="slidenum">
              <a:rPr kumimoji="1" lang="ja-JP" altLang="en-US" smtClean="0"/>
              <a:t>‹#›</a:t>
            </a:fld>
            <a:endParaRPr kumimoji="1" lang="ja-JP" altLang="en-US"/>
          </a:p>
        </p:txBody>
      </p:sp>
    </p:spTree>
    <p:extLst>
      <p:ext uri="{BB962C8B-B14F-4D97-AF65-F5344CB8AC3E}">
        <p14:creationId xmlns:p14="http://schemas.microsoft.com/office/powerpoint/2010/main" val="31973353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EE43455-376C-0277-BFD8-EF739243AA62}"/>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D5A633F-8EDB-0D05-EA52-27CD6265DF0A}"/>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665CFFE9-77D8-8731-1255-83F016F3FB6B}"/>
              </a:ext>
            </a:extLst>
          </p:cNvPr>
          <p:cNvSpPr>
            <a:spLocks noGrp="1"/>
          </p:cNvSpPr>
          <p:nvPr>
            <p:ph type="dt" sz="half" idx="10"/>
          </p:nvPr>
        </p:nvSpPr>
        <p:spPr/>
        <p:txBody>
          <a:bodyPr/>
          <a:lstStyle/>
          <a:p>
            <a:fld id="{E2BE1D79-E096-42C4-8C59-BE7309206E82}" type="datetime1">
              <a:rPr kumimoji="1" lang="ja-JP" altLang="en-US" smtClean="0"/>
              <a:t>2026/2/2</a:t>
            </a:fld>
            <a:endParaRPr kumimoji="1" lang="ja-JP" altLang="en-US"/>
          </a:p>
        </p:txBody>
      </p:sp>
      <p:sp>
        <p:nvSpPr>
          <p:cNvPr id="5" name="フッター プレースホルダー 4">
            <a:extLst>
              <a:ext uri="{FF2B5EF4-FFF2-40B4-BE49-F238E27FC236}">
                <a16:creationId xmlns:a16="http://schemas.microsoft.com/office/drawing/2014/main" id="{3B138AA9-B2FF-E8EB-D99C-683EA8E48C5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65A1821-53BC-8E26-545F-D60DDFF6C187}"/>
              </a:ext>
            </a:extLst>
          </p:cNvPr>
          <p:cNvSpPr>
            <a:spLocks noGrp="1"/>
          </p:cNvSpPr>
          <p:nvPr>
            <p:ph type="sldNum" sz="quarter" idx="12"/>
          </p:nvPr>
        </p:nvSpPr>
        <p:spPr/>
        <p:txBody>
          <a:bodyPr/>
          <a:lstStyle/>
          <a:p>
            <a:fld id="{F32C8F3A-98E9-46B1-BAC9-77D093337233}" type="slidenum">
              <a:rPr kumimoji="1" lang="ja-JP" altLang="en-US" smtClean="0"/>
              <a:t>‹#›</a:t>
            </a:fld>
            <a:endParaRPr kumimoji="1" lang="ja-JP" altLang="en-US"/>
          </a:p>
        </p:txBody>
      </p:sp>
    </p:spTree>
    <p:extLst>
      <p:ext uri="{BB962C8B-B14F-4D97-AF65-F5344CB8AC3E}">
        <p14:creationId xmlns:p14="http://schemas.microsoft.com/office/powerpoint/2010/main" val="4442533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50C49BD6-F266-F60D-BF1E-D9E3D9D773F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7C3D3C9-F0AA-8D41-8E28-6D6C21EEC21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8E2AD035-3394-1915-7111-E22525F1393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3C2DDFB-653B-45E7-9B69-D78293D4C1C1}" type="datetime1">
              <a:rPr kumimoji="1" lang="ja-JP" altLang="en-US" smtClean="0"/>
              <a:t>2026/2/2</a:t>
            </a:fld>
            <a:endParaRPr kumimoji="1" lang="ja-JP" altLang="en-US"/>
          </a:p>
        </p:txBody>
      </p:sp>
      <p:sp>
        <p:nvSpPr>
          <p:cNvPr id="5" name="フッター プレースホルダー 4">
            <a:extLst>
              <a:ext uri="{FF2B5EF4-FFF2-40B4-BE49-F238E27FC236}">
                <a16:creationId xmlns:a16="http://schemas.microsoft.com/office/drawing/2014/main" id="{C9CC7E2B-79B8-FD40-8B4B-EB19090F14E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5C99D347-34E8-D89A-6C95-32DD89D264A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32C8F3A-98E9-46B1-BAC9-77D093337233}" type="slidenum">
              <a:rPr kumimoji="1" lang="ja-JP" altLang="en-US" smtClean="0"/>
              <a:t>‹#›</a:t>
            </a:fld>
            <a:endParaRPr kumimoji="1" lang="ja-JP" altLang="en-US"/>
          </a:p>
        </p:txBody>
      </p:sp>
    </p:spTree>
    <p:extLst>
      <p:ext uri="{BB962C8B-B14F-4D97-AF65-F5344CB8AC3E}">
        <p14:creationId xmlns:p14="http://schemas.microsoft.com/office/powerpoint/2010/main" val="38878411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86E668D-5CDA-1613-AF0D-9C304D370D9C}"/>
              </a:ext>
            </a:extLst>
          </p:cNvPr>
          <p:cNvSpPr>
            <a:spLocks noGrp="1"/>
          </p:cNvSpPr>
          <p:nvPr>
            <p:ph type="ctrTitle"/>
          </p:nvPr>
        </p:nvSpPr>
        <p:spPr>
          <a:xfrm>
            <a:off x="982133" y="1122363"/>
            <a:ext cx="10227733" cy="2387600"/>
          </a:xfrm>
        </p:spPr>
        <p:txBody>
          <a:bodyPr>
            <a:normAutofit/>
          </a:bodyPr>
          <a:lstStyle/>
          <a:p>
            <a:r>
              <a:rPr lang="en-US" altLang="ja-JP" dirty="0"/>
              <a:t>LLM</a:t>
            </a:r>
            <a:r>
              <a:rPr lang="ja-JP" altLang="ja-JP" dirty="0"/>
              <a:t>による打合せログからの要求仕様書生成</a:t>
            </a:r>
          </a:p>
        </p:txBody>
      </p:sp>
      <p:sp>
        <p:nvSpPr>
          <p:cNvPr id="3" name="字幕 2">
            <a:extLst>
              <a:ext uri="{FF2B5EF4-FFF2-40B4-BE49-F238E27FC236}">
                <a16:creationId xmlns:a16="http://schemas.microsoft.com/office/drawing/2014/main" id="{43D93682-2F44-1227-6C31-A8922748F334}"/>
              </a:ext>
            </a:extLst>
          </p:cNvPr>
          <p:cNvSpPr>
            <a:spLocks noGrp="1"/>
          </p:cNvSpPr>
          <p:nvPr>
            <p:ph type="subTitle" idx="1"/>
          </p:nvPr>
        </p:nvSpPr>
        <p:spPr/>
        <p:txBody>
          <a:bodyPr/>
          <a:lstStyle/>
          <a:p>
            <a:r>
              <a:rPr kumimoji="1" lang="ja-JP" altLang="en-US" dirty="0"/>
              <a:t>公立諏訪東京理科大学</a:t>
            </a:r>
            <a:endParaRPr kumimoji="1" lang="en-US" altLang="ja-JP" dirty="0"/>
          </a:p>
          <a:p>
            <a:r>
              <a:rPr lang="ja-JP" altLang="en-US" dirty="0"/>
              <a:t>山田研究室</a:t>
            </a:r>
            <a:endParaRPr lang="en-US" altLang="ja-JP" dirty="0"/>
          </a:p>
          <a:p>
            <a:r>
              <a:rPr kumimoji="1" lang="ja-JP" altLang="en-US" dirty="0"/>
              <a:t>飯田 琉斗</a:t>
            </a:r>
          </a:p>
        </p:txBody>
      </p:sp>
    </p:spTree>
    <p:extLst>
      <p:ext uri="{BB962C8B-B14F-4D97-AF65-F5344CB8AC3E}">
        <p14:creationId xmlns:p14="http://schemas.microsoft.com/office/powerpoint/2010/main" val="15519339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85BFDDE-CC8F-D0B0-15EA-4087785BE544}"/>
              </a:ext>
            </a:extLst>
          </p:cNvPr>
          <p:cNvSpPr>
            <a:spLocks noGrp="1"/>
          </p:cNvSpPr>
          <p:nvPr>
            <p:ph type="title"/>
          </p:nvPr>
        </p:nvSpPr>
        <p:spPr/>
        <p:txBody>
          <a:bodyPr/>
          <a:lstStyle/>
          <a:p>
            <a:r>
              <a:rPr kumimoji="1" lang="ja-JP" altLang="en-US" dirty="0"/>
              <a:t>背景</a:t>
            </a:r>
          </a:p>
        </p:txBody>
      </p:sp>
      <p:sp>
        <p:nvSpPr>
          <p:cNvPr id="3" name="コンテンツ プレースホルダー 2">
            <a:extLst>
              <a:ext uri="{FF2B5EF4-FFF2-40B4-BE49-F238E27FC236}">
                <a16:creationId xmlns:a16="http://schemas.microsoft.com/office/drawing/2014/main" id="{35D0C152-B436-27BA-B500-718E1CD298FB}"/>
              </a:ext>
            </a:extLst>
          </p:cNvPr>
          <p:cNvSpPr>
            <a:spLocks noGrp="1"/>
          </p:cNvSpPr>
          <p:nvPr>
            <p:ph idx="1"/>
          </p:nvPr>
        </p:nvSpPr>
        <p:spPr/>
        <p:txBody>
          <a:bodyPr/>
          <a:lstStyle/>
          <a:p>
            <a:pPr marL="0" indent="0">
              <a:buNone/>
            </a:pPr>
            <a:r>
              <a:rPr kumimoji="1" lang="ja-JP" altLang="en-US" dirty="0"/>
              <a:t>要求仕様書の作成は、人手に依存しており、いくつか課題を抱えている</a:t>
            </a:r>
            <a:endParaRPr kumimoji="1" lang="en-US" altLang="ja-JP" dirty="0"/>
          </a:p>
          <a:p>
            <a:pPr marL="0" indent="0">
              <a:buNone/>
            </a:pPr>
            <a:r>
              <a:rPr lang="ja-JP" altLang="en-US" dirty="0"/>
              <a:t>生成</a:t>
            </a:r>
            <a:r>
              <a:rPr lang="en-US" altLang="ja-JP" dirty="0"/>
              <a:t>AI</a:t>
            </a:r>
            <a:r>
              <a:rPr lang="ja-JP" altLang="en-US" dirty="0"/>
              <a:t>を用いることで、課題解決を試みる</a:t>
            </a:r>
            <a:endParaRPr kumimoji="1" lang="ja-JP" altLang="en-US" dirty="0"/>
          </a:p>
        </p:txBody>
      </p:sp>
      <p:graphicFrame>
        <p:nvGraphicFramePr>
          <p:cNvPr id="4" name="表 3">
            <a:extLst>
              <a:ext uri="{FF2B5EF4-FFF2-40B4-BE49-F238E27FC236}">
                <a16:creationId xmlns:a16="http://schemas.microsoft.com/office/drawing/2014/main" id="{BC8B84CE-91CE-E69B-5A88-09E1A8233905}"/>
              </a:ext>
            </a:extLst>
          </p:cNvPr>
          <p:cNvGraphicFramePr>
            <a:graphicFrameLocks noGrp="1"/>
          </p:cNvGraphicFramePr>
          <p:nvPr>
            <p:extLst>
              <p:ext uri="{D42A27DB-BD31-4B8C-83A1-F6EECF244321}">
                <p14:modId xmlns:p14="http://schemas.microsoft.com/office/powerpoint/2010/main" val="3278680796"/>
              </p:ext>
            </p:extLst>
          </p:nvPr>
        </p:nvGraphicFramePr>
        <p:xfrm>
          <a:off x="838199" y="3236628"/>
          <a:ext cx="10515600" cy="3075272"/>
        </p:xfrm>
        <a:graphic>
          <a:graphicData uri="http://schemas.openxmlformats.org/drawingml/2006/table">
            <a:tbl>
              <a:tblPr firstRow="1" bandRow="1">
                <a:tableStyleId>{5C22544A-7EE6-4342-B048-85BDC9FD1C3A}</a:tableStyleId>
              </a:tblPr>
              <a:tblGrid>
                <a:gridCol w="4215064">
                  <a:extLst>
                    <a:ext uri="{9D8B030D-6E8A-4147-A177-3AD203B41FA5}">
                      <a16:colId xmlns:a16="http://schemas.microsoft.com/office/drawing/2014/main" val="3116518062"/>
                    </a:ext>
                  </a:extLst>
                </a:gridCol>
                <a:gridCol w="6300536">
                  <a:extLst>
                    <a:ext uri="{9D8B030D-6E8A-4147-A177-3AD203B41FA5}">
                      <a16:colId xmlns:a16="http://schemas.microsoft.com/office/drawing/2014/main" val="3329680842"/>
                    </a:ext>
                  </a:extLst>
                </a:gridCol>
              </a:tblGrid>
              <a:tr h="195714">
                <a:tc>
                  <a:txBody>
                    <a:bodyPr/>
                    <a:lstStyle/>
                    <a:p>
                      <a:pPr algn="ctr"/>
                      <a:r>
                        <a:rPr kumimoji="1" lang="ja-JP" altLang="en-US" dirty="0"/>
                        <a:t>課題</a:t>
                      </a:r>
                    </a:p>
                  </a:txBody>
                  <a:tcPr/>
                </a:tc>
                <a:tc>
                  <a:txBody>
                    <a:bodyPr/>
                    <a:lstStyle/>
                    <a:p>
                      <a:pPr algn="ctr"/>
                      <a:r>
                        <a:rPr kumimoji="1" lang="ja-JP" altLang="en-US" dirty="0"/>
                        <a:t>内容</a:t>
                      </a:r>
                    </a:p>
                  </a:txBody>
                  <a:tcPr/>
                </a:tc>
                <a:extLst>
                  <a:ext uri="{0D108BD9-81ED-4DB2-BD59-A6C34878D82A}">
                    <a16:rowId xmlns:a16="http://schemas.microsoft.com/office/drawing/2014/main" val="3595052137"/>
                  </a:ext>
                </a:extLst>
              </a:tr>
              <a:tr h="789272">
                <a:tc>
                  <a:txBody>
                    <a:bodyPr/>
                    <a:lstStyle/>
                    <a:p>
                      <a:r>
                        <a:rPr kumimoji="1" lang="ja-JP" altLang="en-US" dirty="0"/>
                        <a:t>コスト・スピードの課題</a:t>
                      </a:r>
                      <a:endParaRPr kumimoji="1" lang="en-US" altLang="ja-JP" dirty="0"/>
                    </a:p>
                  </a:txBody>
                  <a:tcPr/>
                </a:tc>
                <a:tc>
                  <a:txBody>
                    <a:bodyPr/>
                    <a:lstStyle/>
                    <a:p>
                      <a:r>
                        <a:rPr kumimoji="1" lang="ja-JP" altLang="en-US" dirty="0"/>
                        <a:t>人手によって、数時間を要する。</a:t>
                      </a:r>
                      <a:endParaRPr kumimoji="1" lang="en-US" altLang="ja-JP" dirty="0"/>
                    </a:p>
                    <a:p>
                      <a:r>
                        <a:rPr kumimoji="1" lang="ja-JP" altLang="en-US" dirty="0"/>
                        <a:t>優先度やログの量によって、簡略化・先送りが発生する</a:t>
                      </a:r>
                      <a:endParaRPr kumimoji="1" lang="en-US" altLang="ja-JP" dirty="0"/>
                    </a:p>
                  </a:txBody>
                  <a:tcPr/>
                </a:tc>
                <a:extLst>
                  <a:ext uri="{0D108BD9-81ED-4DB2-BD59-A6C34878D82A}">
                    <a16:rowId xmlns:a16="http://schemas.microsoft.com/office/drawing/2014/main" val="3907867090"/>
                  </a:ext>
                </a:extLst>
              </a:tr>
              <a:tr h="588538">
                <a:tc>
                  <a:txBody>
                    <a:bodyPr/>
                    <a:lstStyle/>
                    <a:p>
                      <a:r>
                        <a:rPr kumimoji="1" lang="ja-JP" altLang="en-US" dirty="0"/>
                        <a:t>主観バイアスと選択的要約の課題</a:t>
                      </a:r>
                      <a:endParaRPr kumimoji="1" lang="en-US" altLang="ja-JP" dirty="0"/>
                    </a:p>
                  </a:txBody>
                  <a:tcPr/>
                </a:tc>
                <a:tc>
                  <a:txBody>
                    <a:bodyPr/>
                    <a:lstStyle/>
                    <a:p>
                      <a:r>
                        <a:rPr kumimoji="1" lang="ja-JP" altLang="en-US" dirty="0"/>
                        <a:t>作成者の理解や発言者との関係による発言バイアスに引っ張られ、偏りが生まれる場合がある</a:t>
                      </a:r>
                    </a:p>
                  </a:txBody>
                  <a:tcPr/>
                </a:tc>
                <a:extLst>
                  <a:ext uri="{0D108BD9-81ED-4DB2-BD59-A6C34878D82A}">
                    <a16:rowId xmlns:a16="http://schemas.microsoft.com/office/drawing/2014/main" val="2645532750"/>
                  </a:ext>
                </a:extLst>
              </a:tr>
              <a:tr h="588538">
                <a:tc>
                  <a:txBody>
                    <a:bodyPr/>
                    <a:lstStyle/>
                    <a:p>
                      <a:r>
                        <a:rPr kumimoji="1" lang="ja-JP" altLang="en-US" dirty="0"/>
                        <a:t>形式・粒度の不一致</a:t>
                      </a:r>
                    </a:p>
                  </a:txBody>
                  <a:tcPr/>
                </a:tc>
                <a:tc>
                  <a:txBody>
                    <a:bodyPr/>
                    <a:lstStyle/>
                    <a:p>
                      <a:r>
                        <a:rPr kumimoji="1" lang="ja-JP" altLang="en-US" dirty="0"/>
                        <a:t>引継ぎ等で作成者が変わった場合、書き方の癖や粒度のずれによって、一貫性のない文書が蓄積される</a:t>
                      </a:r>
                    </a:p>
                  </a:txBody>
                  <a:tcPr/>
                </a:tc>
                <a:extLst>
                  <a:ext uri="{0D108BD9-81ED-4DB2-BD59-A6C34878D82A}">
                    <a16:rowId xmlns:a16="http://schemas.microsoft.com/office/drawing/2014/main" val="2030885375"/>
                  </a:ext>
                </a:extLst>
              </a:tr>
              <a:tr h="588538">
                <a:tc>
                  <a:txBody>
                    <a:bodyPr/>
                    <a:lstStyle/>
                    <a:p>
                      <a:r>
                        <a:rPr kumimoji="1" lang="ja-JP" altLang="en-US" dirty="0"/>
                        <a:t>単純ミスの多発</a:t>
                      </a:r>
                    </a:p>
                  </a:txBody>
                  <a:tcPr/>
                </a:tc>
                <a:tc>
                  <a:txBody>
                    <a:bodyPr/>
                    <a:lstStyle/>
                    <a:p>
                      <a:r>
                        <a:rPr kumimoji="1" lang="ja-JP" altLang="en-US" dirty="0"/>
                        <a:t>コピペのミス、打ち間違い、別トピックとの混同といったヒューマンエラーの発生</a:t>
                      </a:r>
                    </a:p>
                  </a:txBody>
                  <a:tcPr/>
                </a:tc>
                <a:extLst>
                  <a:ext uri="{0D108BD9-81ED-4DB2-BD59-A6C34878D82A}">
                    <a16:rowId xmlns:a16="http://schemas.microsoft.com/office/drawing/2014/main" val="1789670269"/>
                  </a:ext>
                </a:extLst>
              </a:tr>
            </a:tbl>
          </a:graphicData>
        </a:graphic>
      </p:graphicFrame>
      <p:sp>
        <p:nvSpPr>
          <p:cNvPr id="5" name="スライド番号プレースホルダー 4">
            <a:extLst>
              <a:ext uri="{FF2B5EF4-FFF2-40B4-BE49-F238E27FC236}">
                <a16:creationId xmlns:a16="http://schemas.microsoft.com/office/drawing/2014/main" id="{6297FAF7-6321-F777-B92A-4C1831CC439C}"/>
              </a:ext>
            </a:extLst>
          </p:cNvPr>
          <p:cNvSpPr>
            <a:spLocks noGrp="1"/>
          </p:cNvSpPr>
          <p:nvPr>
            <p:ph type="sldNum" sz="quarter" idx="12"/>
          </p:nvPr>
        </p:nvSpPr>
        <p:spPr/>
        <p:txBody>
          <a:bodyPr/>
          <a:lstStyle/>
          <a:p>
            <a:fld id="{F32C8F3A-98E9-46B1-BAC9-77D093337233}" type="slidenum">
              <a:rPr kumimoji="1" lang="ja-JP" altLang="en-US" smtClean="0"/>
              <a:t>2</a:t>
            </a:fld>
            <a:endParaRPr kumimoji="1" lang="ja-JP" altLang="en-US"/>
          </a:p>
        </p:txBody>
      </p:sp>
    </p:spTree>
    <p:extLst>
      <p:ext uri="{BB962C8B-B14F-4D97-AF65-F5344CB8AC3E}">
        <p14:creationId xmlns:p14="http://schemas.microsoft.com/office/powerpoint/2010/main" val="1862347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E684644-962E-267A-6DDF-4704934A12EF}"/>
              </a:ext>
            </a:extLst>
          </p:cNvPr>
          <p:cNvSpPr>
            <a:spLocks noGrp="1"/>
          </p:cNvSpPr>
          <p:nvPr>
            <p:ph type="title"/>
          </p:nvPr>
        </p:nvSpPr>
        <p:spPr/>
        <p:txBody>
          <a:bodyPr/>
          <a:lstStyle/>
          <a:p>
            <a:r>
              <a:rPr kumimoji="1" lang="ja-JP" altLang="en-US" dirty="0"/>
              <a:t>実験</a:t>
            </a:r>
            <a:r>
              <a:rPr kumimoji="1" lang="en-US" altLang="ja-JP" dirty="0"/>
              <a:t>: </a:t>
            </a:r>
            <a:r>
              <a:rPr kumimoji="1" lang="ja-JP" altLang="en-US" dirty="0"/>
              <a:t>生成</a:t>
            </a:r>
            <a:r>
              <a:rPr kumimoji="1" lang="en-US" altLang="ja-JP" dirty="0"/>
              <a:t>AI</a:t>
            </a:r>
            <a:r>
              <a:rPr kumimoji="1" lang="ja-JP" altLang="en-US" dirty="0"/>
              <a:t>調査</a:t>
            </a:r>
          </a:p>
        </p:txBody>
      </p:sp>
      <p:sp>
        <p:nvSpPr>
          <p:cNvPr id="3" name="コンテンツ プレースホルダー 2">
            <a:extLst>
              <a:ext uri="{FF2B5EF4-FFF2-40B4-BE49-F238E27FC236}">
                <a16:creationId xmlns:a16="http://schemas.microsoft.com/office/drawing/2014/main" id="{2CAA6050-1BCF-4E47-5968-4ED76029982A}"/>
              </a:ext>
            </a:extLst>
          </p:cNvPr>
          <p:cNvSpPr>
            <a:spLocks noGrp="1"/>
          </p:cNvSpPr>
          <p:nvPr>
            <p:ph idx="1"/>
          </p:nvPr>
        </p:nvSpPr>
        <p:spPr>
          <a:xfrm>
            <a:off x="921774" y="1626522"/>
            <a:ext cx="10604091" cy="4351338"/>
          </a:xfrm>
        </p:spPr>
        <p:txBody>
          <a:bodyPr/>
          <a:lstStyle/>
          <a:p>
            <a:pPr marL="0" indent="0">
              <a:buNone/>
            </a:pPr>
            <a:r>
              <a:rPr kumimoji="1" lang="ja-JP" altLang="en-US" dirty="0"/>
              <a:t>方法</a:t>
            </a:r>
            <a:r>
              <a:rPr kumimoji="1" lang="en-US" altLang="ja-JP" dirty="0"/>
              <a:t>:</a:t>
            </a:r>
          </a:p>
          <a:p>
            <a:pPr marL="0" indent="0">
              <a:buNone/>
            </a:pPr>
            <a:r>
              <a:rPr kumimoji="1" lang="ja-JP" altLang="en-US" dirty="0"/>
              <a:t>同一プロンプト、データファイルを用いて、同じ処理を</a:t>
            </a:r>
            <a:r>
              <a:rPr kumimoji="1" lang="en-US" altLang="ja-JP" dirty="0"/>
              <a:t>10</a:t>
            </a:r>
            <a:r>
              <a:rPr lang="ja-JP" altLang="en-US" dirty="0"/>
              <a:t>回行い統計を取る</a:t>
            </a:r>
            <a:endParaRPr lang="en-US" altLang="ja-JP" dirty="0"/>
          </a:p>
          <a:p>
            <a:pPr marL="0" indent="0">
              <a:buNone/>
            </a:pPr>
            <a:endParaRPr kumimoji="1" lang="en-US" altLang="ja-JP" dirty="0"/>
          </a:p>
          <a:p>
            <a:pPr marL="0" indent="0">
              <a:buNone/>
            </a:pPr>
            <a:endParaRPr kumimoji="1" lang="ja-JP" altLang="en-US" dirty="0"/>
          </a:p>
        </p:txBody>
      </p:sp>
      <p:sp>
        <p:nvSpPr>
          <p:cNvPr id="4" name="スライド番号プレースホルダー 3">
            <a:extLst>
              <a:ext uri="{FF2B5EF4-FFF2-40B4-BE49-F238E27FC236}">
                <a16:creationId xmlns:a16="http://schemas.microsoft.com/office/drawing/2014/main" id="{A3841550-138C-9FF1-0DE2-A979EB5AB046}"/>
              </a:ext>
            </a:extLst>
          </p:cNvPr>
          <p:cNvSpPr>
            <a:spLocks noGrp="1"/>
          </p:cNvSpPr>
          <p:nvPr>
            <p:ph type="sldNum" sz="quarter" idx="12"/>
          </p:nvPr>
        </p:nvSpPr>
        <p:spPr/>
        <p:txBody>
          <a:bodyPr/>
          <a:lstStyle/>
          <a:p>
            <a:fld id="{F32C8F3A-98E9-46B1-BAC9-77D093337233}" type="slidenum">
              <a:rPr kumimoji="1" lang="ja-JP" altLang="en-US" smtClean="0"/>
              <a:t>3</a:t>
            </a:fld>
            <a:endParaRPr kumimoji="1" lang="ja-JP" altLang="en-US"/>
          </a:p>
        </p:txBody>
      </p:sp>
    </p:spTree>
    <p:extLst>
      <p:ext uri="{BB962C8B-B14F-4D97-AF65-F5344CB8AC3E}">
        <p14:creationId xmlns:p14="http://schemas.microsoft.com/office/powerpoint/2010/main" val="10713326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6B8FB12-F5EC-5C50-42C7-C51EDBB9D699}"/>
              </a:ext>
            </a:extLst>
          </p:cNvPr>
          <p:cNvSpPr>
            <a:spLocks noGrp="1"/>
          </p:cNvSpPr>
          <p:nvPr>
            <p:ph type="title"/>
          </p:nvPr>
        </p:nvSpPr>
        <p:spPr/>
        <p:txBody>
          <a:bodyPr/>
          <a:lstStyle/>
          <a:p>
            <a:r>
              <a:rPr kumimoji="1" lang="ja-JP" altLang="en-US" dirty="0"/>
              <a:t>生成</a:t>
            </a:r>
            <a:r>
              <a:rPr kumimoji="1" lang="en-US" altLang="ja-JP" dirty="0"/>
              <a:t>AI</a:t>
            </a:r>
            <a:r>
              <a:rPr kumimoji="1" lang="ja-JP" altLang="en-US" dirty="0"/>
              <a:t>の特徴と現状</a:t>
            </a:r>
          </a:p>
        </p:txBody>
      </p:sp>
      <p:sp>
        <p:nvSpPr>
          <p:cNvPr id="3" name="コンテンツ プレースホルダー 2">
            <a:extLst>
              <a:ext uri="{FF2B5EF4-FFF2-40B4-BE49-F238E27FC236}">
                <a16:creationId xmlns:a16="http://schemas.microsoft.com/office/drawing/2014/main" id="{80B74D25-EC23-B211-CC4A-8C189744015A}"/>
              </a:ext>
            </a:extLst>
          </p:cNvPr>
          <p:cNvSpPr>
            <a:spLocks noGrp="1"/>
          </p:cNvSpPr>
          <p:nvPr>
            <p:ph idx="1"/>
          </p:nvPr>
        </p:nvSpPr>
        <p:spPr>
          <a:xfrm>
            <a:off x="838200" y="1825625"/>
            <a:ext cx="10515600" cy="4667250"/>
          </a:xfrm>
        </p:spPr>
        <p:txBody>
          <a:bodyPr>
            <a:normAutofit/>
          </a:bodyPr>
          <a:lstStyle/>
          <a:p>
            <a:r>
              <a:rPr kumimoji="1" lang="ja-JP" altLang="en-US" dirty="0"/>
              <a:t>複雑な命令は、出力のばらつきや要点の漏れが発生する</a:t>
            </a:r>
            <a:endParaRPr kumimoji="1" lang="en-US" altLang="ja-JP" dirty="0"/>
          </a:p>
          <a:p>
            <a:r>
              <a:rPr lang="ja-JP" altLang="en-US" dirty="0"/>
              <a:t>単純な命令は、処理が早く、一定の精度を保つ</a:t>
            </a:r>
            <a:endParaRPr lang="en-US" altLang="ja-JP" dirty="0"/>
          </a:p>
          <a:p>
            <a:endParaRPr lang="en-US" altLang="ja-JP" dirty="0"/>
          </a:p>
          <a:p>
            <a:pPr marL="0" indent="0">
              <a:buNone/>
            </a:pPr>
            <a:r>
              <a:rPr lang="ja-JP" altLang="en-US" dirty="0"/>
              <a:t>同一命令で</a:t>
            </a:r>
            <a:r>
              <a:rPr lang="en-US" altLang="ja-JP" dirty="0"/>
              <a:t>10</a:t>
            </a:r>
            <a:r>
              <a:rPr lang="ja-JP" altLang="en-US" dirty="0"/>
              <a:t>回行った場合の決定事項抽出率</a:t>
            </a:r>
            <a:r>
              <a:rPr lang="en-US" altLang="ja-JP" dirty="0"/>
              <a:t>:</a:t>
            </a:r>
          </a:p>
          <a:p>
            <a:pPr marL="0" indent="0">
              <a:buNone/>
            </a:pPr>
            <a:endParaRPr lang="en-US" altLang="ja-JP" dirty="0"/>
          </a:p>
          <a:p>
            <a:pPr marL="0" indent="0">
              <a:buNone/>
            </a:pPr>
            <a:endParaRPr lang="en-US" altLang="ja-JP" dirty="0"/>
          </a:p>
          <a:p>
            <a:pPr marL="0" indent="0">
              <a:buNone/>
            </a:pPr>
            <a:endParaRPr lang="en-US" altLang="ja-JP" dirty="0"/>
          </a:p>
          <a:p>
            <a:pPr marL="0" indent="0">
              <a:buNone/>
            </a:pPr>
            <a:endParaRPr lang="en-US" altLang="ja-JP" dirty="0"/>
          </a:p>
          <a:p>
            <a:pPr marL="0" indent="0">
              <a:buNone/>
            </a:pPr>
            <a:r>
              <a:rPr lang="ja-JP" altLang="en-US" dirty="0"/>
              <a:t>実際の正解項目数</a:t>
            </a:r>
            <a:r>
              <a:rPr lang="en-US" altLang="ja-JP" dirty="0"/>
              <a:t>: 9</a:t>
            </a:r>
            <a:r>
              <a:rPr lang="ja-JP" altLang="en-US" dirty="0"/>
              <a:t>項目</a:t>
            </a:r>
            <a:endParaRPr lang="en-US" altLang="ja-JP" dirty="0"/>
          </a:p>
          <a:p>
            <a:pPr marL="0" indent="0">
              <a:buNone/>
            </a:pPr>
            <a:endParaRPr lang="ja-JP" altLang="en-US" dirty="0"/>
          </a:p>
          <a:p>
            <a:pPr marL="0" indent="0">
              <a:buNone/>
            </a:pPr>
            <a:endParaRPr lang="en-US" altLang="ja-JP" dirty="0"/>
          </a:p>
          <a:p>
            <a:pPr marL="0" indent="0">
              <a:buNone/>
            </a:pPr>
            <a:endParaRPr lang="en-US" altLang="ja-JP" dirty="0"/>
          </a:p>
        </p:txBody>
      </p:sp>
      <p:sp>
        <p:nvSpPr>
          <p:cNvPr id="4" name="スライド番号プレースホルダー 3">
            <a:extLst>
              <a:ext uri="{FF2B5EF4-FFF2-40B4-BE49-F238E27FC236}">
                <a16:creationId xmlns:a16="http://schemas.microsoft.com/office/drawing/2014/main" id="{1CCBAE86-F056-511E-1D35-7C5B6B161EF2}"/>
              </a:ext>
            </a:extLst>
          </p:cNvPr>
          <p:cNvSpPr>
            <a:spLocks noGrp="1"/>
          </p:cNvSpPr>
          <p:nvPr>
            <p:ph type="sldNum" sz="quarter" idx="12"/>
          </p:nvPr>
        </p:nvSpPr>
        <p:spPr/>
        <p:txBody>
          <a:bodyPr/>
          <a:lstStyle/>
          <a:p>
            <a:fld id="{F32C8F3A-98E9-46B1-BAC9-77D093337233}" type="slidenum">
              <a:rPr kumimoji="1" lang="ja-JP" altLang="en-US" smtClean="0"/>
              <a:t>4</a:t>
            </a:fld>
            <a:endParaRPr kumimoji="1" lang="ja-JP" altLang="en-US"/>
          </a:p>
        </p:txBody>
      </p:sp>
      <p:graphicFrame>
        <p:nvGraphicFramePr>
          <p:cNvPr id="5" name="表 4">
            <a:extLst>
              <a:ext uri="{FF2B5EF4-FFF2-40B4-BE49-F238E27FC236}">
                <a16:creationId xmlns:a16="http://schemas.microsoft.com/office/drawing/2014/main" id="{C9CC04CA-21B0-1308-90A2-64BEDE6CFB57}"/>
              </a:ext>
            </a:extLst>
          </p:cNvPr>
          <p:cNvGraphicFramePr>
            <a:graphicFrameLocks noGrp="1"/>
          </p:cNvGraphicFramePr>
          <p:nvPr>
            <p:extLst>
              <p:ext uri="{D42A27DB-BD31-4B8C-83A1-F6EECF244321}">
                <p14:modId xmlns:p14="http://schemas.microsoft.com/office/powerpoint/2010/main" val="3835482998"/>
              </p:ext>
            </p:extLst>
          </p:nvPr>
        </p:nvGraphicFramePr>
        <p:xfrm>
          <a:off x="984864" y="3914365"/>
          <a:ext cx="4265562" cy="1854200"/>
        </p:xfrm>
        <a:graphic>
          <a:graphicData uri="http://schemas.openxmlformats.org/drawingml/2006/table">
            <a:tbl>
              <a:tblPr firstRow="1" bandRow="1">
                <a:tableStyleId>{5C22544A-7EE6-4342-B048-85BDC9FD1C3A}</a:tableStyleId>
              </a:tblPr>
              <a:tblGrid>
                <a:gridCol w="1721466">
                  <a:extLst>
                    <a:ext uri="{9D8B030D-6E8A-4147-A177-3AD203B41FA5}">
                      <a16:colId xmlns:a16="http://schemas.microsoft.com/office/drawing/2014/main" val="2425078519"/>
                    </a:ext>
                  </a:extLst>
                </a:gridCol>
                <a:gridCol w="1312606">
                  <a:extLst>
                    <a:ext uri="{9D8B030D-6E8A-4147-A177-3AD203B41FA5}">
                      <a16:colId xmlns:a16="http://schemas.microsoft.com/office/drawing/2014/main" val="2276192533"/>
                    </a:ext>
                  </a:extLst>
                </a:gridCol>
                <a:gridCol w="1231490">
                  <a:extLst>
                    <a:ext uri="{9D8B030D-6E8A-4147-A177-3AD203B41FA5}">
                      <a16:colId xmlns:a16="http://schemas.microsoft.com/office/drawing/2014/main" val="3801347740"/>
                    </a:ext>
                  </a:extLst>
                </a:gridCol>
              </a:tblGrid>
              <a:tr h="370840">
                <a:tc>
                  <a:txBody>
                    <a:bodyPr/>
                    <a:lstStyle/>
                    <a:p>
                      <a:pPr algn="ctr"/>
                      <a:r>
                        <a:rPr kumimoji="1" lang="ja-JP" altLang="en-US" dirty="0"/>
                        <a:t>項目</a:t>
                      </a:r>
                    </a:p>
                  </a:txBody>
                  <a:tcPr/>
                </a:tc>
                <a:tc>
                  <a:txBody>
                    <a:bodyPr/>
                    <a:lstStyle/>
                    <a:p>
                      <a:pPr algn="ctr"/>
                      <a:r>
                        <a:rPr kumimoji="1" lang="ja-JP" altLang="en-US" dirty="0"/>
                        <a:t>複雑命令</a:t>
                      </a:r>
                    </a:p>
                  </a:txBody>
                  <a:tcPr/>
                </a:tc>
                <a:tc>
                  <a:txBody>
                    <a:bodyPr/>
                    <a:lstStyle/>
                    <a:p>
                      <a:pPr algn="ctr"/>
                      <a:r>
                        <a:rPr kumimoji="1" lang="ja-JP" altLang="en-US" dirty="0"/>
                        <a:t>単純命令</a:t>
                      </a:r>
                    </a:p>
                  </a:txBody>
                  <a:tcPr/>
                </a:tc>
                <a:extLst>
                  <a:ext uri="{0D108BD9-81ED-4DB2-BD59-A6C34878D82A}">
                    <a16:rowId xmlns:a16="http://schemas.microsoft.com/office/drawing/2014/main" val="449424101"/>
                  </a:ext>
                </a:extLst>
              </a:tr>
              <a:tr h="370840">
                <a:tc>
                  <a:txBody>
                    <a:bodyPr/>
                    <a:lstStyle/>
                    <a:p>
                      <a:r>
                        <a:rPr kumimoji="1" lang="ja-JP" altLang="en-US" dirty="0"/>
                        <a:t>最小</a:t>
                      </a:r>
                    </a:p>
                  </a:txBody>
                  <a:tcPr/>
                </a:tc>
                <a:tc>
                  <a:txBody>
                    <a:bodyPr/>
                    <a:lstStyle/>
                    <a:p>
                      <a:r>
                        <a:rPr kumimoji="1" lang="en-US" altLang="ja-JP" dirty="0"/>
                        <a:t>5</a:t>
                      </a:r>
                      <a:r>
                        <a:rPr kumimoji="1" lang="ja-JP" altLang="en-US" dirty="0"/>
                        <a:t>項目</a:t>
                      </a:r>
                    </a:p>
                  </a:txBody>
                  <a:tcPr/>
                </a:tc>
                <a:tc>
                  <a:txBody>
                    <a:bodyPr/>
                    <a:lstStyle/>
                    <a:p>
                      <a:endParaRPr kumimoji="1" lang="ja-JP" altLang="en-US"/>
                    </a:p>
                  </a:txBody>
                  <a:tcPr/>
                </a:tc>
                <a:extLst>
                  <a:ext uri="{0D108BD9-81ED-4DB2-BD59-A6C34878D82A}">
                    <a16:rowId xmlns:a16="http://schemas.microsoft.com/office/drawing/2014/main" val="1922596231"/>
                  </a:ext>
                </a:extLst>
              </a:tr>
              <a:tr h="370840">
                <a:tc>
                  <a:txBody>
                    <a:bodyPr/>
                    <a:lstStyle/>
                    <a:p>
                      <a:r>
                        <a:rPr kumimoji="1" lang="ja-JP" altLang="en-US" dirty="0"/>
                        <a:t>最大</a:t>
                      </a:r>
                    </a:p>
                  </a:txBody>
                  <a:tcPr/>
                </a:tc>
                <a:tc>
                  <a:txBody>
                    <a:bodyPr/>
                    <a:lstStyle/>
                    <a:p>
                      <a:r>
                        <a:rPr kumimoji="1" lang="en-US" altLang="ja-JP" dirty="0"/>
                        <a:t>8</a:t>
                      </a:r>
                      <a:r>
                        <a:rPr kumimoji="1" lang="ja-JP" altLang="en-US" dirty="0"/>
                        <a:t>項目</a:t>
                      </a:r>
                    </a:p>
                  </a:txBody>
                  <a:tcPr/>
                </a:tc>
                <a:tc>
                  <a:txBody>
                    <a:bodyPr/>
                    <a:lstStyle/>
                    <a:p>
                      <a:endParaRPr kumimoji="1" lang="ja-JP" altLang="en-US"/>
                    </a:p>
                  </a:txBody>
                  <a:tcPr/>
                </a:tc>
                <a:extLst>
                  <a:ext uri="{0D108BD9-81ED-4DB2-BD59-A6C34878D82A}">
                    <a16:rowId xmlns:a16="http://schemas.microsoft.com/office/drawing/2014/main" val="461932897"/>
                  </a:ext>
                </a:extLst>
              </a:tr>
              <a:tr h="370840">
                <a:tc>
                  <a:txBody>
                    <a:bodyPr/>
                    <a:lstStyle/>
                    <a:p>
                      <a:r>
                        <a:rPr kumimoji="1" lang="ja-JP" altLang="en-US" dirty="0"/>
                        <a:t>平均</a:t>
                      </a:r>
                    </a:p>
                  </a:txBody>
                  <a:tcPr/>
                </a:tc>
                <a:tc>
                  <a:txBody>
                    <a:bodyPr/>
                    <a:lstStyle/>
                    <a:p>
                      <a:r>
                        <a:rPr kumimoji="1" lang="en-US" altLang="ja-JP" dirty="0"/>
                        <a:t>6.2</a:t>
                      </a:r>
                      <a:r>
                        <a:rPr kumimoji="1" lang="ja-JP" altLang="en-US" dirty="0"/>
                        <a:t>項目</a:t>
                      </a:r>
                    </a:p>
                  </a:txBody>
                  <a:tcPr/>
                </a:tc>
                <a:tc>
                  <a:txBody>
                    <a:bodyPr/>
                    <a:lstStyle/>
                    <a:p>
                      <a:endParaRPr kumimoji="1" lang="ja-JP" altLang="en-US"/>
                    </a:p>
                  </a:txBody>
                  <a:tcPr/>
                </a:tc>
                <a:extLst>
                  <a:ext uri="{0D108BD9-81ED-4DB2-BD59-A6C34878D82A}">
                    <a16:rowId xmlns:a16="http://schemas.microsoft.com/office/drawing/2014/main" val="2957100038"/>
                  </a:ext>
                </a:extLst>
              </a:tr>
              <a:tr h="370840">
                <a:tc>
                  <a:txBody>
                    <a:bodyPr/>
                    <a:lstStyle/>
                    <a:p>
                      <a:r>
                        <a:rPr kumimoji="1" lang="ja-JP" altLang="en-US" dirty="0"/>
                        <a:t>平均抽出率</a:t>
                      </a:r>
                    </a:p>
                  </a:txBody>
                  <a:tcPr/>
                </a:tc>
                <a:tc>
                  <a:txBody>
                    <a:bodyPr/>
                    <a:lstStyle/>
                    <a:p>
                      <a:r>
                        <a:rPr kumimoji="1" lang="en-US" altLang="ja-JP" dirty="0"/>
                        <a:t>68.89%</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3612118074"/>
                  </a:ext>
                </a:extLst>
              </a:tr>
            </a:tbl>
          </a:graphicData>
        </a:graphic>
      </p:graphicFrame>
    </p:spTree>
    <p:extLst>
      <p:ext uri="{BB962C8B-B14F-4D97-AF65-F5344CB8AC3E}">
        <p14:creationId xmlns:p14="http://schemas.microsoft.com/office/powerpoint/2010/main" val="1623182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69310C8-914A-C623-238B-D329C89ACE5C}"/>
              </a:ext>
            </a:extLst>
          </p:cNvPr>
          <p:cNvSpPr>
            <a:spLocks noGrp="1"/>
          </p:cNvSpPr>
          <p:nvPr>
            <p:ph type="title"/>
          </p:nvPr>
        </p:nvSpPr>
        <p:spPr/>
        <p:txBody>
          <a:bodyPr/>
          <a:lstStyle/>
          <a:p>
            <a:r>
              <a:rPr kumimoji="1" lang="ja-JP" altLang="en-US" dirty="0"/>
              <a:t>生成</a:t>
            </a:r>
            <a:r>
              <a:rPr kumimoji="1" lang="en-US" altLang="ja-JP" dirty="0"/>
              <a:t>AI</a:t>
            </a:r>
            <a:r>
              <a:rPr kumimoji="1" lang="ja-JP" altLang="en-US" dirty="0"/>
              <a:t>の限界</a:t>
            </a:r>
          </a:p>
        </p:txBody>
      </p:sp>
      <p:sp>
        <p:nvSpPr>
          <p:cNvPr id="3" name="コンテンツ プレースホルダー 2">
            <a:extLst>
              <a:ext uri="{FF2B5EF4-FFF2-40B4-BE49-F238E27FC236}">
                <a16:creationId xmlns:a16="http://schemas.microsoft.com/office/drawing/2014/main" id="{229AD134-49CF-C3EA-C157-A296237E3B3C}"/>
              </a:ext>
            </a:extLst>
          </p:cNvPr>
          <p:cNvSpPr>
            <a:spLocks noGrp="1"/>
          </p:cNvSpPr>
          <p:nvPr>
            <p:ph idx="1"/>
          </p:nvPr>
        </p:nvSpPr>
        <p:spPr/>
        <p:txBody>
          <a:bodyPr/>
          <a:lstStyle/>
          <a:p>
            <a:pPr marL="0" indent="0">
              <a:buNone/>
            </a:pPr>
            <a:r>
              <a:rPr lang="ja-JP" altLang="en-US" dirty="0"/>
              <a:t>生成</a:t>
            </a:r>
            <a:r>
              <a:rPr lang="en-US" altLang="ja-JP" dirty="0"/>
              <a:t>AI</a:t>
            </a:r>
            <a:r>
              <a:rPr lang="ja-JP" altLang="en-US" dirty="0"/>
              <a:t>をそのまま使うだけでは、人手による課題の解決はできず、新たな課題があることがわかった</a:t>
            </a:r>
            <a:endParaRPr lang="en-US" altLang="ja-JP" dirty="0"/>
          </a:p>
          <a:p>
            <a:pPr marL="0" indent="0">
              <a:buNone/>
            </a:pPr>
            <a:endParaRPr kumimoji="1" lang="ja-JP" altLang="en-US" dirty="0"/>
          </a:p>
        </p:txBody>
      </p:sp>
      <p:graphicFrame>
        <p:nvGraphicFramePr>
          <p:cNvPr id="4" name="表 3">
            <a:extLst>
              <a:ext uri="{FF2B5EF4-FFF2-40B4-BE49-F238E27FC236}">
                <a16:creationId xmlns:a16="http://schemas.microsoft.com/office/drawing/2014/main" id="{139A08C1-3344-764C-ED7A-5467E0D1A28F}"/>
              </a:ext>
            </a:extLst>
          </p:cNvPr>
          <p:cNvGraphicFramePr>
            <a:graphicFrameLocks noGrp="1"/>
          </p:cNvGraphicFramePr>
          <p:nvPr>
            <p:extLst>
              <p:ext uri="{D42A27DB-BD31-4B8C-83A1-F6EECF244321}">
                <p14:modId xmlns:p14="http://schemas.microsoft.com/office/powerpoint/2010/main" val="3364907272"/>
              </p:ext>
            </p:extLst>
          </p:nvPr>
        </p:nvGraphicFramePr>
        <p:xfrm>
          <a:off x="838200" y="2723280"/>
          <a:ext cx="10022305" cy="3866841"/>
        </p:xfrm>
        <a:graphic>
          <a:graphicData uri="http://schemas.openxmlformats.org/drawingml/2006/table">
            <a:tbl>
              <a:tblPr firstRow="1" bandRow="1">
                <a:tableStyleId>{5C22544A-7EE6-4342-B048-85BDC9FD1C3A}</a:tableStyleId>
              </a:tblPr>
              <a:tblGrid>
                <a:gridCol w="4017332">
                  <a:extLst>
                    <a:ext uri="{9D8B030D-6E8A-4147-A177-3AD203B41FA5}">
                      <a16:colId xmlns:a16="http://schemas.microsoft.com/office/drawing/2014/main" val="3116518062"/>
                    </a:ext>
                  </a:extLst>
                </a:gridCol>
                <a:gridCol w="6004973">
                  <a:extLst>
                    <a:ext uri="{9D8B030D-6E8A-4147-A177-3AD203B41FA5}">
                      <a16:colId xmlns:a16="http://schemas.microsoft.com/office/drawing/2014/main" val="3329680842"/>
                    </a:ext>
                  </a:extLst>
                </a:gridCol>
              </a:tblGrid>
              <a:tr h="374023">
                <a:tc>
                  <a:txBody>
                    <a:bodyPr/>
                    <a:lstStyle/>
                    <a:p>
                      <a:pPr algn="ctr"/>
                      <a:r>
                        <a:rPr kumimoji="1" lang="ja-JP" altLang="en-US" dirty="0"/>
                        <a:t>課題</a:t>
                      </a:r>
                    </a:p>
                  </a:txBody>
                  <a:tcPr/>
                </a:tc>
                <a:tc>
                  <a:txBody>
                    <a:bodyPr/>
                    <a:lstStyle/>
                    <a:p>
                      <a:pPr algn="ctr"/>
                      <a:r>
                        <a:rPr kumimoji="1" lang="ja-JP" altLang="en-US" dirty="0"/>
                        <a:t>内容</a:t>
                      </a:r>
                    </a:p>
                  </a:txBody>
                  <a:tcPr/>
                </a:tc>
                <a:extLst>
                  <a:ext uri="{0D108BD9-81ED-4DB2-BD59-A6C34878D82A}">
                    <a16:rowId xmlns:a16="http://schemas.microsoft.com/office/drawing/2014/main" val="3595052137"/>
                  </a:ext>
                </a:extLst>
              </a:tr>
              <a:tr h="807104">
                <a:tc>
                  <a:txBody>
                    <a:bodyPr/>
                    <a:lstStyle/>
                    <a:p>
                      <a:r>
                        <a:rPr kumimoji="1" lang="ja-JP" altLang="en-US" dirty="0"/>
                        <a:t>事実・推測の混同</a:t>
                      </a:r>
                      <a:endParaRPr kumimoji="1" lang="en-US" altLang="ja-JP" dirty="0"/>
                    </a:p>
                  </a:txBody>
                  <a:tcPr/>
                </a:tc>
                <a:tc>
                  <a:txBody>
                    <a:bodyPr/>
                    <a:lstStyle/>
                    <a:p>
                      <a:r>
                        <a:rPr kumimoji="1" lang="ja-JP" altLang="en-US" dirty="0"/>
                        <a:t>予測補完によって、記されていない情報を埋め込んだり、推測で情報を拡張したりする</a:t>
                      </a:r>
                      <a:endParaRPr kumimoji="1" lang="en-US" altLang="ja-JP" dirty="0"/>
                    </a:p>
                  </a:txBody>
                  <a:tcPr/>
                </a:tc>
                <a:extLst>
                  <a:ext uri="{0D108BD9-81ED-4DB2-BD59-A6C34878D82A}">
                    <a16:rowId xmlns:a16="http://schemas.microsoft.com/office/drawing/2014/main" val="3907867090"/>
                  </a:ext>
                </a:extLst>
              </a:tr>
              <a:tr h="654542">
                <a:tc>
                  <a:txBody>
                    <a:bodyPr/>
                    <a:lstStyle/>
                    <a:p>
                      <a:r>
                        <a:rPr kumimoji="1" lang="ja-JP" altLang="en-US" dirty="0"/>
                        <a:t>項目の欠落</a:t>
                      </a:r>
                      <a:endParaRPr kumimoji="1" lang="en-US" altLang="ja-JP" dirty="0"/>
                    </a:p>
                  </a:txBody>
                  <a:tcPr/>
                </a:tc>
                <a:tc>
                  <a:txBody>
                    <a:bodyPr/>
                    <a:lstStyle/>
                    <a:p>
                      <a:r>
                        <a:rPr kumimoji="1" lang="ja-JP" altLang="en-US" dirty="0"/>
                        <a:t>全項目をまとめられず、いくつか漏れが発生することがある</a:t>
                      </a:r>
                    </a:p>
                  </a:txBody>
                  <a:tcPr/>
                </a:tc>
                <a:extLst>
                  <a:ext uri="{0D108BD9-81ED-4DB2-BD59-A6C34878D82A}">
                    <a16:rowId xmlns:a16="http://schemas.microsoft.com/office/drawing/2014/main" val="2645532750"/>
                  </a:ext>
                </a:extLst>
              </a:tr>
              <a:tr h="654542">
                <a:tc>
                  <a:txBody>
                    <a:bodyPr/>
                    <a:lstStyle/>
                    <a:p>
                      <a:r>
                        <a:rPr kumimoji="1" lang="ja-JP" altLang="en-US" dirty="0"/>
                        <a:t>項目の重複</a:t>
                      </a:r>
                      <a:endParaRPr kumimoji="1" lang="en-US" altLang="ja-JP" dirty="0"/>
                    </a:p>
                  </a:txBody>
                  <a:tcPr/>
                </a:tc>
                <a:tc>
                  <a:txBody>
                    <a:bodyPr/>
                    <a:lstStyle/>
                    <a:p>
                      <a:r>
                        <a:rPr kumimoji="1" lang="ja-JP" altLang="en-US" dirty="0"/>
                        <a:t>同項目にて、古い情報と新しい情報の２つが抽出され、まとめられていることがある</a:t>
                      </a:r>
                    </a:p>
                  </a:txBody>
                  <a:tcPr/>
                </a:tc>
                <a:extLst>
                  <a:ext uri="{0D108BD9-81ED-4DB2-BD59-A6C34878D82A}">
                    <a16:rowId xmlns:a16="http://schemas.microsoft.com/office/drawing/2014/main" val="3855783641"/>
                  </a:ext>
                </a:extLst>
              </a:tr>
              <a:tr h="722088">
                <a:tc>
                  <a:txBody>
                    <a:bodyPr/>
                    <a:lstStyle/>
                    <a:p>
                      <a:r>
                        <a:rPr kumimoji="1" lang="ja-JP" altLang="en-US" dirty="0"/>
                        <a:t>時系列の乱れ</a:t>
                      </a:r>
                    </a:p>
                  </a:txBody>
                  <a:tcPr/>
                </a:tc>
                <a:tc>
                  <a:txBody>
                    <a:bodyPr/>
                    <a:lstStyle/>
                    <a:p>
                      <a:r>
                        <a:rPr kumimoji="1" lang="ja-JP" altLang="en-US" dirty="0"/>
                        <a:t>項目の変更がある場合、最新情報に更新されず、古い情報を保持している</a:t>
                      </a:r>
                    </a:p>
                  </a:txBody>
                  <a:tcPr/>
                </a:tc>
                <a:extLst>
                  <a:ext uri="{0D108BD9-81ED-4DB2-BD59-A6C34878D82A}">
                    <a16:rowId xmlns:a16="http://schemas.microsoft.com/office/drawing/2014/main" val="2030885375"/>
                  </a:ext>
                </a:extLst>
              </a:tr>
              <a:tr h="654542">
                <a:tc>
                  <a:txBody>
                    <a:bodyPr/>
                    <a:lstStyle/>
                    <a:p>
                      <a:r>
                        <a:rPr kumimoji="1" lang="ja-JP" altLang="en-US" dirty="0"/>
                        <a:t>書式形式の非一貫性</a:t>
                      </a:r>
                    </a:p>
                  </a:txBody>
                  <a:tcPr/>
                </a:tc>
                <a:tc>
                  <a:txBody>
                    <a:bodyPr/>
                    <a:lstStyle/>
                    <a:p>
                      <a:r>
                        <a:rPr kumimoji="1" lang="ja-JP" altLang="en-US" dirty="0"/>
                        <a:t>出力によって、書式方法が異なる</a:t>
                      </a:r>
                    </a:p>
                  </a:txBody>
                  <a:tcPr/>
                </a:tc>
                <a:extLst>
                  <a:ext uri="{0D108BD9-81ED-4DB2-BD59-A6C34878D82A}">
                    <a16:rowId xmlns:a16="http://schemas.microsoft.com/office/drawing/2014/main" val="1789670269"/>
                  </a:ext>
                </a:extLst>
              </a:tr>
            </a:tbl>
          </a:graphicData>
        </a:graphic>
      </p:graphicFrame>
      <p:sp>
        <p:nvSpPr>
          <p:cNvPr id="5" name="スライド番号プレースホルダー 4">
            <a:extLst>
              <a:ext uri="{FF2B5EF4-FFF2-40B4-BE49-F238E27FC236}">
                <a16:creationId xmlns:a16="http://schemas.microsoft.com/office/drawing/2014/main" id="{FF3E637D-8F0A-EAA9-ADBA-A659D41049BC}"/>
              </a:ext>
            </a:extLst>
          </p:cNvPr>
          <p:cNvSpPr>
            <a:spLocks noGrp="1"/>
          </p:cNvSpPr>
          <p:nvPr>
            <p:ph type="sldNum" sz="quarter" idx="12"/>
          </p:nvPr>
        </p:nvSpPr>
        <p:spPr/>
        <p:txBody>
          <a:bodyPr/>
          <a:lstStyle/>
          <a:p>
            <a:fld id="{F32C8F3A-98E9-46B1-BAC9-77D093337233}" type="slidenum">
              <a:rPr kumimoji="1" lang="ja-JP" altLang="en-US" smtClean="0"/>
              <a:t>5</a:t>
            </a:fld>
            <a:endParaRPr kumimoji="1" lang="ja-JP" altLang="en-US"/>
          </a:p>
        </p:txBody>
      </p:sp>
    </p:spTree>
    <p:extLst>
      <p:ext uri="{BB962C8B-B14F-4D97-AF65-F5344CB8AC3E}">
        <p14:creationId xmlns:p14="http://schemas.microsoft.com/office/powerpoint/2010/main" val="21867552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7DF9013-461A-455C-8DF1-DC407E2B0AB9}"/>
              </a:ext>
            </a:extLst>
          </p:cNvPr>
          <p:cNvSpPr>
            <a:spLocks noGrp="1"/>
          </p:cNvSpPr>
          <p:nvPr>
            <p:ph type="title"/>
          </p:nvPr>
        </p:nvSpPr>
        <p:spPr/>
        <p:txBody>
          <a:bodyPr/>
          <a:lstStyle/>
          <a:p>
            <a:r>
              <a:rPr lang="ja-JP" altLang="en-US" dirty="0"/>
              <a:t>目的</a:t>
            </a:r>
            <a:endParaRPr kumimoji="1" lang="ja-JP" altLang="en-US" dirty="0"/>
          </a:p>
        </p:txBody>
      </p:sp>
      <p:sp>
        <p:nvSpPr>
          <p:cNvPr id="3" name="コンテンツ プレースホルダー 2">
            <a:extLst>
              <a:ext uri="{FF2B5EF4-FFF2-40B4-BE49-F238E27FC236}">
                <a16:creationId xmlns:a16="http://schemas.microsoft.com/office/drawing/2014/main" id="{0A468351-AFAB-7E73-357E-37AD7D9F9250}"/>
              </a:ext>
            </a:extLst>
          </p:cNvPr>
          <p:cNvSpPr>
            <a:spLocks noGrp="1"/>
          </p:cNvSpPr>
          <p:nvPr>
            <p:ph idx="1"/>
          </p:nvPr>
        </p:nvSpPr>
        <p:spPr>
          <a:xfrm>
            <a:off x="838200" y="1825625"/>
            <a:ext cx="11000874" cy="4351338"/>
          </a:xfrm>
        </p:spPr>
        <p:txBody>
          <a:bodyPr/>
          <a:lstStyle/>
          <a:p>
            <a:pPr marL="0" indent="0">
              <a:buNone/>
            </a:pPr>
            <a:r>
              <a:rPr kumimoji="1" lang="ja-JP" altLang="en-US" dirty="0"/>
              <a:t>人手・</a:t>
            </a:r>
            <a:r>
              <a:rPr kumimoji="1" lang="en-US" altLang="ja-JP" dirty="0"/>
              <a:t>AI</a:t>
            </a:r>
            <a:r>
              <a:rPr kumimoji="1" lang="ja-JP" altLang="en-US" dirty="0"/>
              <a:t>の課題を解決し、この工程を自動化することを目的とする</a:t>
            </a:r>
          </a:p>
        </p:txBody>
      </p:sp>
      <p:graphicFrame>
        <p:nvGraphicFramePr>
          <p:cNvPr id="4" name="表 3">
            <a:extLst>
              <a:ext uri="{FF2B5EF4-FFF2-40B4-BE49-F238E27FC236}">
                <a16:creationId xmlns:a16="http://schemas.microsoft.com/office/drawing/2014/main" id="{38BF8509-A4D8-E1A6-AC54-52FB4AD2ADD5}"/>
              </a:ext>
            </a:extLst>
          </p:cNvPr>
          <p:cNvGraphicFramePr>
            <a:graphicFrameLocks noGrp="1"/>
          </p:cNvGraphicFramePr>
          <p:nvPr>
            <p:extLst>
              <p:ext uri="{D42A27DB-BD31-4B8C-83A1-F6EECF244321}">
                <p14:modId xmlns:p14="http://schemas.microsoft.com/office/powerpoint/2010/main" val="3916344600"/>
              </p:ext>
            </p:extLst>
          </p:nvPr>
        </p:nvGraphicFramePr>
        <p:xfrm>
          <a:off x="838200" y="2445059"/>
          <a:ext cx="10515599" cy="3715109"/>
        </p:xfrm>
        <a:graphic>
          <a:graphicData uri="http://schemas.openxmlformats.org/drawingml/2006/table">
            <a:tbl>
              <a:tblPr firstRow="1" bandRow="1">
                <a:tableStyleId>{5C22544A-7EE6-4342-B048-85BDC9FD1C3A}</a:tableStyleId>
              </a:tblPr>
              <a:tblGrid>
                <a:gridCol w="3008956">
                  <a:extLst>
                    <a:ext uri="{9D8B030D-6E8A-4147-A177-3AD203B41FA5}">
                      <a16:colId xmlns:a16="http://schemas.microsoft.com/office/drawing/2014/main" val="3116518062"/>
                    </a:ext>
                  </a:extLst>
                </a:gridCol>
                <a:gridCol w="1222149">
                  <a:extLst>
                    <a:ext uri="{9D8B030D-6E8A-4147-A177-3AD203B41FA5}">
                      <a16:colId xmlns:a16="http://schemas.microsoft.com/office/drawing/2014/main" val="1496987676"/>
                    </a:ext>
                  </a:extLst>
                </a:gridCol>
                <a:gridCol w="6284494">
                  <a:extLst>
                    <a:ext uri="{9D8B030D-6E8A-4147-A177-3AD203B41FA5}">
                      <a16:colId xmlns:a16="http://schemas.microsoft.com/office/drawing/2014/main" val="3329680842"/>
                    </a:ext>
                  </a:extLst>
                </a:gridCol>
              </a:tblGrid>
              <a:tr h="409001">
                <a:tc>
                  <a:txBody>
                    <a:bodyPr/>
                    <a:lstStyle/>
                    <a:p>
                      <a:pPr algn="ctr"/>
                      <a:r>
                        <a:rPr kumimoji="1" lang="ja-JP" altLang="en-US" dirty="0"/>
                        <a:t>課題</a:t>
                      </a:r>
                    </a:p>
                  </a:txBody>
                  <a:tcPr/>
                </a:tc>
                <a:tc>
                  <a:txBody>
                    <a:bodyPr/>
                    <a:lstStyle/>
                    <a:p>
                      <a:pPr algn="ctr"/>
                      <a:r>
                        <a:rPr kumimoji="1" lang="ja-JP" altLang="en-US" dirty="0"/>
                        <a:t>問題</a:t>
                      </a:r>
                    </a:p>
                  </a:txBody>
                  <a:tcPr/>
                </a:tc>
                <a:tc>
                  <a:txBody>
                    <a:bodyPr/>
                    <a:lstStyle/>
                    <a:p>
                      <a:pPr algn="ctr"/>
                      <a:r>
                        <a:rPr kumimoji="1" lang="ja-JP" altLang="en-US" dirty="0"/>
                        <a:t>内容</a:t>
                      </a:r>
                    </a:p>
                  </a:txBody>
                  <a:tcPr/>
                </a:tc>
                <a:extLst>
                  <a:ext uri="{0D108BD9-81ED-4DB2-BD59-A6C34878D82A}">
                    <a16:rowId xmlns:a16="http://schemas.microsoft.com/office/drawing/2014/main" val="3595052137"/>
                  </a:ext>
                </a:extLst>
              </a:tr>
              <a:tr h="466656">
                <a:tc>
                  <a:txBody>
                    <a:bodyPr/>
                    <a:lstStyle/>
                    <a:p>
                      <a:r>
                        <a:rPr kumimoji="1" lang="ja-JP" altLang="en-US" dirty="0"/>
                        <a:t>事実・推測の混同防止</a:t>
                      </a:r>
                      <a:endParaRPr kumimoji="1" lang="en-US" altLang="ja-JP" dirty="0"/>
                    </a:p>
                  </a:txBody>
                  <a:tcPr/>
                </a:tc>
                <a:tc>
                  <a:txBody>
                    <a:bodyPr/>
                    <a:lstStyle/>
                    <a:p>
                      <a:r>
                        <a:rPr kumimoji="1" lang="en-US" altLang="ja-JP" dirty="0"/>
                        <a:t>AI</a:t>
                      </a:r>
                    </a:p>
                  </a:txBody>
                  <a:tcPr/>
                </a:tc>
                <a:tc>
                  <a:txBody>
                    <a:bodyPr/>
                    <a:lstStyle/>
                    <a:p>
                      <a:r>
                        <a:rPr kumimoji="1" lang="ja-JP" altLang="en-US" dirty="0"/>
                        <a:t>事実と異なる、提案されていないことを含まない</a:t>
                      </a:r>
                      <a:endParaRPr kumimoji="1" lang="en-US" altLang="ja-JP" dirty="0"/>
                    </a:p>
                  </a:txBody>
                  <a:tcPr/>
                </a:tc>
                <a:extLst>
                  <a:ext uri="{0D108BD9-81ED-4DB2-BD59-A6C34878D82A}">
                    <a16:rowId xmlns:a16="http://schemas.microsoft.com/office/drawing/2014/main" val="3907867090"/>
                  </a:ext>
                </a:extLst>
              </a:tr>
              <a:tr h="433136">
                <a:tc>
                  <a:txBody>
                    <a:bodyPr/>
                    <a:lstStyle/>
                    <a:p>
                      <a:r>
                        <a:rPr kumimoji="1" lang="ja-JP" altLang="en-US" dirty="0"/>
                        <a:t>項目の欠落</a:t>
                      </a:r>
                      <a:endParaRPr kumimoji="1" lang="en-US" altLang="ja-JP" dirty="0"/>
                    </a:p>
                  </a:txBody>
                  <a:tcPr/>
                </a:tc>
                <a:tc>
                  <a:txBody>
                    <a:bodyPr/>
                    <a:lstStyle/>
                    <a:p>
                      <a:r>
                        <a:rPr kumimoji="1" lang="en-US" altLang="ja-JP" dirty="0"/>
                        <a:t>AI</a:t>
                      </a:r>
                    </a:p>
                  </a:txBody>
                  <a:tcPr/>
                </a:tc>
                <a:tc>
                  <a:txBody>
                    <a:bodyPr/>
                    <a:lstStyle/>
                    <a:p>
                      <a:r>
                        <a:rPr kumimoji="1" lang="ja-JP" altLang="en-US" dirty="0"/>
                        <a:t>主要機能、重要条件を漏らさない</a:t>
                      </a:r>
                    </a:p>
                  </a:txBody>
                  <a:tcPr/>
                </a:tc>
                <a:extLst>
                  <a:ext uri="{0D108BD9-81ED-4DB2-BD59-A6C34878D82A}">
                    <a16:rowId xmlns:a16="http://schemas.microsoft.com/office/drawing/2014/main" val="2645532750"/>
                  </a:ext>
                </a:extLst>
              </a:tr>
              <a:tr h="407194">
                <a:tc>
                  <a:txBody>
                    <a:bodyPr/>
                    <a:lstStyle/>
                    <a:p>
                      <a:r>
                        <a:rPr kumimoji="1" lang="ja-JP" altLang="en-US" dirty="0"/>
                        <a:t>ノイズの除去</a:t>
                      </a:r>
                      <a:endParaRPr kumimoji="1" lang="en-US" altLang="ja-JP" dirty="0"/>
                    </a:p>
                  </a:txBody>
                  <a:tcPr/>
                </a:tc>
                <a:tc>
                  <a:txBody>
                    <a:bodyPr/>
                    <a:lstStyle/>
                    <a:p>
                      <a:r>
                        <a:rPr kumimoji="1" lang="en-US" altLang="ja-JP" dirty="0"/>
                        <a:t>AI</a:t>
                      </a:r>
                    </a:p>
                  </a:txBody>
                  <a:tcPr/>
                </a:tc>
                <a:tc>
                  <a:txBody>
                    <a:bodyPr/>
                    <a:lstStyle/>
                    <a:p>
                      <a:r>
                        <a:rPr kumimoji="1" lang="ja-JP" altLang="en-US" dirty="0"/>
                        <a:t>決定事項ではない項目を含まない</a:t>
                      </a:r>
                    </a:p>
                  </a:txBody>
                  <a:tcPr/>
                </a:tc>
                <a:extLst>
                  <a:ext uri="{0D108BD9-81ED-4DB2-BD59-A6C34878D82A}">
                    <a16:rowId xmlns:a16="http://schemas.microsoft.com/office/drawing/2014/main" val="3855783641"/>
                  </a:ext>
                </a:extLst>
              </a:tr>
              <a:tr h="525630">
                <a:tc>
                  <a:txBody>
                    <a:bodyPr/>
                    <a:lstStyle/>
                    <a:p>
                      <a:r>
                        <a:rPr kumimoji="1" lang="ja-JP" altLang="en-US" dirty="0"/>
                        <a:t>時系列の乱れ</a:t>
                      </a:r>
                    </a:p>
                  </a:txBody>
                  <a:tcPr/>
                </a:tc>
                <a:tc>
                  <a:txBody>
                    <a:bodyPr/>
                    <a:lstStyle/>
                    <a:p>
                      <a:r>
                        <a:rPr kumimoji="1" lang="en-US" altLang="ja-JP" dirty="0"/>
                        <a:t>AI</a:t>
                      </a:r>
                      <a:r>
                        <a:rPr kumimoji="1" lang="ja-JP" altLang="en-US" dirty="0"/>
                        <a:t>・人手</a:t>
                      </a:r>
                    </a:p>
                  </a:txBody>
                  <a:tcPr/>
                </a:tc>
                <a:tc>
                  <a:txBody>
                    <a:bodyPr/>
                    <a:lstStyle/>
                    <a:p>
                      <a:r>
                        <a:rPr kumimoji="1" lang="ja-JP" altLang="en-US" dirty="0"/>
                        <a:t>項目内容が最新情報と一致する</a:t>
                      </a:r>
                    </a:p>
                  </a:txBody>
                  <a:tcPr/>
                </a:tc>
                <a:extLst>
                  <a:ext uri="{0D108BD9-81ED-4DB2-BD59-A6C34878D82A}">
                    <a16:rowId xmlns:a16="http://schemas.microsoft.com/office/drawing/2014/main" val="2030885375"/>
                  </a:ext>
                </a:extLst>
              </a:tr>
              <a:tr h="462840">
                <a:tc>
                  <a:txBody>
                    <a:bodyPr/>
                    <a:lstStyle/>
                    <a:p>
                      <a:r>
                        <a:rPr kumimoji="1" lang="ja-JP" altLang="en-US" dirty="0"/>
                        <a:t>書式形式の統一</a:t>
                      </a:r>
                    </a:p>
                  </a:txBody>
                  <a:tcPr/>
                </a:tc>
                <a:tc>
                  <a:txBody>
                    <a:bodyPr/>
                    <a:lstStyle/>
                    <a:p>
                      <a:r>
                        <a:rPr kumimoji="1" lang="en-US" altLang="ja-JP" dirty="0"/>
                        <a:t>AI</a:t>
                      </a:r>
                      <a:r>
                        <a:rPr kumimoji="1" lang="ja-JP" altLang="en-US" dirty="0"/>
                        <a:t>・人手</a:t>
                      </a:r>
                    </a:p>
                  </a:txBody>
                  <a:tcPr/>
                </a:tc>
                <a:tc>
                  <a:txBody>
                    <a:bodyPr/>
                    <a:lstStyle/>
                    <a:p>
                      <a:r>
                        <a:rPr kumimoji="1" lang="ja-JP" altLang="en-US" dirty="0"/>
                        <a:t>使用者に限らず、決まったテンプレートを使用する</a:t>
                      </a:r>
                    </a:p>
                  </a:txBody>
                  <a:tcPr/>
                </a:tc>
                <a:extLst>
                  <a:ext uri="{0D108BD9-81ED-4DB2-BD59-A6C34878D82A}">
                    <a16:rowId xmlns:a16="http://schemas.microsoft.com/office/drawing/2014/main" val="1789670269"/>
                  </a:ext>
                </a:extLst>
              </a:tr>
              <a:tr h="433137">
                <a:tc>
                  <a:txBody>
                    <a:bodyPr/>
                    <a:lstStyle/>
                    <a:p>
                      <a:r>
                        <a:rPr kumimoji="1" lang="ja-JP" altLang="en-US" dirty="0"/>
                        <a:t>処理コストの削減</a:t>
                      </a:r>
                    </a:p>
                  </a:txBody>
                  <a:tcPr/>
                </a:tc>
                <a:tc>
                  <a:txBody>
                    <a:bodyPr/>
                    <a:lstStyle/>
                    <a:p>
                      <a:r>
                        <a:rPr kumimoji="1" lang="ja-JP" altLang="en-US" dirty="0"/>
                        <a:t>人手</a:t>
                      </a:r>
                    </a:p>
                  </a:txBody>
                  <a:tcPr/>
                </a:tc>
                <a:tc>
                  <a:txBody>
                    <a:bodyPr/>
                    <a:lstStyle/>
                    <a:p>
                      <a:r>
                        <a:rPr kumimoji="1" lang="ja-JP" altLang="en-US" dirty="0"/>
                        <a:t>数時間かかる処理を数分で行えるようにする</a:t>
                      </a:r>
                    </a:p>
                  </a:txBody>
                  <a:tcPr/>
                </a:tc>
                <a:extLst>
                  <a:ext uri="{0D108BD9-81ED-4DB2-BD59-A6C34878D82A}">
                    <a16:rowId xmlns:a16="http://schemas.microsoft.com/office/drawing/2014/main" val="1391221960"/>
                  </a:ext>
                </a:extLst>
              </a:tr>
              <a:tr h="577515">
                <a:tc>
                  <a:txBody>
                    <a:bodyPr/>
                    <a:lstStyle/>
                    <a:p>
                      <a:r>
                        <a:rPr kumimoji="1" lang="ja-JP" altLang="en-US" dirty="0"/>
                        <a:t>ヒューマンエラーの排除</a:t>
                      </a:r>
                    </a:p>
                  </a:txBody>
                  <a:tcPr/>
                </a:tc>
                <a:tc>
                  <a:txBody>
                    <a:bodyPr/>
                    <a:lstStyle/>
                    <a:p>
                      <a:r>
                        <a:rPr kumimoji="1" lang="ja-JP" altLang="en-US" dirty="0"/>
                        <a:t>人手</a:t>
                      </a:r>
                    </a:p>
                  </a:txBody>
                  <a:tcPr/>
                </a:tc>
                <a:tc>
                  <a:txBody>
                    <a:bodyPr/>
                    <a:lstStyle/>
                    <a:p>
                      <a:r>
                        <a:rPr kumimoji="1" lang="ja-JP" altLang="en-US" dirty="0"/>
                        <a:t>数値・テキストの誤り、別トピックの混合を防ぐ</a:t>
                      </a:r>
                    </a:p>
                  </a:txBody>
                  <a:tcPr/>
                </a:tc>
                <a:extLst>
                  <a:ext uri="{0D108BD9-81ED-4DB2-BD59-A6C34878D82A}">
                    <a16:rowId xmlns:a16="http://schemas.microsoft.com/office/drawing/2014/main" val="1497738565"/>
                  </a:ext>
                </a:extLst>
              </a:tr>
            </a:tbl>
          </a:graphicData>
        </a:graphic>
      </p:graphicFrame>
      <p:sp>
        <p:nvSpPr>
          <p:cNvPr id="5" name="スライド番号プレースホルダー 4">
            <a:extLst>
              <a:ext uri="{FF2B5EF4-FFF2-40B4-BE49-F238E27FC236}">
                <a16:creationId xmlns:a16="http://schemas.microsoft.com/office/drawing/2014/main" id="{1E1A34E0-0FD7-E128-BF2E-B20C8B42540A}"/>
              </a:ext>
            </a:extLst>
          </p:cNvPr>
          <p:cNvSpPr>
            <a:spLocks noGrp="1"/>
          </p:cNvSpPr>
          <p:nvPr>
            <p:ph type="sldNum" sz="quarter" idx="12"/>
          </p:nvPr>
        </p:nvSpPr>
        <p:spPr/>
        <p:txBody>
          <a:bodyPr/>
          <a:lstStyle/>
          <a:p>
            <a:fld id="{F32C8F3A-98E9-46B1-BAC9-77D093337233}" type="slidenum">
              <a:rPr kumimoji="1" lang="ja-JP" altLang="en-US" smtClean="0"/>
              <a:t>6</a:t>
            </a:fld>
            <a:endParaRPr kumimoji="1" lang="ja-JP" altLang="en-US"/>
          </a:p>
        </p:txBody>
      </p:sp>
    </p:spTree>
    <p:extLst>
      <p:ext uri="{BB962C8B-B14F-4D97-AF65-F5344CB8AC3E}">
        <p14:creationId xmlns:p14="http://schemas.microsoft.com/office/powerpoint/2010/main" val="25342472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91ABAD1-1B73-B4E2-F374-1C936C2A3F1C}"/>
              </a:ext>
            </a:extLst>
          </p:cNvPr>
          <p:cNvSpPr>
            <a:spLocks noGrp="1"/>
          </p:cNvSpPr>
          <p:nvPr>
            <p:ph type="title"/>
          </p:nvPr>
        </p:nvSpPr>
        <p:spPr/>
        <p:txBody>
          <a:bodyPr/>
          <a:lstStyle/>
          <a:p>
            <a:r>
              <a:rPr kumimoji="1" lang="ja-JP" altLang="en-US" dirty="0"/>
              <a:t>提案手法</a:t>
            </a:r>
          </a:p>
        </p:txBody>
      </p:sp>
      <p:sp>
        <p:nvSpPr>
          <p:cNvPr id="3" name="コンテンツ プレースホルダー 2">
            <a:extLst>
              <a:ext uri="{FF2B5EF4-FFF2-40B4-BE49-F238E27FC236}">
                <a16:creationId xmlns:a16="http://schemas.microsoft.com/office/drawing/2014/main" id="{003C298A-EF36-85F5-4EC5-42902A5F304E}"/>
              </a:ext>
            </a:extLst>
          </p:cNvPr>
          <p:cNvSpPr>
            <a:spLocks noGrp="1"/>
          </p:cNvSpPr>
          <p:nvPr>
            <p:ph idx="1"/>
          </p:nvPr>
        </p:nvSpPr>
        <p:spPr/>
        <p:txBody>
          <a:bodyPr/>
          <a:lstStyle/>
          <a:p>
            <a:pPr marL="0" indent="0">
              <a:buNone/>
            </a:pPr>
            <a:r>
              <a:rPr kumimoji="1" lang="ja-JP" altLang="en-US" dirty="0"/>
              <a:t>ステップを分けて、補正を行うプログラムを設定する</a:t>
            </a:r>
            <a:endParaRPr kumimoji="1" lang="en-US" altLang="ja-JP" dirty="0"/>
          </a:p>
          <a:p>
            <a:pPr marL="0" indent="0">
              <a:buNone/>
            </a:pPr>
            <a:endParaRPr lang="en-US" altLang="ja-JP" dirty="0"/>
          </a:p>
          <a:p>
            <a:pPr marL="0" indent="0">
              <a:buNone/>
            </a:pPr>
            <a:r>
              <a:rPr kumimoji="1" lang="ja-JP" altLang="en-US" dirty="0"/>
              <a:t>① 議事録データの入力</a:t>
            </a:r>
            <a:endParaRPr kumimoji="1" lang="en-US" altLang="ja-JP" dirty="0"/>
          </a:p>
          <a:p>
            <a:pPr marL="0" indent="0">
              <a:buNone/>
            </a:pPr>
            <a:r>
              <a:rPr kumimoji="1" lang="ja-JP" altLang="en-US" dirty="0"/>
              <a:t>② </a:t>
            </a:r>
            <a:r>
              <a:rPr kumimoji="1" lang="en-US" altLang="ja-JP" dirty="0"/>
              <a:t>GPT-4o</a:t>
            </a:r>
            <a:r>
              <a:rPr kumimoji="1" lang="ja-JP" altLang="en-US" dirty="0"/>
              <a:t>を用いた分類ラベルの付与</a:t>
            </a:r>
            <a:endParaRPr kumimoji="1" lang="en-US" altLang="ja-JP" dirty="0"/>
          </a:p>
          <a:p>
            <a:pPr marL="0" indent="0">
              <a:buNone/>
            </a:pPr>
            <a:r>
              <a:rPr lang="ja-JP" altLang="en-US" dirty="0"/>
              <a:t>③ 分類より決定事項とその情報を抽出</a:t>
            </a:r>
            <a:endParaRPr lang="en-US" altLang="ja-JP" dirty="0"/>
          </a:p>
          <a:p>
            <a:pPr marL="0" indent="0">
              <a:buNone/>
            </a:pPr>
            <a:r>
              <a:rPr kumimoji="1" lang="ja-JP" altLang="en-US" dirty="0"/>
              <a:t>④ 指定テンプレートに反映し、</a:t>
            </a:r>
            <a:r>
              <a:rPr kumimoji="1" lang="en-US" altLang="ja-JP" dirty="0"/>
              <a:t>Markdown</a:t>
            </a:r>
            <a:r>
              <a:rPr kumimoji="1" lang="ja-JP" altLang="en-US" dirty="0"/>
              <a:t>形式ファイルに出力</a:t>
            </a:r>
          </a:p>
        </p:txBody>
      </p:sp>
      <p:sp>
        <p:nvSpPr>
          <p:cNvPr id="4" name="スライド番号プレースホルダー 3">
            <a:extLst>
              <a:ext uri="{FF2B5EF4-FFF2-40B4-BE49-F238E27FC236}">
                <a16:creationId xmlns:a16="http://schemas.microsoft.com/office/drawing/2014/main" id="{169E0483-FE8D-2687-FD70-8F2015B113A7}"/>
              </a:ext>
            </a:extLst>
          </p:cNvPr>
          <p:cNvSpPr>
            <a:spLocks noGrp="1"/>
          </p:cNvSpPr>
          <p:nvPr>
            <p:ph type="sldNum" sz="quarter" idx="12"/>
          </p:nvPr>
        </p:nvSpPr>
        <p:spPr/>
        <p:txBody>
          <a:bodyPr/>
          <a:lstStyle/>
          <a:p>
            <a:fld id="{F32C8F3A-98E9-46B1-BAC9-77D093337233}" type="slidenum">
              <a:rPr kumimoji="1" lang="ja-JP" altLang="en-US" smtClean="0"/>
              <a:t>7</a:t>
            </a:fld>
            <a:endParaRPr kumimoji="1" lang="ja-JP" altLang="en-US"/>
          </a:p>
        </p:txBody>
      </p:sp>
    </p:spTree>
    <p:extLst>
      <p:ext uri="{BB962C8B-B14F-4D97-AF65-F5344CB8AC3E}">
        <p14:creationId xmlns:p14="http://schemas.microsoft.com/office/powerpoint/2010/main" val="32087357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15A5FA6-2290-72EB-A1AE-60548172898B}"/>
              </a:ext>
            </a:extLst>
          </p:cNvPr>
          <p:cNvSpPr>
            <a:spLocks noGrp="1"/>
          </p:cNvSpPr>
          <p:nvPr>
            <p:ph type="title"/>
          </p:nvPr>
        </p:nvSpPr>
        <p:spPr/>
        <p:txBody>
          <a:bodyPr/>
          <a:lstStyle/>
          <a:p>
            <a:r>
              <a:rPr kumimoji="1" lang="ja-JP" altLang="en-US" dirty="0"/>
              <a:t>課題に対してのアプローチ</a:t>
            </a:r>
          </a:p>
        </p:txBody>
      </p:sp>
      <p:graphicFrame>
        <p:nvGraphicFramePr>
          <p:cNvPr id="4" name="コンテンツ プレースホルダー 3">
            <a:extLst>
              <a:ext uri="{FF2B5EF4-FFF2-40B4-BE49-F238E27FC236}">
                <a16:creationId xmlns:a16="http://schemas.microsoft.com/office/drawing/2014/main" id="{0F4CA273-052E-ACE7-694E-0D6FB8356237}"/>
              </a:ext>
            </a:extLst>
          </p:cNvPr>
          <p:cNvGraphicFramePr>
            <a:graphicFrameLocks noGrp="1"/>
          </p:cNvGraphicFramePr>
          <p:nvPr>
            <p:ph idx="1"/>
            <p:extLst>
              <p:ext uri="{D42A27DB-BD31-4B8C-83A1-F6EECF244321}">
                <p14:modId xmlns:p14="http://schemas.microsoft.com/office/powerpoint/2010/main" val="3109310652"/>
              </p:ext>
            </p:extLst>
          </p:nvPr>
        </p:nvGraphicFramePr>
        <p:xfrm>
          <a:off x="838200" y="2707941"/>
          <a:ext cx="10515600" cy="2428071"/>
        </p:xfrm>
        <a:graphic>
          <a:graphicData uri="http://schemas.openxmlformats.org/drawingml/2006/table">
            <a:tbl>
              <a:tblPr firstRow="1" bandRow="1">
                <a:tableStyleId>{5C22544A-7EE6-4342-B048-85BDC9FD1C3A}</a:tableStyleId>
              </a:tblPr>
              <a:tblGrid>
                <a:gridCol w="3862137">
                  <a:extLst>
                    <a:ext uri="{9D8B030D-6E8A-4147-A177-3AD203B41FA5}">
                      <a16:colId xmlns:a16="http://schemas.microsoft.com/office/drawing/2014/main" val="895973317"/>
                    </a:ext>
                  </a:extLst>
                </a:gridCol>
                <a:gridCol w="6653463">
                  <a:extLst>
                    <a:ext uri="{9D8B030D-6E8A-4147-A177-3AD203B41FA5}">
                      <a16:colId xmlns:a16="http://schemas.microsoft.com/office/drawing/2014/main" val="523500318"/>
                    </a:ext>
                  </a:extLst>
                </a:gridCol>
              </a:tblGrid>
              <a:tr h="372143">
                <a:tc>
                  <a:txBody>
                    <a:bodyPr/>
                    <a:lstStyle/>
                    <a:p>
                      <a:pPr algn="ctr"/>
                      <a:r>
                        <a:rPr kumimoji="1" lang="ja-JP" altLang="en-US" dirty="0"/>
                        <a:t>課題</a:t>
                      </a:r>
                    </a:p>
                  </a:txBody>
                  <a:tcPr/>
                </a:tc>
                <a:tc>
                  <a:txBody>
                    <a:bodyPr/>
                    <a:lstStyle/>
                    <a:p>
                      <a:pPr algn="ctr"/>
                      <a:r>
                        <a:rPr kumimoji="1" lang="ja-JP" altLang="en-US" dirty="0"/>
                        <a:t>対策</a:t>
                      </a:r>
                    </a:p>
                  </a:txBody>
                  <a:tcPr/>
                </a:tc>
                <a:extLst>
                  <a:ext uri="{0D108BD9-81ED-4DB2-BD59-A6C34878D82A}">
                    <a16:rowId xmlns:a16="http://schemas.microsoft.com/office/drawing/2014/main" val="3491935950"/>
                  </a:ext>
                </a:extLst>
              </a:tr>
              <a:tr h="513982">
                <a:tc>
                  <a:txBody>
                    <a:bodyPr/>
                    <a:lstStyle/>
                    <a:p>
                      <a:r>
                        <a:rPr kumimoji="1" lang="ja-JP" altLang="en-US" dirty="0"/>
                        <a:t>出力のばらつき</a:t>
                      </a:r>
                      <a:endParaRPr kumimoji="1" lang="en-US" altLang="ja-JP" dirty="0"/>
                    </a:p>
                  </a:txBody>
                  <a:tcPr/>
                </a:tc>
                <a:tc>
                  <a:txBody>
                    <a:bodyPr/>
                    <a:lstStyle/>
                    <a:p>
                      <a:r>
                        <a:rPr kumimoji="1" lang="en-US" altLang="ja-JP" dirty="0"/>
                        <a:t>temperature</a:t>
                      </a:r>
                      <a:r>
                        <a:rPr kumimoji="1" lang="ja-JP" altLang="en-US" dirty="0"/>
                        <a:t>の最適化</a:t>
                      </a:r>
                    </a:p>
                  </a:txBody>
                  <a:tcPr/>
                </a:tc>
                <a:extLst>
                  <a:ext uri="{0D108BD9-81ED-4DB2-BD59-A6C34878D82A}">
                    <a16:rowId xmlns:a16="http://schemas.microsoft.com/office/drawing/2014/main" val="2183752494"/>
                  </a:ext>
                </a:extLst>
              </a:tr>
              <a:tr h="513982">
                <a:tc>
                  <a:txBody>
                    <a:bodyPr/>
                    <a:lstStyle/>
                    <a:p>
                      <a:r>
                        <a:rPr lang="ja-JP" altLang="en-US" dirty="0"/>
                        <a:t>事実・推測の混同＋ノイズの除去</a:t>
                      </a:r>
                    </a:p>
                  </a:txBody>
                  <a:tcPr/>
                </a:tc>
                <a:tc>
                  <a:txBody>
                    <a:bodyPr/>
                    <a:lstStyle/>
                    <a:p>
                      <a:r>
                        <a:rPr kumimoji="1" lang="ja-JP" altLang="en-US" dirty="0"/>
                        <a:t>分類基準の固定</a:t>
                      </a:r>
                      <a:r>
                        <a:rPr kumimoji="1" lang="en-US" altLang="ja-JP" dirty="0"/>
                        <a:t>+</a:t>
                      </a:r>
                      <a:r>
                        <a:rPr kumimoji="1" lang="ja-JP" altLang="en-US" dirty="0"/>
                        <a:t>ラベルの付与</a:t>
                      </a:r>
                    </a:p>
                  </a:txBody>
                  <a:tcPr/>
                </a:tc>
                <a:extLst>
                  <a:ext uri="{0D108BD9-81ED-4DB2-BD59-A6C34878D82A}">
                    <a16:rowId xmlns:a16="http://schemas.microsoft.com/office/drawing/2014/main" val="875766733"/>
                  </a:ext>
                </a:extLst>
              </a:tr>
              <a:tr h="513982">
                <a:tc>
                  <a:txBody>
                    <a:bodyPr/>
                    <a:lstStyle/>
                    <a:p>
                      <a:r>
                        <a:rPr kumimoji="1" lang="ja-JP" altLang="en-US" dirty="0"/>
                        <a:t>文脈の欠落</a:t>
                      </a:r>
                      <a:r>
                        <a:rPr kumimoji="1" lang="en-US" altLang="ja-JP" dirty="0"/>
                        <a:t>+</a:t>
                      </a:r>
                      <a:r>
                        <a:rPr kumimoji="1" lang="ja-JP" altLang="en-US" dirty="0"/>
                        <a:t>時系列の乱れ</a:t>
                      </a:r>
                      <a:endParaRPr kumimoji="1" lang="en-US" altLang="ja-JP" dirty="0"/>
                    </a:p>
                  </a:txBody>
                  <a:tcPr/>
                </a:tc>
                <a:tc>
                  <a:txBody>
                    <a:bodyPr/>
                    <a:lstStyle/>
                    <a:p>
                      <a:r>
                        <a:rPr kumimoji="1" lang="ja-JP" altLang="en-US" dirty="0"/>
                        <a:t>中間</a:t>
                      </a:r>
                      <a:r>
                        <a:rPr kumimoji="1" lang="en-US" altLang="ja-JP" dirty="0"/>
                        <a:t>JSON</a:t>
                      </a:r>
                      <a:r>
                        <a:rPr kumimoji="1" lang="ja-JP" altLang="en-US" dirty="0"/>
                        <a:t>で対象者、時間、ラベルを追跡</a:t>
                      </a:r>
                    </a:p>
                  </a:txBody>
                  <a:tcPr/>
                </a:tc>
                <a:extLst>
                  <a:ext uri="{0D108BD9-81ED-4DB2-BD59-A6C34878D82A}">
                    <a16:rowId xmlns:a16="http://schemas.microsoft.com/office/drawing/2014/main" val="1365436432"/>
                  </a:ext>
                </a:extLst>
              </a:tr>
              <a:tr h="513982">
                <a:tc>
                  <a:txBody>
                    <a:bodyPr/>
                    <a:lstStyle/>
                    <a:p>
                      <a:r>
                        <a:rPr kumimoji="1" lang="ja-JP" altLang="en-US" dirty="0"/>
                        <a:t>構造の統一化</a:t>
                      </a:r>
                    </a:p>
                  </a:txBody>
                  <a:tcPr/>
                </a:tc>
                <a:tc>
                  <a:txBody>
                    <a:bodyPr/>
                    <a:lstStyle/>
                    <a:p>
                      <a:r>
                        <a:rPr kumimoji="1" lang="en-US" altLang="ja-JP" dirty="0"/>
                        <a:t>Jinja2</a:t>
                      </a:r>
                      <a:r>
                        <a:rPr kumimoji="1" lang="ja-JP" altLang="en-US" dirty="0"/>
                        <a:t>テンプレートで章立て、文体を統一</a:t>
                      </a:r>
                    </a:p>
                  </a:txBody>
                  <a:tcPr/>
                </a:tc>
                <a:extLst>
                  <a:ext uri="{0D108BD9-81ED-4DB2-BD59-A6C34878D82A}">
                    <a16:rowId xmlns:a16="http://schemas.microsoft.com/office/drawing/2014/main" val="4274623067"/>
                  </a:ext>
                </a:extLst>
              </a:tr>
            </a:tbl>
          </a:graphicData>
        </a:graphic>
      </p:graphicFrame>
      <p:sp>
        <p:nvSpPr>
          <p:cNvPr id="5" name="スライド番号プレースホルダー 4">
            <a:extLst>
              <a:ext uri="{FF2B5EF4-FFF2-40B4-BE49-F238E27FC236}">
                <a16:creationId xmlns:a16="http://schemas.microsoft.com/office/drawing/2014/main" id="{C1B13D3A-91EF-E27E-04AF-9512EF5D9DC5}"/>
              </a:ext>
            </a:extLst>
          </p:cNvPr>
          <p:cNvSpPr>
            <a:spLocks noGrp="1"/>
          </p:cNvSpPr>
          <p:nvPr>
            <p:ph type="sldNum" sz="quarter" idx="12"/>
          </p:nvPr>
        </p:nvSpPr>
        <p:spPr/>
        <p:txBody>
          <a:bodyPr/>
          <a:lstStyle/>
          <a:p>
            <a:fld id="{F32C8F3A-98E9-46B1-BAC9-77D093337233}" type="slidenum">
              <a:rPr kumimoji="1" lang="ja-JP" altLang="en-US" smtClean="0"/>
              <a:t>8</a:t>
            </a:fld>
            <a:endParaRPr kumimoji="1" lang="ja-JP" altLang="en-US"/>
          </a:p>
        </p:txBody>
      </p:sp>
    </p:spTree>
    <p:extLst>
      <p:ext uri="{BB962C8B-B14F-4D97-AF65-F5344CB8AC3E}">
        <p14:creationId xmlns:p14="http://schemas.microsoft.com/office/powerpoint/2010/main" val="3453617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BCFB7AB-5597-CE7C-326B-2C69ECADD3FC}"/>
              </a:ext>
            </a:extLst>
          </p:cNvPr>
          <p:cNvSpPr>
            <a:spLocks noGrp="1"/>
          </p:cNvSpPr>
          <p:nvPr>
            <p:ph type="title"/>
          </p:nvPr>
        </p:nvSpPr>
        <p:spPr/>
        <p:txBody>
          <a:bodyPr/>
          <a:lstStyle/>
          <a:p>
            <a:r>
              <a:rPr lang="ja-JP" altLang="en-US" dirty="0"/>
              <a:t>使用</a:t>
            </a:r>
            <a:r>
              <a:rPr kumimoji="1" lang="ja-JP" altLang="en-US" dirty="0"/>
              <a:t>データ</a:t>
            </a:r>
          </a:p>
        </p:txBody>
      </p:sp>
      <p:sp>
        <p:nvSpPr>
          <p:cNvPr id="3" name="コンテンツ プレースホルダー 2">
            <a:extLst>
              <a:ext uri="{FF2B5EF4-FFF2-40B4-BE49-F238E27FC236}">
                <a16:creationId xmlns:a16="http://schemas.microsoft.com/office/drawing/2014/main" id="{B5CB3F03-6CE7-70CB-7788-9647955342FF}"/>
              </a:ext>
            </a:extLst>
          </p:cNvPr>
          <p:cNvSpPr>
            <a:spLocks noGrp="1"/>
          </p:cNvSpPr>
          <p:nvPr>
            <p:ph idx="1"/>
          </p:nvPr>
        </p:nvSpPr>
        <p:spPr/>
        <p:txBody>
          <a:bodyPr/>
          <a:lstStyle/>
          <a:p>
            <a:r>
              <a:rPr kumimoji="1" lang="en-US" altLang="ja-JP" dirty="0"/>
              <a:t>Web</a:t>
            </a:r>
            <a:r>
              <a:rPr kumimoji="1" lang="ja-JP" altLang="en-US" dirty="0"/>
              <a:t>アプリケーション開発についての打ち合わせログ</a:t>
            </a:r>
            <a:endParaRPr kumimoji="1" lang="en-US" altLang="ja-JP" dirty="0"/>
          </a:p>
          <a:p>
            <a:pPr lvl="1"/>
            <a:r>
              <a:rPr kumimoji="1" lang="ja-JP" altLang="en-US" dirty="0"/>
              <a:t>発言数</a:t>
            </a:r>
            <a:r>
              <a:rPr kumimoji="1" lang="en-US" altLang="ja-JP" dirty="0"/>
              <a:t>: 35</a:t>
            </a:r>
            <a:r>
              <a:rPr kumimoji="1" lang="ja-JP" altLang="en-US" dirty="0"/>
              <a:t>発言</a:t>
            </a:r>
            <a:endParaRPr kumimoji="1" lang="en-US" altLang="ja-JP" dirty="0"/>
          </a:p>
          <a:p>
            <a:pPr lvl="1"/>
            <a:r>
              <a:rPr lang="ja-JP" altLang="en-US" dirty="0"/>
              <a:t>参加者</a:t>
            </a:r>
            <a:r>
              <a:rPr lang="en-US" altLang="ja-JP" dirty="0"/>
              <a:t>: 4</a:t>
            </a:r>
            <a:r>
              <a:rPr lang="ja-JP" altLang="en-US" dirty="0"/>
              <a:t>名 </a:t>
            </a:r>
            <a:r>
              <a:rPr lang="en-US" altLang="ja-JP" dirty="0"/>
              <a:t>(PM, </a:t>
            </a:r>
            <a:r>
              <a:rPr lang="ja-JP" altLang="en-US" dirty="0"/>
              <a:t>クライアント</a:t>
            </a:r>
            <a:r>
              <a:rPr lang="en-US" altLang="ja-JP" dirty="0"/>
              <a:t>, </a:t>
            </a:r>
            <a:r>
              <a:rPr lang="ja-JP" altLang="en-US" dirty="0"/>
              <a:t>エンジニア</a:t>
            </a:r>
            <a:r>
              <a:rPr lang="en-US" altLang="ja-JP" dirty="0"/>
              <a:t>, </a:t>
            </a:r>
            <a:r>
              <a:rPr lang="ja-JP" altLang="en-US" dirty="0"/>
              <a:t>デザイナー</a:t>
            </a:r>
            <a:r>
              <a:rPr lang="en-US" altLang="ja-JP" dirty="0"/>
              <a:t>)</a:t>
            </a:r>
          </a:p>
          <a:p>
            <a:pPr lvl="1"/>
            <a:r>
              <a:rPr lang="ja-JP" altLang="en-US" dirty="0"/>
              <a:t>特徴</a:t>
            </a:r>
            <a:r>
              <a:rPr lang="en-US" altLang="ja-JP" dirty="0"/>
              <a:t>: </a:t>
            </a:r>
            <a:r>
              <a:rPr lang="ja-JP" altLang="en-US" dirty="0"/>
              <a:t>長期間での要件変更、明確な決定プロセス</a:t>
            </a:r>
            <a:endParaRPr lang="en-US" altLang="ja-JP" dirty="0"/>
          </a:p>
          <a:p>
            <a:pPr lvl="1"/>
            <a:endParaRPr lang="en-US" altLang="ja-JP" dirty="0"/>
          </a:p>
          <a:p>
            <a:r>
              <a:rPr lang="ja-JP" altLang="ja-JP" dirty="0"/>
              <a:t>ホテル・旅館業向けシステム開発</a:t>
            </a:r>
            <a:r>
              <a:rPr lang="ja-JP" altLang="en-US" dirty="0"/>
              <a:t>についての打ち合わせログ</a:t>
            </a:r>
            <a:endParaRPr lang="en-US" altLang="ja-JP" dirty="0"/>
          </a:p>
          <a:p>
            <a:pPr lvl="1"/>
            <a:r>
              <a:rPr lang="ja-JP" altLang="en-US" dirty="0"/>
              <a:t>発言数</a:t>
            </a:r>
            <a:r>
              <a:rPr lang="en-US" altLang="ja-JP" dirty="0"/>
              <a:t>: 48</a:t>
            </a:r>
            <a:r>
              <a:rPr lang="ja-JP" altLang="en-US" dirty="0"/>
              <a:t>発言</a:t>
            </a:r>
            <a:endParaRPr lang="en-US" altLang="ja-JP" dirty="0"/>
          </a:p>
          <a:p>
            <a:pPr lvl="1"/>
            <a:r>
              <a:rPr lang="ja-JP" altLang="en-US" dirty="0"/>
              <a:t>参加者</a:t>
            </a:r>
            <a:r>
              <a:rPr lang="en-US" altLang="ja-JP" dirty="0"/>
              <a:t>: 4</a:t>
            </a:r>
            <a:r>
              <a:rPr lang="ja-JP" altLang="en-US" dirty="0"/>
              <a:t>名 </a:t>
            </a:r>
            <a:r>
              <a:rPr lang="en-US" altLang="ja-JP" dirty="0"/>
              <a:t>(PM, </a:t>
            </a:r>
            <a:r>
              <a:rPr lang="ja-JP" altLang="en-US" dirty="0"/>
              <a:t>クライアント</a:t>
            </a:r>
            <a:r>
              <a:rPr lang="en-US" altLang="ja-JP" dirty="0"/>
              <a:t>, </a:t>
            </a:r>
            <a:r>
              <a:rPr lang="ja-JP" altLang="en-US" dirty="0"/>
              <a:t>エンジニア</a:t>
            </a:r>
            <a:r>
              <a:rPr lang="en-US" altLang="ja-JP" dirty="0"/>
              <a:t>, </a:t>
            </a:r>
            <a:r>
              <a:rPr lang="ja-JP" altLang="en-US" dirty="0"/>
              <a:t>デザイナー</a:t>
            </a:r>
            <a:r>
              <a:rPr lang="en-US" altLang="ja-JP" dirty="0"/>
              <a:t>)</a:t>
            </a:r>
          </a:p>
          <a:p>
            <a:pPr lvl="1"/>
            <a:r>
              <a:rPr lang="ja-JP" altLang="en-US" dirty="0"/>
              <a:t>特徴</a:t>
            </a:r>
            <a:r>
              <a:rPr lang="en-US" altLang="ja-JP" dirty="0"/>
              <a:t>: </a:t>
            </a:r>
            <a:r>
              <a:rPr lang="ja-JP" altLang="en-US" dirty="0"/>
              <a:t>短期間での集中的議論、複雑な機能要求</a:t>
            </a:r>
            <a:endParaRPr lang="en-US" altLang="ja-JP" dirty="0"/>
          </a:p>
          <a:p>
            <a:pPr lvl="1"/>
            <a:endParaRPr kumimoji="1" lang="ja-JP" altLang="en-US" dirty="0"/>
          </a:p>
        </p:txBody>
      </p:sp>
      <p:sp>
        <p:nvSpPr>
          <p:cNvPr id="4" name="スライド番号プレースホルダー 3">
            <a:extLst>
              <a:ext uri="{FF2B5EF4-FFF2-40B4-BE49-F238E27FC236}">
                <a16:creationId xmlns:a16="http://schemas.microsoft.com/office/drawing/2014/main" id="{3062D527-0B2D-5CD3-27C0-94F3646EE514}"/>
              </a:ext>
            </a:extLst>
          </p:cNvPr>
          <p:cNvSpPr>
            <a:spLocks noGrp="1"/>
          </p:cNvSpPr>
          <p:nvPr>
            <p:ph type="sldNum" sz="quarter" idx="12"/>
          </p:nvPr>
        </p:nvSpPr>
        <p:spPr/>
        <p:txBody>
          <a:bodyPr/>
          <a:lstStyle/>
          <a:p>
            <a:fld id="{F32C8F3A-98E9-46B1-BAC9-77D093337233}" type="slidenum">
              <a:rPr kumimoji="1" lang="ja-JP" altLang="en-US" smtClean="0"/>
              <a:t>9</a:t>
            </a:fld>
            <a:endParaRPr kumimoji="1" lang="ja-JP" altLang="en-US"/>
          </a:p>
        </p:txBody>
      </p:sp>
    </p:spTree>
    <p:extLst>
      <p:ext uri="{BB962C8B-B14F-4D97-AF65-F5344CB8AC3E}">
        <p14:creationId xmlns:p14="http://schemas.microsoft.com/office/powerpoint/2010/main" val="33759116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F8D795F-3571-2932-A553-AFB3741A5F0A}"/>
              </a:ext>
            </a:extLst>
          </p:cNvPr>
          <p:cNvSpPr>
            <a:spLocks noGrp="1"/>
          </p:cNvSpPr>
          <p:nvPr>
            <p:ph type="title"/>
          </p:nvPr>
        </p:nvSpPr>
        <p:spPr/>
        <p:txBody>
          <a:bodyPr/>
          <a:lstStyle/>
          <a:p>
            <a:r>
              <a:rPr lang="ja-JP" altLang="en-US" dirty="0"/>
              <a:t>① </a:t>
            </a:r>
            <a:r>
              <a:rPr lang="en-US" altLang="ja-JP" dirty="0"/>
              <a:t>JSON</a:t>
            </a:r>
            <a:r>
              <a:rPr lang="ja-JP" altLang="en-US" dirty="0"/>
              <a:t>入力</a:t>
            </a:r>
            <a:r>
              <a:rPr lang="en-US" altLang="ja-JP" dirty="0"/>
              <a:t>+</a:t>
            </a:r>
            <a:r>
              <a:rPr kumimoji="1" lang="ja-JP" altLang="en-US" dirty="0"/>
              <a:t>② 分類ラベルの付与</a:t>
            </a:r>
          </a:p>
        </p:txBody>
      </p:sp>
      <p:sp>
        <p:nvSpPr>
          <p:cNvPr id="3" name="コンテンツ プレースホルダー 2">
            <a:extLst>
              <a:ext uri="{FF2B5EF4-FFF2-40B4-BE49-F238E27FC236}">
                <a16:creationId xmlns:a16="http://schemas.microsoft.com/office/drawing/2014/main" id="{9FD9FBC1-780C-9F71-1BA4-3865D9D0CB7B}"/>
              </a:ext>
            </a:extLst>
          </p:cNvPr>
          <p:cNvSpPr>
            <a:spLocks noGrp="1"/>
          </p:cNvSpPr>
          <p:nvPr>
            <p:ph idx="1"/>
          </p:nvPr>
        </p:nvSpPr>
        <p:spPr/>
        <p:txBody>
          <a:bodyPr/>
          <a:lstStyle/>
          <a:p>
            <a:pPr marL="0" indent="0">
              <a:buNone/>
            </a:pPr>
            <a:r>
              <a:rPr kumimoji="1" lang="ja-JP" altLang="en-US" dirty="0"/>
              <a:t>目的</a:t>
            </a:r>
            <a:r>
              <a:rPr kumimoji="1" lang="en-US" altLang="ja-JP" dirty="0"/>
              <a:t>: </a:t>
            </a:r>
          </a:p>
          <a:p>
            <a:pPr marL="0" indent="0">
              <a:buNone/>
            </a:pPr>
            <a:r>
              <a:rPr kumimoji="1" lang="ja-JP" altLang="en-US" dirty="0"/>
              <a:t>ラベル付けをして、情報の分析を行い、機能とノイズを識別する</a:t>
            </a:r>
            <a:endParaRPr kumimoji="1" lang="en-US" altLang="ja-JP" dirty="0"/>
          </a:p>
          <a:p>
            <a:pPr marL="0" indent="0">
              <a:buNone/>
            </a:pPr>
            <a:endParaRPr lang="en-US" altLang="ja-JP" dirty="0"/>
          </a:p>
          <a:p>
            <a:pPr marL="0" indent="0">
              <a:buNone/>
            </a:pPr>
            <a:r>
              <a:rPr kumimoji="1" lang="ja-JP" altLang="en-US" dirty="0"/>
              <a:t>入力</a:t>
            </a:r>
            <a:r>
              <a:rPr kumimoji="1" lang="en-US" altLang="ja-JP" dirty="0"/>
              <a:t>: </a:t>
            </a:r>
            <a:r>
              <a:rPr kumimoji="1" lang="ja-JP" altLang="en-US" dirty="0"/>
              <a:t>データ</a:t>
            </a:r>
            <a:r>
              <a:rPr kumimoji="1" lang="en-US" altLang="ja-JP" dirty="0"/>
              <a:t>JSON</a:t>
            </a:r>
          </a:p>
          <a:p>
            <a:pPr marL="0" indent="0">
              <a:buNone/>
            </a:pPr>
            <a:r>
              <a:rPr lang="ja-JP" altLang="en-US" dirty="0"/>
              <a:t>出力</a:t>
            </a:r>
            <a:r>
              <a:rPr lang="en-US" altLang="ja-JP" dirty="0"/>
              <a:t>: </a:t>
            </a:r>
            <a:r>
              <a:rPr lang="ja-JP" altLang="en-US" dirty="0"/>
              <a:t>中間</a:t>
            </a:r>
            <a:r>
              <a:rPr lang="en-US" altLang="ja-JP" dirty="0"/>
              <a:t>JSON(</a:t>
            </a:r>
            <a:r>
              <a:rPr lang="ja-JP" altLang="en-US" dirty="0"/>
              <a:t>ラベル付与</a:t>
            </a:r>
            <a:r>
              <a:rPr lang="en-US" altLang="ja-JP" dirty="0"/>
              <a:t>)</a:t>
            </a:r>
            <a:endParaRPr kumimoji="1" lang="en-US" altLang="ja-JP" dirty="0"/>
          </a:p>
          <a:p>
            <a:pPr marL="0" indent="0">
              <a:buNone/>
            </a:pPr>
            <a:endParaRPr lang="en-US" altLang="ja-JP" dirty="0"/>
          </a:p>
          <a:p>
            <a:pPr marL="0" indent="0">
              <a:buNone/>
            </a:pPr>
            <a:r>
              <a:rPr kumimoji="1" lang="ja-JP" altLang="en-US" dirty="0"/>
              <a:t>ラベル定義</a:t>
            </a:r>
            <a:r>
              <a:rPr kumimoji="1" lang="en-US" altLang="ja-JP" dirty="0"/>
              <a:t>: decision/proposal/question/chitchat/other</a:t>
            </a:r>
          </a:p>
          <a:p>
            <a:pPr marL="0" indent="0">
              <a:buNone/>
            </a:pPr>
            <a:r>
              <a:rPr kumimoji="1" lang="ja-JP" altLang="en-US" dirty="0"/>
              <a:t>設定</a:t>
            </a:r>
            <a:r>
              <a:rPr kumimoji="1" lang="en-US" altLang="ja-JP" dirty="0"/>
              <a:t>: temperature=0.2</a:t>
            </a:r>
            <a:endParaRPr kumimoji="1" lang="ja-JP" altLang="en-US" dirty="0"/>
          </a:p>
        </p:txBody>
      </p:sp>
      <p:sp>
        <p:nvSpPr>
          <p:cNvPr id="4" name="スライド番号プレースホルダー 3">
            <a:extLst>
              <a:ext uri="{FF2B5EF4-FFF2-40B4-BE49-F238E27FC236}">
                <a16:creationId xmlns:a16="http://schemas.microsoft.com/office/drawing/2014/main" id="{BD02FA91-04BC-946F-88F6-711FEBDD004A}"/>
              </a:ext>
            </a:extLst>
          </p:cNvPr>
          <p:cNvSpPr>
            <a:spLocks noGrp="1"/>
          </p:cNvSpPr>
          <p:nvPr>
            <p:ph type="sldNum" sz="quarter" idx="12"/>
          </p:nvPr>
        </p:nvSpPr>
        <p:spPr/>
        <p:txBody>
          <a:bodyPr/>
          <a:lstStyle/>
          <a:p>
            <a:fld id="{F32C8F3A-98E9-46B1-BAC9-77D093337233}" type="slidenum">
              <a:rPr kumimoji="1" lang="ja-JP" altLang="en-US" smtClean="0"/>
              <a:t>10</a:t>
            </a:fld>
            <a:endParaRPr kumimoji="1" lang="ja-JP" altLang="en-US"/>
          </a:p>
        </p:txBody>
      </p:sp>
    </p:spTree>
    <p:extLst>
      <p:ext uri="{BB962C8B-B14F-4D97-AF65-F5344CB8AC3E}">
        <p14:creationId xmlns:p14="http://schemas.microsoft.com/office/powerpoint/2010/main" val="11210977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7DA839-E95E-908B-711A-361B862C3C9C}"/>
              </a:ext>
            </a:extLst>
          </p:cNvPr>
          <p:cNvSpPr>
            <a:spLocks noGrp="1"/>
          </p:cNvSpPr>
          <p:nvPr>
            <p:ph type="title"/>
          </p:nvPr>
        </p:nvSpPr>
        <p:spPr/>
        <p:txBody>
          <a:bodyPr/>
          <a:lstStyle/>
          <a:p>
            <a:r>
              <a:rPr kumimoji="1" lang="ja-JP" altLang="en-US" dirty="0"/>
              <a:t>③ 決定事項の抽出</a:t>
            </a:r>
            <a:r>
              <a:rPr kumimoji="1" lang="en-US" altLang="ja-JP" dirty="0"/>
              <a:t>+</a:t>
            </a:r>
            <a:r>
              <a:rPr kumimoji="1" lang="ja-JP" altLang="en-US" dirty="0"/>
              <a:t>④ テンプレート出力 </a:t>
            </a:r>
          </a:p>
        </p:txBody>
      </p:sp>
      <p:sp>
        <p:nvSpPr>
          <p:cNvPr id="3" name="コンテンツ プレースホルダー 2">
            <a:extLst>
              <a:ext uri="{FF2B5EF4-FFF2-40B4-BE49-F238E27FC236}">
                <a16:creationId xmlns:a16="http://schemas.microsoft.com/office/drawing/2014/main" id="{14B658B0-79D1-D7D5-BE9D-C61CB13398E8}"/>
              </a:ext>
            </a:extLst>
          </p:cNvPr>
          <p:cNvSpPr>
            <a:spLocks noGrp="1"/>
          </p:cNvSpPr>
          <p:nvPr>
            <p:ph idx="1"/>
          </p:nvPr>
        </p:nvSpPr>
        <p:spPr>
          <a:xfrm>
            <a:off x="838199" y="1825625"/>
            <a:ext cx="10872537" cy="4351338"/>
          </a:xfrm>
        </p:spPr>
        <p:txBody>
          <a:bodyPr/>
          <a:lstStyle/>
          <a:p>
            <a:pPr marL="0" indent="0">
              <a:buNone/>
            </a:pPr>
            <a:r>
              <a:rPr kumimoji="1" lang="ja-JP" altLang="en-US" dirty="0"/>
              <a:t>目的</a:t>
            </a:r>
            <a:r>
              <a:rPr kumimoji="1" lang="en-US" altLang="ja-JP" dirty="0"/>
              <a:t>:</a:t>
            </a:r>
          </a:p>
          <a:p>
            <a:pPr marL="0" indent="0">
              <a:buNone/>
            </a:pPr>
            <a:r>
              <a:rPr lang="ja-JP" altLang="en-US" dirty="0"/>
              <a:t>②で出力したラベル付き</a:t>
            </a:r>
            <a:r>
              <a:rPr lang="en-US" altLang="ja-JP" dirty="0"/>
              <a:t>JSON</a:t>
            </a:r>
            <a:r>
              <a:rPr lang="ja-JP" altLang="en-US" dirty="0"/>
              <a:t>から、時系列と情報の整合化を行う</a:t>
            </a:r>
            <a:endParaRPr kumimoji="1" lang="en-US" altLang="ja-JP" dirty="0"/>
          </a:p>
          <a:p>
            <a:pPr marL="0" indent="0">
              <a:buNone/>
            </a:pPr>
            <a:endParaRPr lang="en-US" altLang="ja-JP" dirty="0"/>
          </a:p>
          <a:p>
            <a:pPr marL="0" indent="0">
              <a:buNone/>
            </a:pPr>
            <a:r>
              <a:rPr kumimoji="1" lang="ja-JP" altLang="en-US" dirty="0"/>
              <a:t>手法</a:t>
            </a:r>
            <a:r>
              <a:rPr kumimoji="1" lang="en-US" altLang="ja-JP" dirty="0"/>
              <a:t>:</a:t>
            </a:r>
          </a:p>
          <a:p>
            <a:r>
              <a:rPr kumimoji="1" lang="ja-JP" altLang="en-US" dirty="0"/>
              <a:t>中間</a:t>
            </a:r>
            <a:r>
              <a:rPr kumimoji="1" lang="en-US" altLang="ja-JP" dirty="0"/>
              <a:t>JSON</a:t>
            </a:r>
            <a:r>
              <a:rPr kumimoji="1" lang="ja-JP" altLang="en-US" dirty="0"/>
              <a:t>から</a:t>
            </a:r>
            <a:r>
              <a:rPr kumimoji="1" lang="en-US" altLang="ja-JP" dirty="0"/>
              <a:t>decision</a:t>
            </a:r>
            <a:r>
              <a:rPr kumimoji="1" lang="ja-JP" altLang="en-US" dirty="0"/>
              <a:t>ラベルを抽出</a:t>
            </a:r>
            <a:endParaRPr kumimoji="1" lang="en-US" altLang="ja-JP" dirty="0"/>
          </a:p>
          <a:p>
            <a:r>
              <a:rPr lang="en-US" altLang="ja-JP" dirty="0"/>
              <a:t>chitchat</a:t>
            </a:r>
            <a:r>
              <a:rPr lang="ja-JP" altLang="en-US" dirty="0"/>
              <a:t>ラベルを除去することでノイズを取り除く</a:t>
            </a:r>
            <a:endParaRPr lang="en-US" altLang="ja-JP" dirty="0"/>
          </a:p>
          <a:p>
            <a:r>
              <a:rPr lang="en-US" altLang="ja-JP" dirty="0"/>
              <a:t>Jinja2</a:t>
            </a:r>
            <a:r>
              <a:rPr lang="ja-JP" altLang="en-US" dirty="0"/>
              <a:t>より、テンプレートを指定し、書式の統一化を行う</a:t>
            </a:r>
            <a:endParaRPr lang="en-US" altLang="ja-JP" dirty="0"/>
          </a:p>
          <a:p>
            <a:endParaRPr kumimoji="1" lang="ja-JP" altLang="en-US" dirty="0"/>
          </a:p>
        </p:txBody>
      </p:sp>
      <p:sp>
        <p:nvSpPr>
          <p:cNvPr id="4" name="スライド番号プレースホルダー 3">
            <a:extLst>
              <a:ext uri="{FF2B5EF4-FFF2-40B4-BE49-F238E27FC236}">
                <a16:creationId xmlns:a16="http://schemas.microsoft.com/office/drawing/2014/main" id="{CB80E148-22FE-BF74-0A29-0379B4D12FA0}"/>
              </a:ext>
            </a:extLst>
          </p:cNvPr>
          <p:cNvSpPr>
            <a:spLocks noGrp="1"/>
          </p:cNvSpPr>
          <p:nvPr>
            <p:ph type="sldNum" sz="quarter" idx="12"/>
          </p:nvPr>
        </p:nvSpPr>
        <p:spPr/>
        <p:txBody>
          <a:bodyPr/>
          <a:lstStyle/>
          <a:p>
            <a:fld id="{F32C8F3A-98E9-46B1-BAC9-77D093337233}" type="slidenum">
              <a:rPr kumimoji="1" lang="ja-JP" altLang="en-US" smtClean="0"/>
              <a:t>11</a:t>
            </a:fld>
            <a:endParaRPr kumimoji="1" lang="ja-JP" altLang="en-US"/>
          </a:p>
        </p:txBody>
      </p:sp>
    </p:spTree>
    <p:extLst>
      <p:ext uri="{BB962C8B-B14F-4D97-AF65-F5344CB8AC3E}">
        <p14:creationId xmlns:p14="http://schemas.microsoft.com/office/powerpoint/2010/main" val="15020672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FA88E0-30F9-EB7C-4AA1-94D92B6AFC85}"/>
              </a:ext>
            </a:extLst>
          </p:cNvPr>
          <p:cNvSpPr>
            <a:spLocks noGrp="1"/>
          </p:cNvSpPr>
          <p:nvPr>
            <p:ph type="title"/>
          </p:nvPr>
        </p:nvSpPr>
        <p:spPr/>
        <p:txBody>
          <a:bodyPr/>
          <a:lstStyle/>
          <a:p>
            <a:r>
              <a:rPr kumimoji="1" lang="ja-JP" altLang="en-US" dirty="0"/>
              <a:t>比較①</a:t>
            </a:r>
            <a:r>
              <a:rPr kumimoji="1" lang="en-US" altLang="ja-JP" dirty="0"/>
              <a:t>: </a:t>
            </a:r>
            <a:r>
              <a:rPr lang="ja-JP" altLang="en-US" dirty="0"/>
              <a:t>素の</a:t>
            </a:r>
            <a:r>
              <a:rPr lang="en-US" altLang="ja-JP" dirty="0"/>
              <a:t>AI vs AI</a:t>
            </a:r>
            <a:r>
              <a:rPr lang="ja-JP" altLang="en-US" dirty="0"/>
              <a:t>プログラム</a:t>
            </a:r>
            <a:endParaRPr kumimoji="1" lang="ja-JP" altLang="en-US" dirty="0"/>
          </a:p>
        </p:txBody>
      </p:sp>
      <p:sp>
        <p:nvSpPr>
          <p:cNvPr id="3" name="コンテンツ プレースホルダー 2">
            <a:extLst>
              <a:ext uri="{FF2B5EF4-FFF2-40B4-BE49-F238E27FC236}">
                <a16:creationId xmlns:a16="http://schemas.microsoft.com/office/drawing/2014/main" id="{6FE68077-EA7A-F552-733B-BA7C7CFB7285}"/>
              </a:ext>
            </a:extLst>
          </p:cNvPr>
          <p:cNvSpPr>
            <a:spLocks noGrp="1"/>
          </p:cNvSpPr>
          <p:nvPr>
            <p:ph idx="1"/>
          </p:nvPr>
        </p:nvSpPr>
        <p:spPr/>
        <p:txBody>
          <a:bodyPr/>
          <a:lstStyle/>
          <a:p>
            <a:pPr marL="0" indent="0">
              <a:buNone/>
            </a:pPr>
            <a:r>
              <a:rPr kumimoji="1" lang="ja-JP" altLang="en-US" dirty="0"/>
              <a:t>それぞれ、</a:t>
            </a:r>
            <a:r>
              <a:rPr kumimoji="1" lang="en-US" altLang="ja-JP" dirty="0"/>
              <a:t>10</a:t>
            </a:r>
            <a:r>
              <a:rPr kumimoji="1" lang="ja-JP" altLang="en-US" dirty="0"/>
              <a:t>回行った平均の値を用いて比較する</a:t>
            </a:r>
          </a:p>
        </p:txBody>
      </p:sp>
      <p:sp>
        <p:nvSpPr>
          <p:cNvPr id="4" name="スライド番号プレースホルダー 3">
            <a:extLst>
              <a:ext uri="{FF2B5EF4-FFF2-40B4-BE49-F238E27FC236}">
                <a16:creationId xmlns:a16="http://schemas.microsoft.com/office/drawing/2014/main" id="{7ED792A9-450D-5492-EFDC-3A9EB610B0F9}"/>
              </a:ext>
            </a:extLst>
          </p:cNvPr>
          <p:cNvSpPr>
            <a:spLocks noGrp="1"/>
          </p:cNvSpPr>
          <p:nvPr>
            <p:ph type="sldNum" sz="quarter" idx="12"/>
          </p:nvPr>
        </p:nvSpPr>
        <p:spPr/>
        <p:txBody>
          <a:bodyPr/>
          <a:lstStyle/>
          <a:p>
            <a:fld id="{F32C8F3A-98E9-46B1-BAC9-77D093337233}" type="slidenum">
              <a:rPr kumimoji="1" lang="ja-JP" altLang="en-US" smtClean="0"/>
              <a:t>12</a:t>
            </a:fld>
            <a:endParaRPr kumimoji="1" lang="ja-JP" altLang="en-US"/>
          </a:p>
        </p:txBody>
      </p:sp>
      <p:graphicFrame>
        <p:nvGraphicFramePr>
          <p:cNvPr id="5" name="表 4">
            <a:extLst>
              <a:ext uri="{FF2B5EF4-FFF2-40B4-BE49-F238E27FC236}">
                <a16:creationId xmlns:a16="http://schemas.microsoft.com/office/drawing/2014/main" id="{C8CB1FA8-3109-497E-515A-B822D9D6D6BA}"/>
              </a:ext>
            </a:extLst>
          </p:cNvPr>
          <p:cNvGraphicFramePr>
            <a:graphicFrameLocks noGrp="1"/>
          </p:cNvGraphicFramePr>
          <p:nvPr>
            <p:extLst>
              <p:ext uri="{D42A27DB-BD31-4B8C-83A1-F6EECF244321}">
                <p14:modId xmlns:p14="http://schemas.microsoft.com/office/powerpoint/2010/main" val="404427518"/>
              </p:ext>
            </p:extLst>
          </p:nvPr>
        </p:nvGraphicFramePr>
        <p:xfrm>
          <a:off x="989263" y="2436171"/>
          <a:ext cx="10192083" cy="3775614"/>
        </p:xfrm>
        <a:graphic>
          <a:graphicData uri="http://schemas.openxmlformats.org/drawingml/2006/table">
            <a:tbl>
              <a:tblPr firstRow="1" bandRow="1">
                <a:tableStyleId>{5C22544A-7EE6-4342-B048-85BDC9FD1C3A}</a:tableStyleId>
              </a:tblPr>
              <a:tblGrid>
                <a:gridCol w="2540000">
                  <a:extLst>
                    <a:ext uri="{9D8B030D-6E8A-4147-A177-3AD203B41FA5}">
                      <a16:colId xmlns:a16="http://schemas.microsoft.com/office/drawing/2014/main" val="3578949869"/>
                    </a:ext>
                  </a:extLst>
                </a:gridCol>
                <a:gridCol w="3769895">
                  <a:extLst>
                    <a:ext uri="{9D8B030D-6E8A-4147-A177-3AD203B41FA5}">
                      <a16:colId xmlns:a16="http://schemas.microsoft.com/office/drawing/2014/main" val="6292362"/>
                    </a:ext>
                  </a:extLst>
                </a:gridCol>
                <a:gridCol w="3882188">
                  <a:extLst>
                    <a:ext uri="{9D8B030D-6E8A-4147-A177-3AD203B41FA5}">
                      <a16:colId xmlns:a16="http://schemas.microsoft.com/office/drawing/2014/main" val="3020801297"/>
                    </a:ext>
                  </a:extLst>
                </a:gridCol>
              </a:tblGrid>
              <a:tr h="575214">
                <a:tc>
                  <a:txBody>
                    <a:bodyPr/>
                    <a:lstStyle/>
                    <a:p>
                      <a:pPr algn="ctr"/>
                      <a:r>
                        <a:rPr kumimoji="1" lang="ja-JP" altLang="en-US" dirty="0"/>
                        <a:t>課題</a:t>
                      </a:r>
                    </a:p>
                  </a:txBody>
                  <a:tcPr anchor="ctr"/>
                </a:tc>
                <a:tc>
                  <a:txBody>
                    <a:bodyPr/>
                    <a:lstStyle/>
                    <a:p>
                      <a:pPr algn="ctr"/>
                      <a:r>
                        <a:rPr kumimoji="1" lang="ja-JP" altLang="en-US" dirty="0"/>
                        <a:t>素の</a:t>
                      </a:r>
                      <a:r>
                        <a:rPr kumimoji="1" lang="en-US" altLang="ja-JP" dirty="0"/>
                        <a:t>AI</a:t>
                      </a:r>
                      <a:endParaRPr kumimoji="1" lang="ja-JP" altLang="en-US" dirty="0"/>
                    </a:p>
                  </a:txBody>
                  <a:tcPr anchor="ctr"/>
                </a:tc>
                <a:tc>
                  <a:txBody>
                    <a:bodyPr/>
                    <a:lstStyle/>
                    <a:p>
                      <a:pPr algn="ctr"/>
                      <a:r>
                        <a:rPr kumimoji="1" lang="en-US" altLang="ja-JP" dirty="0"/>
                        <a:t>AI</a:t>
                      </a:r>
                      <a:r>
                        <a:rPr kumimoji="1" lang="ja-JP" altLang="en-US" dirty="0"/>
                        <a:t>プログラム</a:t>
                      </a:r>
                    </a:p>
                  </a:txBody>
                  <a:tcPr anchor="ctr"/>
                </a:tc>
                <a:extLst>
                  <a:ext uri="{0D108BD9-81ED-4DB2-BD59-A6C34878D82A}">
                    <a16:rowId xmlns:a16="http://schemas.microsoft.com/office/drawing/2014/main" val="2827808197"/>
                  </a:ext>
                </a:extLst>
              </a:tr>
              <a:tr h="575214">
                <a:tc>
                  <a:txBody>
                    <a:bodyPr/>
                    <a:lstStyle/>
                    <a:p>
                      <a:r>
                        <a:rPr kumimoji="1" lang="ja-JP" altLang="en-US" dirty="0"/>
                        <a:t>事実・推測の混同</a:t>
                      </a:r>
                      <a:endParaRPr kumimoji="1" lang="en-US" altLang="ja-JP" dirty="0"/>
                    </a:p>
                  </a:txBody>
                  <a:tcPr/>
                </a:tc>
                <a:tc>
                  <a:txBody>
                    <a:bodyPr/>
                    <a:lstStyle/>
                    <a:p>
                      <a:r>
                        <a:rPr kumimoji="1" lang="ja-JP" altLang="en-US" dirty="0"/>
                        <a:t>推測が混じった内容が見られる</a:t>
                      </a:r>
                    </a:p>
                  </a:txBody>
                  <a:tcPr/>
                </a:tc>
                <a:tc>
                  <a:txBody>
                    <a:bodyPr/>
                    <a:lstStyle/>
                    <a:p>
                      <a:r>
                        <a:rPr kumimoji="1" lang="ja-JP" altLang="en-US" dirty="0"/>
                        <a:t>抽出データに基づき、不要な推測が見られない</a:t>
                      </a:r>
                    </a:p>
                  </a:txBody>
                  <a:tcPr/>
                </a:tc>
                <a:extLst>
                  <a:ext uri="{0D108BD9-81ED-4DB2-BD59-A6C34878D82A}">
                    <a16:rowId xmlns:a16="http://schemas.microsoft.com/office/drawing/2014/main" val="425464009"/>
                  </a:ext>
                </a:extLst>
              </a:tr>
              <a:tr h="575214">
                <a:tc>
                  <a:txBody>
                    <a:bodyPr/>
                    <a:lstStyle/>
                    <a:p>
                      <a:r>
                        <a:rPr kumimoji="1" lang="ja-JP" altLang="en-US" dirty="0"/>
                        <a:t>項目の欠落</a:t>
                      </a:r>
                      <a:endParaRPr kumimoji="1" lang="en-US" altLang="ja-JP" dirty="0"/>
                    </a:p>
                  </a:txBody>
                  <a:tcPr/>
                </a:tc>
                <a:tc>
                  <a:txBody>
                    <a:bodyPr/>
                    <a:lstStyle/>
                    <a:p>
                      <a:r>
                        <a:rPr kumimoji="1" lang="ja-JP" altLang="en-US" dirty="0"/>
                        <a:t>項目数</a:t>
                      </a:r>
                      <a:r>
                        <a:rPr kumimoji="1" lang="en-US" altLang="ja-JP" dirty="0"/>
                        <a:t>9</a:t>
                      </a:r>
                      <a:r>
                        <a:rPr kumimoji="1" lang="ja-JP" altLang="en-US" dirty="0"/>
                        <a:t>に対し、抽出数が足りていない</a:t>
                      </a:r>
                    </a:p>
                  </a:txBody>
                  <a:tcPr/>
                </a:tc>
                <a:tc>
                  <a:txBody>
                    <a:bodyPr/>
                    <a:lstStyle/>
                    <a:p>
                      <a:r>
                        <a:rPr kumimoji="1" lang="ja-JP" altLang="en-US" dirty="0"/>
                        <a:t>平均抽出数が</a:t>
                      </a:r>
                      <a:r>
                        <a:rPr kumimoji="1" lang="en-US" altLang="ja-JP" dirty="0"/>
                        <a:t>9</a:t>
                      </a:r>
                      <a:r>
                        <a:rPr kumimoji="1" lang="ja-JP" altLang="en-US" dirty="0"/>
                        <a:t>であり、すべて抽出できている</a:t>
                      </a:r>
                    </a:p>
                  </a:txBody>
                  <a:tcPr/>
                </a:tc>
                <a:extLst>
                  <a:ext uri="{0D108BD9-81ED-4DB2-BD59-A6C34878D82A}">
                    <a16:rowId xmlns:a16="http://schemas.microsoft.com/office/drawing/2014/main" val="1454975348"/>
                  </a:ext>
                </a:extLst>
              </a:tr>
              <a:tr h="575214">
                <a:tc>
                  <a:txBody>
                    <a:bodyPr/>
                    <a:lstStyle/>
                    <a:p>
                      <a:r>
                        <a:rPr kumimoji="1" lang="ja-JP" altLang="en-US" dirty="0"/>
                        <a:t>項目の重複</a:t>
                      </a:r>
                      <a:endParaRPr kumimoji="1" lang="en-US" altLang="ja-JP" dirty="0"/>
                    </a:p>
                  </a:txBody>
                  <a:tcPr/>
                </a:tc>
                <a:tc>
                  <a:txBody>
                    <a:bodyPr/>
                    <a:lstStyle/>
                    <a:p>
                      <a:r>
                        <a:rPr kumimoji="1" lang="ja-JP" altLang="en-US" dirty="0"/>
                        <a:t>低頻度だが、時系列問題同様にみられる</a:t>
                      </a:r>
                    </a:p>
                  </a:txBody>
                  <a:tcPr/>
                </a:tc>
                <a:tc>
                  <a:txBody>
                    <a:bodyPr/>
                    <a:lstStyle/>
                    <a:p>
                      <a:r>
                        <a:rPr kumimoji="1" lang="ja-JP" altLang="en-US" dirty="0"/>
                        <a:t>項目の重複無し</a:t>
                      </a:r>
                    </a:p>
                  </a:txBody>
                  <a:tcPr/>
                </a:tc>
                <a:extLst>
                  <a:ext uri="{0D108BD9-81ED-4DB2-BD59-A6C34878D82A}">
                    <a16:rowId xmlns:a16="http://schemas.microsoft.com/office/drawing/2014/main" val="3884677753"/>
                  </a:ext>
                </a:extLst>
              </a:tr>
              <a:tr h="575214">
                <a:tc>
                  <a:txBody>
                    <a:bodyPr/>
                    <a:lstStyle/>
                    <a:p>
                      <a:r>
                        <a:rPr kumimoji="1" lang="ja-JP" altLang="en-US" dirty="0"/>
                        <a:t>時系列の乱れ</a:t>
                      </a:r>
                    </a:p>
                  </a:txBody>
                  <a:tcPr/>
                </a:tc>
                <a:tc>
                  <a:txBody>
                    <a:bodyPr/>
                    <a:lstStyle/>
                    <a:p>
                      <a:r>
                        <a:rPr kumimoji="1" lang="ja-JP" altLang="en-US" dirty="0"/>
                        <a:t>最新情報が抽出されておらず、過去の内容になっている</a:t>
                      </a:r>
                    </a:p>
                  </a:txBody>
                  <a:tcPr/>
                </a:tc>
                <a:tc>
                  <a:txBody>
                    <a:bodyPr/>
                    <a:lstStyle/>
                    <a:p>
                      <a:r>
                        <a:rPr kumimoji="1" lang="ja-JP" altLang="en-US" dirty="0"/>
                        <a:t>最新情報に置き換えられている</a:t>
                      </a:r>
                    </a:p>
                  </a:txBody>
                  <a:tcPr/>
                </a:tc>
                <a:extLst>
                  <a:ext uri="{0D108BD9-81ED-4DB2-BD59-A6C34878D82A}">
                    <a16:rowId xmlns:a16="http://schemas.microsoft.com/office/drawing/2014/main" val="3979855497"/>
                  </a:ext>
                </a:extLst>
              </a:tr>
              <a:tr h="575214">
                <a:tc>
                  <a:txBody>
                    <a:bodyPr/>
                    <a:lstStyle/>
                    <a:p>
                      <a:r>
                        <a:rPr kumimoji="1" lang="ja-JP" altLang="en-US" dirty="0"/>
                        <a:t>書式形式の非一貫性</a:t>
                      </a:r>
                    </a:p>
                  </a:txBody>
                  <a:tcPr/>
                </a:tc>
                <a:tc>
                  <a:txBody>
                    <a:bodyPr/>
                    <a:lstStyle/>
                    <a:p>
                      <a:r>
                        <a:rPr kumimoji="1" lang="ja-JP" altLang="en-US" dirty="0"/>
                        <a:t>箇条書きや番振り、テーブル形式など統一性が見られない</a:t>
                      </a:r>
                    </a:p>
                  </a:txBody>
                  <a:tcPr/>
                </a:tc>
                <a:tc>
                  <a:txBody>
                    <a:bodyPr/>
                    <a:lstStyle/>
                    <a:p>
                      <a:r>
                        <a:rPr kumimoji="1" lang="en-US" altLang="ja-JP" dirty="0"/>
                        <a:t>Jinja2</a:t>
                      </a:r>
                      <a:r>
                        <a:rPr kumimoji="1" lang="ja-JP" altLang="en-US" dirty="0"/>
                        <a:t>テンプレート通りすべて同じ書式で出力された</a:t>
                      </a:r>
                    </a:p>
                  </a:txBody>
                  <a:tcPr/>
                </a:tc>
                <a:extLst>
                  <a:ext uri="{0D108BD9-81ED-4DB2-BD59-A6C34878D82A}">
                    <a16:rowId xmlns:a16="http://schemas.microsoft.com/office/drawing/2014/main" val="2547477151"/>
                  </a:ext>
                </a:extLst>
              </a:tr>
            </a:tbl>
          </a:graphicData>
        </a:graphic>
      </p:graphicFrame>
    </p:spTree>
    <p:extLst>
      <p:ext uri="{BB962C8B-B14F-4D97-AF65-F5344CB8AC3E}">
        <p14:creationId xmlns:p14="http://schemas.microsoft.com/office/powerpoint/2010/main" val="36717957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EBC5C0-DAEB-24D4-71E9-F99F7953C98F}"/>
              </a:ext>
            </a:extLst>
          </p:cNvPr>
          <p:cNvSpPr>
            <a:spLocks noGrp="1"/>
          </p:cNvSpPr>
          <p:nvPr>
            <p:ph type="title"/>
          </p:nvPr>
        </p:nvSpPr>
        <p:spPr/>
        <p:txBody>
          <a:bodyPr/>
          <a:lstStyle/>
          <a:p>
            <a:r>
              <a:rPr kumimoji="1" lang="ja-JP" altLang="en-US" dirty="0"/>
              <a:t>比較②</a:t>
            </a:r>
            <a:r>
              <a:rPr kumimoji="1" lang="en-US" altLang="ja-JP" dirty="0"/>
              <a:t>: AI</a:t>
            </a:r>
            <a:r>
              <a:rPr kumimoji="1" lang="ja-JP" altLang="en-US" dirty="0"/>
              <a:t>プログラム </a:t>
            </a:r>
            <a:r>
              <a:rPr kumimoji="1" lang="en-US" altLang="ja-JP" dirty="0"/>
              <a:t>vs </a:t>
            </a:r>
            <a:r>
              <a:rPr kumimoji="1" lang="ja-JP" altLang="en-US" dirty="0"/>
              <a:t>人手作成</a:t>
            </a:r>
          </a:p>
        </p:txBody>
      </p:sp>
      <p:sp>
        <p:nvSpPr>
          <p:cNvPr id="3" name="コンテンツ プレースホルダー 2">
            <a:extLst>
              <a:ext uri="{FF2B5EF4-FFF2-40B4-BE49-F238E27FC236}">
                <a16:creationId xmlns:a16="http://schemas.microsoft.com/office/drawing/2014/main" id="{DC231956-0386-AC71-349D-7E4E3CA93C1D}"/>
              </a:ext>
            </a:extLst>
          </p:cNvPr>
          <p:cNvSpPr>
            <a:spLocks noGrp="1"/>
          </p:cNvSpPr>
          <p:nvPr>
            <p:ph idx="1"/>
          </p:nvPr>
        </p:nvSpPr>
        <p:spPr/>
        <p:txBody>
          <a:bodyPr/>
          <a:lstStyle/>
          <a:p>
            <a:pPr marL="0" indent="0">
              <a:buNone/>
            </a:pPr>
            <a:r>
              <a:rPr kumimoji="1" lang="en-US" altLang="ja-JP" dirty="0"/>
              <a:t>AI</a:t>
            </a:r>
            <a:r>
              <a:rPr kumimoji="1" lang="ja-JP" altLang="en-US" dirty="0"/>
              <a:t>プログラムは</a:t>
            </a:r>
            <a:r>
              <a:rPr kumimoji="1" lang="en-US" altLang="ja-JP" dirty="0"/>
              <a:t>10</a:t>
            </a:r>
            <a:r>
              <a:rPr kumimoji="1" lang="ja-JP" altLang="en-US" dirty="0"/>
              <a:t>回行った平均を用いて、人手作成と比較する</a:t>
            </a:r>
          </a:p>
        </p:txBody>
      </p:sp>
      <p:sp>
        <p:nvSpPr>
          <p:cNvPr id="4" name="スライド番号プレースホルダー 3">
            <a:extLst>
              <a:ext uri="{FF2B5EF4-FFF2-40B4-BE49-F238E27FC236}">
                <a16:creationId xmlns:a16="http://schemas.microsoft.com/office/drawing/2014/main" id="{E045C1DE-5D0D-14BF-4F80-D0766FB6C07C}"/>
              </a:ext>
            </a:extLst>
          </p:cNvPr>
          <p:cNvSpPr>
            <a:spLocks noGrp="1"/>
          </p:cNvSpPr>
          <p:nvPr>
            <p:ph type="sldNum" sz="quarter" idx="12"/>
          </p:nvPr>
        </p:nvSpPr>
        <p:spPr/>
        <p:txBody>
          <a:bodyPr/>
          <a:lstStyle/>
          <a:p>
            <a:fld id="{F32C8F3A-98E9-46B1-BAC9-77D093337233}" type="slidenum">
              <a:rPr kumimoji="1" lang="ja-JP" altLang="en-US" smtClean="0"/>
              <a:t>13</a:t>
            </a:fld>
            <a:endParaRPr kumimoji="1" lang="ja-JP" altLang="en-US"/>
          </a:p>
        </p:txBody>
      </p:sp>
      <p:graphicFrame>
        <p:nvGraphicFramePr>
          <p:cNvPr id="5" name="表 4">
            <a:extLst>
              <a:ext uri="{FF2B5EF4-FFF2-40B4-BE49-F238E27FC236}">
                <a16:creationId xmlns:a16="http://schemas.microsoft.com/office/drawing/2014/main" id="{DF3C60AB-F39D-2151-9024-CC0079202467}"/>
              </a:ext>
            </a:extLst>
          </p:cNvPr>
          <p:cNvGraphicFramePr>
            <a:graphicFrameLocks noGrp="1"/>
          </p:cNvGraphicFramePr>
          <p:nvPr>
            <p:extLst>
              <p:ext uri="{D42A27DB-BD31-4B8C-83A1-F6EECF244321}">
                <p14:modId xmlns:p14="http://schemas.microsoft.com/office/powerpoint/2010/main" val="60409993"/>
              </p:ext>
            </p:extLst>
          </p:nvPr>
        </p:nvGraphicFramePr>
        <p:xfrm>
          <a:off x="989263" y="2436171"/>
          <a:ext cx="10192083" cy="3763283"/>
        </p:xfrm>
        <a:graphic>
          <a:graphicData uri="http://schemas.openxmlformats.org/drawingml/2006/table">
            <a:tbl>
              <a:tblPr firstRow="1" bandRow="1">
                <a:tableStyleId>{5C22544A-7EE6-4342-B048-85BDC9FD1C3A}</a:tableStyleId>
              </a:tblPr>
              <a:tblGrid>
                <a:gridCol w="2540000">
                  <a:extLst>
                    <a:ext uri="{9D8B030D-6E8A-4147-A177-3AD203B41FA5}">
                      <a16:colId xmlns:a16="http://schemas.microsoft.com/office/drawing/2014/main" val="3578949869"/>
                    </a:ext>
                  </a:extLst>
                </a:gridCol>
                <a:gridCol w="3769895">
                  <a:extLst>
                    <a:ext uri="{9D8B030D-6E8A-4147-A177-3AD203B41FA5}">
                      <a16:colId xmlns:a16="http://schemas.microsoft.com/office/drawing/2014/main" val="6292362"/>
                    </a:ext>
                  </a:extLst>
                </a:gridCol>
                <a:gridCol w="3882188">
                  <a:extLst>
                    <a:ext uri="{9D8B030D-6E8A-4147-A177-3AD203B41FA5}">
                      <a16:colId xmlns:a16="http://schemas.microsoft.com/office/drawing/2014/main" val="3020801297"/>
                    </a:ext>
                  </a:extLst>
                </a:gridCol>
              </a:tblGrid>
              <a:tr h="656681">
                <a:tc>
                  <a:txBody>
                    <a:bodyPr/>
                    <a:lstStyle/>
                    <a:p>
                      <a:pPr algn="ctr"/>
                      <a:r>
                        <a:rPr kumimoji="1" lang="ja-JP" altLang="en-US" dirty="0"/>
                        <a:t>課題</a:t>
                      </a:r>
                    </a:p>
                  </a:txBody>
                  <a:tcPr anchor="ctr"/>
                </a:tc>
                <a:tc>
                  <a:txBody>
                    <a:bodyPr/>
                    <a:lstStyle/>
                    <a:p>
                      <a:pPr algn="ctr"/>
                      <a:r>
                        <a:rPr kumimoji="1" lang="en-US" altLang="ja-JP" dirty="0"/>
                        <a:t>AI</a:t>
                      </a:r>
                      <a:r>
                        <a:rPr kumimoji="1" lang="ja-JP" altLang="en-US" dirty="0"/>
                        <a:t>プログラム</a:t>
                      </a:r>
                    </a:p>
                  </a:txBody>
                  <a:tcPr anchor="ctr"/>
                </a:tc>
                <a:tc>
                  <a:txBody>
                    <a:bodyPr/>
                    <a:lstStyle/>
                    <a:p>
                      <a:pPr algn="ctr"/>
                      <a:r>
                        <a:rPr kumimoji="1" lang="ja-JP" altLang="en-US" dirty="0"/>
                        <a:t>人手作成</a:t>
                      </a:r>
                    </a:p>
                  </a:txBody>
                  <a:tcPr anchor="ctr"/>
                </a:tc>
                <a:extLst>
                  <a:ext uri="{0D108BD9-81ED-4DB2-BD59-A6C34878D82A}">
                    <a16:rowId xmlns:a16="http://schemas.microsoft.com/office/drawing/2014/main" val="2827808197"/>
                  </a:ext>
                </a:extLst>
              </a:tr>
              <a:tr h="730734">
                <a:tc>
                  <a:txBody>
                    <a:bodyPr/>
                    <a:lstStyle/>
                    <a:p>
                      <a:r>
                        <a:rPr kumimoji="1" lang="ja-JP" altLang="en-US" dirty="0"/>
                        <a:t>コスト・スピードの課題</a:t>
                      </a:r>
                      <a:endParaRPr kumimoji="1" lang="en-US" altLang="ja-JP" dirty="0"/>
                    </a:p>
                  </a:txBody>
                  <a:tcPr/>
                </a:tc>
                <a:tc>
                  <a:txBody>
                    <a:bodyPr/>
                    <a:lstStyle/>
                    <a:p>
                      <a:r>
                        <a:rPr kumimoji="1" lang="ja-JP" altLang="en-US" dirty="0"/>
                        <a:t>データ入力から出力まで、平均</a:t>
                      </a:r>
                      <a:r>
                        <a:rPr kumimoji="1" lang="en-US" altLang="ja-JP" dirty="0"/>
                        <a:t>9.3</a:t>
                      </a:r>
                      <a:r>
                        <a:rPr kumimoji="1" lang="ja-JP" altLang="en-US" dirty="0"/>
                        <a:t>分</a:t>
                      </a:r>
                    </a:p>
                  </a:txBody>
                  <a:tcPr/>
                </a:tc>
                <a:tc>
                  <a:txBody>
                    <a:bodyPr/>
                    <a:lstStyle/>
                    <a:p>
                      <a:r>
                        <a:rPr kumimoji="1" lang="ja-JP" altLang="en-US" dirty="0"/>
                        <a:t>要求仕様書作成まで約</a:t>
                      </a:r>
                      <a:r>
                        <a:rPr kumimoji="1" lang="en-US" altLang="ja-JP" dirty="0"/>
                        <a:t>3</a:t>
                      </a:r>
                      <a:r>
                        <a:rPr kumimoji="1" lang="ja-JP" altLang="en-US" dirty="0"/>
                        <a:t>時間</a:t>
                      </a:r>
                    </a:p>
                  </a:txBody>
                  <a:tcPr/>
                </a:tc>
                <a:extLst>
                  <a:ext uri="{0D108BD9-81ED-4DB2-BD59-A6C34878D82A}">
                    <a16:rowId xmlns:a16="http://schemas.microsoft.com/office/drawing/2014/main" val="425464009"/>
                  </a:ext>
                </a:extLst>
              </a:tr>
              <a:tr h="730734">
                <a:tc>
                  <a:txBody>
                    <a:bodyPr/>
                    <a:lstStyle/>
                    <a:p>
                      <a:r>
                        <a:rPr kumimoji="1" lang="ja-JP" altLang="en-US" dirty="0"/>
                        <a:t>主観バイアスと選択的要約の課題</a:t>
                      </a:r>
                      <a:endParaRPr kumimoji="1" lang="en-US" altLang="ja-JP" dirty="0"/>
                    </a:p>
                  </a:txBody>
                  <a:tcPr/>
                </a:tc>
                <a:tc>
                  <a:txBody>
                    <a:bodyPr/>
                    <a:lstStyle/>
                    <a:p>
                      <a:r>
                        <a:rPr kumimoji="1" lang="ja-JP" altLang="en-US" dirty="0"/>
                        <a:t>データ全体に基づいた内容になっている</a:t>
                      </a:r>
                    </a:p>
                  </a:txBody>
                  <a:tcPr/>
                </a:tc>
                <a:tc>
                  <a:txBody>
                    <a:bodyPr/>
                    <a:lstStyle/>
                    <a:p>
                      <a:r>
                        <a:rPr kumimoji="1" lang="ja-JP" altLang="en-US" dirty="0"/>
                        <a:t>直近優先度に応じたバイアスがかかる</a:t>
                      </a:r>
                    </a:p>
                  </a:txBody>
                  <a:tcPr/>
                </a:tc>
                <a:extLst>
                  <a:ext uri="{0D108BD9-81ED-4DB2-BD59-A6C34878D82A}">
                    <a16:rowId xmlns:a16="http://schemas.microsoft.com/office/drawing/2014/main" val="1454975348"/>
                  </a:ext>
                </a:extLst>
              </a:tr>
              <a:tr h="730734">
                <a:tc>
                  <a:txBody>
                    <a:bodyPr/>
                    <a:lstStyle/>
                    <a:p>
                      <a:r>
                        <a:rPr kumimoji="1" lang="ja-JP" altLang="en-US" dirty="0"/>
                        <a:t>形式・粒度の不一致</a:t>
                      </a:r>
                    </a:p>
                  </a:txBody>
                  <a:tcPr/>
                </a:tc>
                <a:tc>
                  <a:txBody>
                    <a:bodyPr/>
                    <a:lstStyle/>
                    <a:p>
                      <a:r>
                        <a:rPr kumimoji="1" lang="ja-JP" altLang="en-US" dirty="0"/>
                        <a:t>テンプレート通りの出力</a:t>
                      </a:r>
                    </a:p>
                  </a:txBody>
                  <a:tcPr/>
                </a:tc>
                <a:tc>
                  <a:txBody>
                    <a:bodyPr/>
                    <a:lstStyle/>
                    <a:p>
                      <a:r>
                        <a:rPr kumimoji="1" lang="ja-JP" altLang="en-US" dirty="0"/>
                        <a:t>作成者によって、書式が異なる場合がある</a:t>
                      </a:r>
                    </a:p>
                  </a:txBody>
                  <a:tcPr/>
                </a:tc>
                <a:extLst>
                  <a:ext uri="{0D108BD9-81ED-4DB2-BD59-A6C34878D82A}">
                    <a16:rowId xmlns:a16="http://schemas.microsoft.com/office/drawing/2014/main" val="3884677753"/>
                  </a:ext>
                </a:extLst>
              </a:tr>
              <a:tr h="730734">
                <a:tc>
                  <a:txBody>
                    <a:bodyPr/>
                    <a:lstStyle/>
                    <a:p>
                      <a:r>
                        <a:rPr kumimoji="1" lang="ja-JP" altLang="en-US" dirty="0"/>
                        <a:t>単純ミスの多発</a:t>
                      </a:r>
                    </a:p>
                  </a:txBody>
                  <a:tcPr/>
                </a:tc>
                <a:tc>
                  <a:txBody>
                    <a:bodyPr/>
                    <a:lstStyle/>
                    <a:p>
                      <a:r>
                        <a:rPr kumimoji="1" lang="ja-JP" altLang="en-US" dirty="0"/>
                        <a:t>データからの抽出により、数値等の出力ミスは見られなかった</a:t>
                      </a:r>
                    </a:p>
                  </a:txBody>
                  <a:tcPr/>
                </a:tc>
                <a:tc>
                  <a:txBody>
                    <a:bodyPr/>
                    <a:lstStyle/>
                    <a:p>
                      <a:r>
                        <a:rPr kumimoji="1" lang="ja-JP" altLang="en-US" dirty="0"/>
                        <a:t>データ数が多い、変更が行われている場合に誤った情報が混じるケースがある</a:t>
                      </a:r>
                    </a:p>
                  </a:txBody>
                  <a:tcPr/>
                </a:tc>
                <a:extLst>
                  <a:ext uri="{0D108BD9-81ED-4DB2-BD59-A6C34878D82A}">
                    <a16:rowId xmlns:a16="http://schemas.microsoft.com/office/drawing/2014/main" val="3979855497"/>
                  </a:ext>
                </a:extLst>
              </a:tr>
            </a:tbl>
          </a:graphicData>
        </a:graphic>
      </p:graphicFrame>
    </p:spTree>
    <p:extLst>
      <p:ext uri="{BB962C8B-B14F-4D97-AF65-F5344CB8AC3E}">
        <p14:creationId xmlns:p14="http://schemas.microsoft.com/office/powerpoint/2010/main" val="6906939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70B8726-2F14-6E86-3EE0-073DC0749652}"/>
              </a:ext>
            </a:extLst>
          </p:cNvPr>
          <p:cNvSpPr>
            <a:spLocks noGrp="1"/>
          </p:cNvSpPr>
          <p:nvPr>
            <p:ph type="title"/>
          </p:nvPr>
        </p:nvSpPr>
        <p:spPr/>
        <p:txBody>
          <a:bodyPr/>
          <a:lstStyle/>
          <a:p>
            <a:r>
              <a:rPr kumimoji="1" lang="ja-JP" altLang="en-US" dirty="0"/>
              <a:t>評価まとめ</a:t>
            </a:r>
          </a:p>
        </p:txBody>
      </p:sp>
      <p:sp>
        <p:nvSpPr>
          <p:cNvPr id="3" name="コンテンツ プレースホルダー 2">
            <a:extLst>
              <a:ext uri="{FF2B5EF4-FFF2-40B4-BE49-F238E27FC236}">
                <a16:creationId xmlns:a16="http://schemas.microsoft.com/office/drawing/2014/main" id="{91A01277-3616-851A-7BBC-AF5B59E4B1C4}"/>
              </a:ext>
            </a:extLst>
          </p:cNvPr>
          <p:cNvSpPr>
            <a:spLocks noGrp="1"/>
          </p:cNvSpPr>
          <p:nvPr>
            <p:ph idx="1"/>
          </p:nvPr>
        </p:nvSpPr>
        <p:spPr/>
        <p:txBody>
          <a:bodyPr/>
          <a:lstStyle/>
          <a:p>
            <a:r>
              <a:rPr kumimoji="1" lang="ja-JP" altLang="en-US" dirty="0"/>
              <a:t>本プログラムにて、挙げていた</a:t>
            </a:r>
            <a:r>
              <a:rPr lang="en-US" altLang="ja-JP" dirty="0"/>
              <a:t>AI</a:t>
            </a:r>
            <a:r>
              <a:rPr lang="ja-JP" altLang="en-US" dirty="0"/>
              <a:t>・人手の課題を満たしている</a:t>
            </a:r>
            <a:endParaRPr lang="en-US" altLang="ja-JP" dirty="0"/>
          </a:p>
          <a:p>
            <a:r>
              <a:rPr kumimoji="1" lang="ja-JP" altLang="en-US" dirty="0"/>
              <a:t>作成時間を人手と比較して大幅削減できた</a:t>
            </a:r>
            <a:endParaRPr lang="en-US" altLang="ja-JP" dirty="0"/>
          </a:p>
          <a:p>
            <a:pPr marL="0" indent="0">
              <a:buNone/>
            </a:pPr>
            <a:endParaRPr kumimoji="1" lang="en-US" altLang="ja-JP" dirty="0"/>
          </a:p>
          <a:p>
            <a:pPr marL="0" indent="0">
              <a:buNone/>
            </a:pPr>
            <a:r>
              <a:rPr lang="ja-JP" altLang="en-US" dirty="0"/>
              <a:t>本プログラムの処理時間</a:t>
            </a:r>
            <a:r>
              <a:rPr lang="en-US" altLang="ja-JP" dirty="0"/>
              <a:t>:</a:t>
            </a:r>
          </a:p>
          <a:p>
            <a:pPr marL="0" indent="0">
              <a:buNone/>
            </a:pPr>
            <a:r>
              <a:rPr kumimoji="1" lang="ja-JP" altLang="en-US" dirty="0"/>
              <a:t>最小</a:t>
            </a:r>
            <a:r>
              <a:rPr kumimoji="1" lang="en-US" altLang="ja-JP" dirty="0"/>
              <a:t>: 7</a:t>
            </a:r>
            <a:r>
              <a:rPr kumimoji="1" lang="ja-JP" altLang="en-US" dirty="0"/>
              <a:t>分</a:t>
            </a:r>
            <a:r>
              <a:rPr kumimoji="1" lang="en-US" altLang="ja-JP" dirty="0"/>
              <a:t>26</a:t>
            </a:r>
            <a:r>
              <a:rPr kumimoji="1" lang="ja-JP" altLang="en-US" dirty="0"/>
              <a:t>秒</a:t>
            </a:r>
            <a:endParaRPr kumimoji="1" lang="en-US" altLang="ja-JP" dirty="0"/>
          </a:p>
          <a:p>
            <a:pPr marL="0" indent="0">
              <a:buNone/>
            </a:pPr>
            <a:r>
              <a:rPr kumimoji="1" lang="ja-JP" altLang="en-US" dirty="0"/>
              <a:t>最大</a:t>
            </a:r>
            <a:r>
              <a:rPr kumimoji="1" lang="en-US" altLang="ja-JP" dirty="0"/>
              <a:t>: 12</a:t>
            </a:r>
            <a:r>
              <a:rPr kumimoji="1" lang="ja-JP" altLang="en-US" dirty="0"/>
              <a:t>分</a:t>
            </a:r>
            <a:r>
              <a:rPr kumimoji="1" lang="en-US" altLang="ja-JP" dirty="0"/>
              <a:t>3</a:t>
            </a:r>
            <a:r>
              <a:rPr kumimoji="1" lang="ja-JP" altLang="en-US" dirty="0"/>
              <a:t>秒</a:t>
            </a:r>
            <a:endParaRPr kumimoji="1" lang="en-US" altLang="ja-JP" dirty="0"/>
          </a:p>
          <a:p>
            <a:pPr marL="0" indent="0">
              <a:buNone/>
            </a:pPr>
            <a:r>
              <a:rPr lang="ja-JP" altLang="en-US" dirty="0"/>
              <a:t>平均</a:t>
            </a:r>
            <a:r>
              <a:rPr lang="en-US" altLang="ja-JP" dirty="0"/>
              <a:t>: 9</a:t>
            </a:r>
            <a:r>
              <a:rPr lang="ja-JP" altLang="en-US" dirty="0"/>
              <a:t>分</a:t>
            </a:r>
            <a:r>
              <a:rPr lang="en-US" altLang="ja-JP" dirty="0"/>
              <a:t>18</a:t>
            </a:r>
            <a:r>
              <a:rPr lang="ja-JP" altLang="en-US" dirty="0"/>
              <a:t>秒</a:t>
            </a:r>
            <a:endParaRPr kumimoji="1" lang="en-US" altLang="ja-JP" dirty="0"/>
          </a:p>
          <a:p>
            <a:endParaRPr kumimoji="1" lang="ja-JP" altLang="en-US" dirty="0"/>
          </a:p>
        </p:txBody>
      </p:sp>
      <p:sp>
        <p:nvSpPr>
          <p:cNvPr id="4" name="スライド番号プレースホルダー 3">
            <a:extLst>
              <a:ext uri="{FF2B5EF4-FFF2-40B4-BE49-F238E27FC236}">
                <a16:creationId xmlns:a16="http://schemas.microsoft.com/office/drawing/2014/main" id="{621FE781-C1E2-FB7D-0EC7-BA82BC686AFD}"/>
              </a:ext>
            </a:extLst>
          </p:cNvPr>
          <p:cNvSpPr>
            <a:spLocks noGrp="1"/>
          </p:cNvSpPr>
          <p:nvPr>
            <p:ph type="sldNum" sz="quarter" idx="12"/>
          </p:nvPr>
        </p:nvSpPr>
        <p:spPr/>
        <p:txBody>
          <a:bodyPr/>
          <a:lstStyle/>
          <a:p>
            <a:fld id="{F32C8F3A-98E9-46B1-BAC9-77D093337233}" type="slidenum">
              <a:rPr kumimoji="1" lang="ja-JP" altLang="en-US" smtClean="0"/>
              <a:t>14</a:t>
            </a:fld>
            <a:endParaRPr kumimoji="1" lang="ja-JP" altLang="en-US"/>
          </a:p>
        </p:txBody>
      </p:sp>
    </p:spTree>
    <p:extLst>
      <p:ext uri="{BB962C8B-B14F-4D97-AF65-F5344CB8AC3E}">
        <p14:creationId xmlns:p14="http://schemas.microsoft.com/office/powerpoint/2010/main" val="1669973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1A863AB-7D98-4734-8F3C-55234BE5B0C1}"/>
              </a:ext>
            </a:extLst>
          </p:cNvPr>
          <p:cNvSpPr>
            <a:spLocks noGrp="1"/>
          </p:cNvSpPr>
          <p:nvPr>
            <p:ph type="title"/>
          </p:nvPr>
        </p:nvSpPr>
        <p:spPr/>
        <p:txBody>
          <a:bodyPr/>
          <a:lstStyle/>
          <a:p>
            <a:r>
              <a:rPr kumimoji="1" lang="ja-JP" altLang="en-US" dirty="0"/>
              <a:t>結論</a:t>
            </a:r>
          </a:p>
        </p:txBody>
      </p:sp>
      <p:sp>
        <p:nvSpPr>
          <p:cNvPr id="3" name="コンテンツ プレースホルダー 2">
            <a:extLst>
              <a:ext uri="{FF2B5EF4-FFF2-40B4-BE49-F238E27FC236}">
                <a16:creationId xmlns:a16="http://schemas.microsoft.com/office/drawing/2014/main" id="{3132E176-FCD7-3C70-78D1-FEFDE228BF41}"/>
              </a:ext>
            </a:extLst>
          </p:cNvPr>
          <p:cNvSpPr>
            <a:spLocks noGrp="1"/>
          </p:cNvSpPr>
          <p:nvPr>
            <p:ph idx="1"/>
          </p:nvPr>
        </p:nvSpPr>
        <p:spPr/>
        <p:txBody>
          <a:bodyPr/>
          <a:lstStyle/>
          <a:p>
            <a:r>
              <a:rPr lang="ja-JP" altLang="en-US" dirty="0"/>
              <a:t>使用したデータにおいて、高い精度が見られた</a:t>
            </a:r>
            <a:endParaRPr lang="en-US" altLang="ja-JP" dirty="0"/>
          </a:p>
          <a:p>
            <a:r>
              <a:rPr kumimoji="1" lang="ja-JP" altLang="en-US" dirty="0"/>
              <a:t>テストデータが少ない為、実用性について評価することができなかった</a:t>
            </a:r>
            <a:endParaRPr kumimoji="1" lang="en-US" altLang="ja-JP" dirty="0"/>
          </a:p>
          <a:p>
            <a:r>
              <a:rPr lang="ja-JP" altLang="en-US" dirty="0"/>
              <a:t>今回では、</a:t>
            </a:r>
            <a:r>
              <a:rPr kumimoji="1" lang="ja-JP" altLang="en-US" dirty="0"/>
              <a:t>仕様変更にて</a:t>
            </a:r>
            <a:r>
              <a:rPr kumimoji="1" lang="en-US" altLang="ja-JP" dirty="0"/>
              <a:t>UI</a:t>
            </a:r>
            <a:r>
              <a:rPr kumimoji="1" lang="ja-JP" altLang="en-US" dirty="0"/>
              <a:t>の重なりや他項目への影響までは考慮することができなかった</a:t>
            </a:r>
          </a:p>
        </p:txBody>
      </p:sp>
      <p:sp>
        <p:nvSpPr>
          <p:cNvPr id="4" name="スライド番号プレースホルダー 3">
            <a:extLst>
              <a:ext uri="{FF2B5EF4-FFF2-40B4-BE49-F238E27FC236}">
                <a16:creationId xmlns:a16="http://schemas.microsoft.com/office/drawing/2014/main" id="{3E16830D-5AE5-1862-4234-E4A5BDA485B7}"/>
              </a:ext>
            </a:extLst>
          </p:cNvPr>
          <p:cNvSpPr>
            <a:spLocks noGrp="1"/>
          </p:cNvSpPr>
          <p:nvPr>
            <p:ph type="sldNum" sz="quarter" idx="12"/>
          </p:nvPr>
        </p:nvSpPr>
        <p:spPr/>
        <p:txBody>
          <a:bodyPr/>
          <a:lstStyle/>
          <a:p>
            <a:fld id="{F32C8F3A-98E9-46B1-BAC9-77D093337233}" type="slidenum">
              <a:rPr kumimoji="1" lang="ja-JP" altLang="en-US" smtClean="0"/>
              <a:t>15</a:t>
            </a:fld>
            <a:endParaRPr kumimoji="1" lang="ja-JP" altLang="en-US"/>
          </a:p>
        </p:txBody>
      </p:sp>
    </p:spTree>
    <p:extLst>
      <p:ext uri="{BB962C8B-B14F-4D97-AF65-F5344CB8AC3E}">
        <p14:creationId xmlns:p14="http://schemas.microsoft.com/office/powerpoint/2010/main" val="467008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319FA5C-2E60-9E37-507E-B3AC6FDA58AA}"/>
              </a:ext>
            </a:extLst>
          </p:cNvPr>
          <p:cNvSpPr>
            <a:spLocks noGrp="1"/>
          </p:cNvSpPr>
          <p:nvPr>
            <p:ph type="title"/>
          </p:nvPr>
        </p:nvSpPr>
        <p:spPr>
          <a:xfrm>
            <a:off x="2039352" y="2766218"/>
            <a:ext cx="8113295" cy="1325563"/>
          </a:xfrm>
        </p:spPr>
        <p:txBody>
          <a:bodyPr/>
          <a:lstStyle/>
          <a:p>
            <a:r>
              <a:rPr kumimoji="1" lang="ja-JP" altLang="en-US" dirty="0"/>
              <a:t>ご清聴ありがとうございました</a:t>
            </a:r>
          </a:p>
        </p:txBody>
      </p:sp>
      <p:sp>
        <p:nvSpPr>
          <p:cNvPr id="4" name="スライド番号プレースホルダー 3">
            <a:extLst>
              <a:ext uri="{FF2B5EF4-FFF2-40B4-BE49-F238E27FC236}">
                <a16:creationId xmlns:a16="http://schemas.microsoft.com/office/drawing/2014/main" id="{C0396061-894C-1538-9906-34F655A08DE5}"/>
              </a:ext>
            </a:extLst>
          </p:cNvPr>
          <p:cNvSpPr>
            <a:spLocks noGrp="1"/>
          </p:cNvSpPr>
          <p:nvPr>
            <p:ph type="sldNum" sz="quarter" idx="12"/>
          </p:nvPr>
        </p:nvSpPr>
        <p:spPr/>
        <p:txBody>
          <a:bodyPr/>
          <a:lstStyle/>
          <a:p>
            <a:fld id="{F32C8F3A-98E9-46B1-BAC9-77D093337233}" type="slidenum">
              <a:rPr kumimoji="1" lang="ja-JP" altLang="en-US" smtClean="0"/>
              <a:t>16</a:t>
            </a:fld>
            <a:endParaRPr kumimoji="1" lang="ja-JP" altLang="en-US"/>
          </a:p>
        </p:txBody>
      </p:sp>
    </p:spTree>
    <p:extLst>
      <p:ext uri="{BB962C8B-B14F-4D97-AF65-F5344CB8AC3E}">
        <p14:creationId xmlns:p14="http://schemas.microsoft.com/office/powerpoint/2010/main" val="1155524880"/>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1367</TotalTime>
  <Words>1770</Words>
  <Application>Microsoft Office PowerPoint</Application>
  <PresentationFormat>ワイド画面</PresentationFormat>
  <Paragraphs>228</Paragraphs>
  <Slides>16</Slides>
  <Notes>7</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16</vt:i4>
      </vt:variant>
    </vt:vector>
  </HeadingPairs>
  <TitlesOfParts>
    <vt:vector size="20" baseType="lpstr">
      <vt:lpstr>游ゴシック</vt:lpstr>
      <vt:lpstr>游ゴシック Light</vt:lpstr>
      <vt:lpstr>Arial</vt:lpstr>
      <vt:lpstr>Office テーマ</vt:lpstr>
      <vt:lpstr>LLMによる打合せログからの要求仕様書生成</vt:lpstr>
      <vt:lpstr>背景</vt:lpstr>
      <vt:lpstr>実験: 生成AI調査</vt:lpstr>
      <vt:lpstr>生成AIの特徴と現状</vt:lpstr>
      <vt:lpstr>生成AIの限界</vt:lpstr>
      <vt:lpstr>目的</vt:lpstr>
      <vt:lpstr>提案手法</vt:lpstr>
      <vt:lpstr>課題に対してのアプローチ</vt:lpstr>
      <vt:lpstr>使用データ</vt:lpstr>
      <vt:lpstr>① JSON入力+② 分類ラベルの付与</vt:lpstr>
      <vt:lpstr>③ 決定事項の抽出+④ テンプレート出力 </vt:lpstr>
      <vt:lpstr>比較①: 素のAI vs AIプログラム</vt:lpstr>
      <vt:lpstr>比較②: AIプログラム vs 人手作成</vt:lpstr>
      <vt:lpstr>評価まとめ</vt:lpstr>
      <vt:lpstr>結論</vt:lpstr>
      <vt:lpstr>ご清聴ありがとうございました</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琉斗 飯田</dc:creator>
  <cp:lastModifiedBy>琉斗 飯田</cp:lastModifiedBy>
  <cp:revision>9</cp:revision>
  <dcterms:created xsi:type="dcterms:W3CDTF">2026-02-01T02:28:45Z</dcterms:created>
  <dcterms:modified xsi:type="dcterms:W3CDTF">2026-02-02T02:45:10Z</dcterms:modified>
</cp:coreProperties>
</file>