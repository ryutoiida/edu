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56" r:id="rId2"/>
    <p:sldId id="257" r:id="rId3"/>
    <p:sldId id="259" r:id="rId4"/>
    <p:sldId id="258" r:id="rId5"/>
    <p:sldId id="270" r:id="rId6"/>
    <p:sldId id="260" r:id="rId7"/>
    <p:sldId id="261" r:id="rId8"/>
    <p:sldId id="271" r:id="rId9"/>
    <p:sldId id="272" r:id="rId10"/>
    <p:sldId id="278" r:id="rId11"/>
    <p:sldId id="274" r:id="rId12"/>
    <p:sldId id="276" r:id="rId13"/>
    <p:sldId id="275" r:id="rId14"/>
    <p:sldId id="266" r:id="rId15"/>
    <p:sldId id="267" r:id="rId16"/>
    <p:sldId id="277" r:id="rId17"/>
    <p:sldId id="268" r:id="rId18"/>
    <p:sldId id="269"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96" autoAdjust="0"/>
    <p:restoredTop sz="71930" autoAdjust="0"/>
  </p:normalViewPr>
  <p:slideViewPr>
    <p:cSldViewPr snapToGrid="0">
      <p:cViewPr varScale="1">
        <p:scale>
          <a:sx n="49" d="100"/>
          <a:sy n="49" d="100"/>
        </p:scale>
        <p:origin x="42" y="8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ja-JP" dirty="0"/>
              <a:t>DS1 (</a:t>
            </a:r>
            <a:r>
              <a:rPr lang="ja-JP" altLang="en-US" dirty="0"/>
              <a:t>全項目数</a:t>
            </a:r>
            <a:r>
              <a:rPr lang="en-US" altLang="ja-JP" dirty="0"/>
              <a:t>9)</a:t>
            </a:r>
            <a:endParaRPr lang="ja-JP" alt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Sheet1!$B$1</c:f>
              <c:strCache>
                <c:ptCount val="1"/>
                <c:pt idx="0">
                  <c:v>最小数</c:v>
                </c:pt>
              </c:strCache>
            </c:strRef>
          </c:tx>
          <c:spPr>
            <a:ln w="28575" cap="rnd">
              <a:solidFill>
                <a:schemeClr val="accent1"/>
              </a:solidFill>
              <a:round/>
            </a:ln>
            <a:effectLst/>
          </c:spPr>
          <c:marker>
            <c:symbol val="none"/>
          </c:marker>
          <c:cat>
            <c:numRef>
              <c:f>Sheet1!$A$2:$A$13</c:f>
              <c:numCache>
                <c:formatCode>General</c:formatCode>
                <c:ptCount val="12"/>
                <c:pt idx="0">
                  <c:v>0</c:v>
                </c:pt>
                <c:pt idx="1">
                  <c:v>0.1</c:v>
                </c:pt>
                <c:pt idx="2">
                  <c:v>0.2</c:v>
                </c:pt>
                <c:pt idx="3">
                  <c:v>0.3</c:v>
                </c:pt>
                <c:pt idx="4">
                  <c:v>1</c:v>
                </c:pt>
                <c:pt idx="5">
                  <c:v>0.5</c:v>
                </c:pt>
                <c:pt idx="6">
                  <c:v>0.6</c:v>
                </c:pt>
                <c:pt idx="7">
                  <c:v>0.7</c:v>
                </c:pt>
                <c:pt idx="8">
                  <c:v>0.8</c:v>
                </c:pt>
                <c:pt idx="9">
                  <c:v>0.9</c:v>
                </c:pt>
                <c:pt idx="10">
                  <c:v>1</c:v>
                </c:pt>
              </c:numCache>
            </c:numRef>
          </c:cat>
          <c:val>
            <c:numRef>
              <c:f>Sheet1!$B$2:$B$13</c:f>
              <c:numCache>
                <c:formatCode>General</c:formatCode>
                <c:ptCount val="12"/>
                <c:pt idx="0">
                  <c:v>6</c:v>
                </c:pt>
                <c:pt idx="1">
                  <c:v>6</c:v>
                </c:pt>
                <c:pt idx="2">
                  <c:v>8</c:v>
                </c:pt>
                <c:pt idx="3">
                  <c:v>7</c:v>
                </c:pt>
                <c:pt idx="4">
                  <c:v>7</c:v>
                </c:pt>
                <c:pt idx="5">
                  <c:v>6</c:v>
                </c:pt>
                <c:pt idx="6">
                  <c:v>5</c:v>
                </c:pt>
                <c:pt idx="7">
                  <c:v>5</c:v>
                </c:pt>
                <c:pt idx="8">
                  <c:v>5</c:v>
                </c:pt>
                <c:pt idx="9">
                  <c:v>4</c:v>
                </c:pt>
                <c:pt idx="10">
                  <c:v>5</c:v>
                </c:pt>
              </c:numCache>
            </c:numRef>
          </c:val>
          <c:smooth val="0"/>
          <c:extLst>
            <c:ext xmlns:c16="http://schemas.microsoft.com/office/drawing/2014/chart" uri="{C3380CC4-5D6E-409C-BE32-E72D297353CC}">
              <c16:uniqueId val="{00000000-6C54-4C71-AC88-7155DAB7D03E}"/>
            </c:ext>
          </c:extLst>
        </c:ser>
        <c:ser>
          <c:idx val="1"/>
          <c:order val="1"/>
          <c:tx>
            <c:strRef>
              <c:f>Sheet1!$C$1</c:f>
              <c:strCache>
                <c:ptCount val="1"/>
                <c:pt idx="0">
                  <c:v>最大数</c:v>
                </c:pt>
              </c:strCache>
            </c:strRef>
          </c:tx>
          <c:spPr>
            <a:ln w="28575" cap="rnd">
              <a:solidFill>
                <a:schemeClr val="accent2"/>
              </a:solidFill>
              <a:round/>
            </a:ln>
            <a:effectLst/>
          </c:spPr>
          <c:marker>
            <c:symbol val="none"/>
          </c:marker>
          <c:cat>
            <c:numRef>
              <c:f>Sheet1!$A$2:$A$13</c:f>
              <c:numCache>
                <c:formatCode>General</c:formatCode>
                <c:ptCount val="12"/>
                <c:pt idx="0">
                  <c:v>0</c:v>
                </c:pt>
                <c:pt idx="1">
                  <c:v>0.1</c:v>
                </c:pt>
                <c:pt idx="2">
                  <c:v>0.2</c:v>
                </c:pt>
                <c:pt idx="3">
                  <c:v>0.3</c:v>
                </c:pt>
                <c:pt idx="4">
                  <c:v>1</c:v>
                </c:pt>
                <c:pt idx="5">
                  <c:v>0.5</c:v>
                </c:pt>
                <c:pt idx="6">
                  <c:v>0.6</c:v>
                </c:pt>
                <c:pt idx="7">
                  <c:v>0.7</c:v>
                </c:pt>
                <c:pt idx="8">
                  <c:v>0.8</c:v>
                </c:pt>
                <c:pt idx="9">
                  <c:v>0.9</c:v>
                </c:pt>
                <c:pt idx="10">
                  <c:v>1</c:v>
                </c:pt>
              </c:numCache>
            </c:numRef>
          </c:cat>
          <c:val>
            <c:numRef>
              <c:f>Sheet1!$C$2:$C$13</c:f>
              <c:numCache>
                <c:formatCode>General</c:formatCode>
                <c:ptCount val="12"/>
                <c:pt idx="0">
                  <c:v>10</c:v>
                </c:pt>
                <c:pt idx="1">
                  <c:v>9</c:v>
                </c:pt>
                <c:pt idx="2">
                  <c:v>9</c:v>
                </c:pt>
                <c:pt idx="3">
                  <c:v>10</c:v>
                </c:pt>
                <c:pt idx="4">
                  <c:v>10</c:v>
                </c:pt>
                <c:pt idx="5">
                  <c:v>11</c:v>
                </c:pt>
                <c:pt idx="6">
                  <c:v>11</c:v>
                </c:pt>
                <c:pt idx="7">
                  <c:v>11</c:v>
                </c:pt>
                <c:pt idx="8">
                  <c:v>11</c:v>
                </c:pt>
                <c:pt idx="9">
                  <c:v>12</c:v>
                </c:pt>
                <c:pt idx="10">
                  <c:v>12</c:v>
                </c:pt>
              </c:numCache>
            </c:numRef>
          </c:val>
          <c:smooth val="0"/>
          <c:extLst>
            <c:ext xmlns:c16="http://schemas.microsoft.com/office/drawing/2014/chart" uri="{C3380CC4-5D6E-409C-BE32-E72D297353CC}">
              <c16:uniqueId val="{00000001-6C54-4C71-AC88-7155DAB7D03E}"/>
            </c:ext>
          </c:extLst>
        </c:ser>
        <c:ser>
          <c:idx val="2"/>
          <c:order val="2"/>
          <c:tx>
            <c:strRef>
              <c:f>Sheet1!$D$1</c:f>
              <c:strCache>
                <c:ptCount val="1"/>
                <c:pt idx="0">
                  <c:v>平均数</c:v>
                </c:pt>
              </c:strCache>
            </c:strRef>
          </c:tx>
          <c:spPr>
            <a:ln w="28575" cap="rnd">
              <a:solidFill>
                <a:schemeClr val="accent3"/>
              </a:solidFill>
              <a:round/>
            </a:ln>
            <a:effectLst/>
          </c:spPr>
          <c:marker>
            <c:symbol val="none"/>
          </c:marker>
          <c:cat>
            <c:numRef>
              <c:f>Sheet1!$A$2:$A$13</c:f>
              <c:numCache>
                <c:formatCode>General</c:formatCode>
                <c:ptCount val="12"/>
                <c:pt idx="0">
                  <c:v>0</c:v>
                </c:pt>
                <c:pt idx="1">
                  <c:v>0.1</c:v>
                </c:pt>
                <c:pt idx="2">
                  <c:v>0.2</c:v>
                </c:pt>
                <c:pt idx="3">
                  <c:v>0.3</c:v>
                </c:pt>
                <c:pt idx="4">
                  <c:v>1</c:v>
                </c:pt>
                <c:pt idx="5">
                  <c:v>0.5</c:v>
                </c:pt>
                <c:pt idx="6">
                  <c:v>0.6</c:v>
                </c:pt>
                <c:pt idx="7">
                  <c:v>0.7</c:v>
                </c:pt>
                <c:pt idx="8">
                  <c:v>0.8</c:v>
                </c:pt>
                <c:pt idx="9">
                  <c:v>0.9</c:v>
                </c:pt>
                <c:pt idx="10">
                  <c:v>1</c:v>
                </c:pt>
              </c:numCache>
            </c:numRef>
          </c:cat>
          <c:val>
            <c:numRef>
              <c:f>Sheet1!$D$2:$D$13</c:f>
              <c:numCache>
                <c:formatCode>General</c:formatCode>
                <c:ptCount val="12"/>
                <c:pt idx="0">
                  <c:v>7.1</c:v>
                </c:pt>
                <c:pt idx="1">
                  <c:v>7.4</c:v>
                </c:pt>
                <c:pt idx="2">
                  <c:v>8.1999999999999993</c:v>
                </c:pt>
                <c:pt idx="3">
                  <c:v>8.1</c:v>
                </c:pt>
                <c:pt idx="4">
                  <c:v>7.9</c:v>
                </c:pt>
                <c:pt idx="5">
                  <c:v>8.1999999999999993</c:v>
                </c:pt>
                <c:pt idx="6">
                  <c:v>7.5</c:v>
                </c:pt>
                <c:pt idx="7">
                  <c:v>8.1999999999999993</c:v>
                </c:pt>
                <c:pt idx="8">
                  <c:v>8.5</c:v>
                </c:pt>
                <c:pt idx="9">
                  <c:v>8.4</c:v>
                </c:pt>
                <c:pt idx="10">
                  <c:v>8.6999999999999993</c:v>
                </c:pt>
              </c:numCache>
            </c:numRef>
          </c:val>
          <c:smooth val="0"/>
          <c:extLst>
            <c:ext xmlns:c16="http://schemas.microsoft.com/office/drawing/2014/chart" uri="{C3380CC4-5D6E-409C-BE32-E72D297353CC}">
              <c16:uniqueId val="{00000002-6C54-4C71-AC88-7155DAB7D03E}"/>
            </c:ext>
          </c:extLst>
        </c:ser>
        <c:dLbls>
          <c:showLegendKey val="0"/>
          <c:showVal val="0"/>
          <c:showCatName val="0"/>
          <c:showSerName val="0"/>
          <c:showPercent val="0"/>
          <c:showBubbleSize val="0"/>
        </c:dLbls>
        <c:smooth val="0"/>
        <c:axId val="1346966191"/>
        <c:axId val="1346970511"/>
      </c:lineChart>
      <c:catAx>
        <c:axId val="13469661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346970511"/>
        <c:crosses val="autoZero"/>
        <c:auto val="1"/>
        <c:lblAlgn val="ctr"/>
        <c:lblOffset val="100"/>
        <c:noMultiLvlLbl val="0"/>
      </c:catAx>
      <c:valAx>
        <c:axId val="1346970511"/>
        <c:scaling>
          <c:orientation val="minMax"/>
          <c:min val="3"/>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3469661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ja-JP" dirty="0"/>
              <a:t>DS2 (</a:t>
            </a:r>
            <a:r>
              <a:rPr lang="ja-JP" altLang="en-US" dirty="0"/>
              <a:t>全項目数</a:t>
            </a:r>
            <a:r>
              <a:rPr lang="en-US" altLang="ja-JP" dirty="0"/>
              <a:t>14)</a:t>
            </a:r>
            <a:endParaRPr lang="ja-JP" alt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0"/>
          <c:order val="0"/>
          <c:tx>
            <c:strRef>
              <c:f>Sheet1!$B$1</c:f>
              <c:strCache>
                <c:ptCount val="1"/>
                <c:pt idx="0">
                  <c:v>最小数</c:v>
                </c:pt>
              </c:strCache>
            </c:strRef>
          </c:tx>
          <c:spPr>
            <a:ln w="28575" cap="rnd">
              <a:solidFill>
                <a:schemeClr val="accent1"/>
              </a:solidFill>
              <a:round/>
            </a:ln>
            <a:effectLst/>
          </c:spPr>
          <c:marker>
            <c:symbol val="none"/>
          </c:marker>
          <c:cat>
            <c:numRef>
              <c:f>Sheet1!$A$2:$A$12</c:f>
              <c:numCache>
                <c:formatCode>General</c:formatCode>
                <c:ptCount val="11"/>
                <c:pt idx="0">
                  <c:v>0</c:v>
                </c:pt>
                <c:pt idx="1">
                  <c:v>0.1</c:v>
                </c:pt>
                <c:pt idx="2">
                  <c:v>0.2</c:v>
                </c:pt>
                <c:pt idx="3">
                  <c:v>0.3</c:v>
                </c:pt>
                <c:pt idx="4">
                  <c:v>1</c:v>
                </c:pt>
                <c:pt idx="5">
                  <c:v>0.5</c:v>
                </c:pt>
                <c:pt idx="6">
                  <c:v>0.6</c:v>
                </c:pt>
                <c:pt idx="7">
                  <c:v>0.7</c:v>
                </c:pt>
                <c:pt idx="8">
                  <c:v>0.8</c:v>
                </c:pt>
                <c:pt idx="9">
                  <c:v>0.9</c:v>
                </c:pt>
                <c:pt idx="10">
                  <c:v>1</c:v>
                </c:pt>
              </c:numCache>
            </c:numRef>
          </c:cat>
          <c:val>
            <c:numRef>
              <c:f>Sheet1!$B$2:$B$12</c:f>
              <c:numCache>
                <c:formatCode>General</c:formatCode>
                <c:ptCount val="11"/>
                <c:pt idx="0">
                  <c:v>8</c:v>
                </c:pt>
                <c:pt idx="1">
                  <c:v>8</c:v>
                </c:pt>
                <c:pt idx="2">
                  <c:v>7</c:v>
                </c:pt>
                <c:pt idx="3">
                  <c:v>8</c:v>
                </c:pt>
                <c:pt idx="4">
                  <c:v>7</c:v>
                </c:pt>
                <c:pt idx="5">
                  <c:v>9</c:v>
                </c:pt>
                <c:pt idx="6">
                  <c:v>8</c:v>
                </c:pt>
                <c:pt idx="7">
                  <c:v>8</c:v>
                </c:pt>
                <c:pt idx="8">
                  <c:v>6</c:v>
                </c:pt>
                <c:pt idx="9">
                  <c:v>8</c:v>
                </c:pt>
                <c:pt idx="10">
                  <c:v>8</c:v>
                </c:pt>
              </c:numCache>
            </c:numRef>
          </c:val>
          <c:smooth val="0"/>
          <c:extLst>
            <c:ext xmlns:c16="http://schemas.microsoft.com/office/drawing/2014/chart" uri="{C3380CC4-5D6E-409C-BE32-E72D297353CC}">
              <c16:uniqueId val="{00000000-D430-49BD-8977-4236979B668B}"/>
            </c:ext>
          </c:extLst>
        </c:ser>
        <c:ser>
          <c:idx val="1"/>
          <c:order val="1"/>
          <c:tx>
            <c:strRef>
              <c:f>Sheet1!$C$1</c:f>
              <c:strCache>
                <c:ptCount val="1"/>
                <c:pt idx="0">
                  <c:v>最大数</c:v>
                </c:pt>
              </c:strCache>
            </c:strRef>
          </c:tx>
          <c:spPr>
            <a:ln w="28575" cap="rnd">
              <a:solidFill>
                <a:schemeClr val="accent2"/>
              </a:solidFill>
              <a:round/>
            </a:ln>
            <a:effectLst/>
          </c:spPr>
          <c:marker>
            <c:symbol val="none"/>
          </c:marker>
          <c:cat>
            <c:numRef>
              <c:f>Sheet1!$A$2:$A$12</c:f>
              <c:numCache>
                <c:formatCode>General</c:formatCode>
                <c:ptCount val="11"/>
                <c:pt idx="0">
                  <c:v>0</c:v>
                </c:pt>
                <c:pt idx="1">
                  <c:v>0.1</c:v>
                </c:pt>
                <c:pt idx="2">
                  <c:v>0.2</c:v>
                </c:pt>
                <c:pt idx="3">
                  <c:v>0.3</c:v>
                </c:pt>
                <c:pt idx="4">
                  <c:v>1</c:v>
                </c:pt>
                <c:pt idx="5">
                  <c:v>0.5</c:v>
                </c:pt>
                <c:pt idx="6">
                  <c:v>0.6</c:v>
                </c:pt>
                <c:pt idx="7">
                  <c:v>0.7</c:v>
                </c:pt>
                <c:pt idx="8">
                  <c:v>0.8</c:v>
                </c:pt>
                <c:pt idx="9">
                  <c:v>0.9</c:v>
                </c:pt>
                <c:pt idx="10">
                  <c:v>1</c:v>
                </c:pt>
              </c:numCache>
            </c:numRef>
          </c:cat>
          <c:val>
            <c:numRef>
              <c:f>Sheet1!$C$2:$C$12</c:f>
              <c:numCache>
                <c:formatCode>General</c:formatCode>
                <c:ptCount val="11"/>
                <c:pt idx="0">
                  <c:v>10</c:v>
                </c:pt>
                <c:pt idx="1">
                  <c:v>10</c:v>
                </c:pt>
                <c:pt idx="2">
                  <c:v>11</c:v>
                </c:pt>
                <c:pt idx="3">
                  <c:v>13</c:v>
                </c:pt>
                <c:pt idx="4">
                  <c:v>12</c:v>
                </c:pt>
                <c:pt idx="5">
                  <c:v>12</c:v>
                </c:pt>
                <c:pt idx="6">
                  <c:v>14</c:v>
                </c:pt>
                <c:pt idx="7">
                  <c:v>14</c:v>
                </c:pt>
                <c:pt idx="8">
                  <c:v>15</c:v>
                </c:pt>
                <c:pt idx="9">
                  <c:v>14</c:v>
                </c:pt>
                <c:pt idx="10">
                  <c:v>15</c:v>
                </c:pt>
              </c:numCache>
            </c:numRef>
          </c:val>
          <c:smooth val="0"/>
          <c:extLst>
            <c:ext xmlns:c16="http://schemas.microsoft.com/office/drawing/2014/chart" uri="{C3380CC4-5D6E-409C-BE32-E72D297353CC}">
              <c16:uniqueId val="{00000001-D430-49BD-8977-4236979B668B}"/>
            </c:ext>
          </c:extLst>
        </c:ser>
        <c:ser>
          <c:idx val="2"/>
          <c:order val="2"/>
          <c:tx>
            <c:strRef>
              <c:f>Sheet1!$D$1</c:f>
              <c:strCache>
                <c:ptCount val="1"/>
                <c:pt idx="0">
                  <c:v>平均数</c:v>
                </c:pt>
              </c:strCache>
            </c:strRef>
          </c:tx>
          <c:spPr>
            <a:ln w="28575" cap="rnd">
              <a:solidFill>
                <a:schemeClr val="accent3"/>
              </a:solidFill>
              <a:round/>
            </a:ln>
            <a:effectLst/>
          </c:spPr>
          <c:marker>
            <c:symbol val="none"/>
          </c:marker>
          <c:cat>
            <c:numRef>
              <c:f>Sheet1!$A$2:$A$12</c:f>
              <c:numCache>
                <c:formatCode>General</c:formatCode>
                <c:ptCount val="11"/>
                <c:pt idx="0">
                  <c:v>0</c:v>
                </c:pt>
                <c:pt idx="1">
                  <c:v>0.1</c:v>
                </c:pt>
                <c:pt idx="2">
                  <c:v>0.2</c:v>
                </c:pt>
                <c:pt idx="3">
                  <c:v>0.3</c:v>
                </c:pt>
                <c:pt idx="4">
                  <c:v>1</c:v>
                </c:pt>
                <c:pt idx="5">
                  <c:v>0.5</c:v>
                </c:pt>
                <c:pt idx="6">
                  <c:v>0.6</c:v>
                </c:pt>
                <c:pt idx="7">
                  <c:v>0.7</c:v>
                </c:pt>
                <c:pt idx="8">
                  <c:v>0.8</c:v>
                </c:pt>
                <c:pt idx="9">
                  <c:v>0.9</c:v>
                </c:pt>
                <c:pt idx="10">
                  <c:v>1</c:v>
                </c:pt>
              </c:numCache>
            </c:numRef>
          </c:cat>
          <c:val>
            <c:numRef>
              <c:f>Sheet1!$D$2:$D$12</c:f>
              <c:numCache>
                <c:formatCode>General</c:formatCode>
                <c:ptCount val="11"/>
                <c:pt idx="0">
                  <c:v>8.5</c:v>
                </c:pt>
                <c:pt idx="1">
                  <c:v>8.3000000000000007</c:v>
                </c:pt>
                <c:pt idx="2">
                  <c:v>8.8000000000000007</c:v>
                </c:pt>
                <c:pt idx="3">
                  <c:v>9.1999999999999993</c:v>
                </c:pt>
                <c:pt idx="4">
                  <c:v>9</c:v>
                </c:pt>
                <c:pt idx="5">
                  <c:v>10.1</c:v>
                </c:pt>
                <c:pt idx="6">
                  <c:v>10.9</c:v>
                </c:pt>
                <c:pt idx="7">
                  <c:v>12.2</c:v>
                </c:pt>
                <c:pt idx="8">
                  <c:v>13.6</c:v>
                </c:pt>
                <c:pt idx="9">
                  <c:v>12.4</c:v>
                </c:pt>
                <c:pt idx="10">
                  <c:v>13.6</c:v>
                </c:pt>
              </c:numCache>
            </c:numRef>
          </c:val>
          <c:smooth val="0"/>
          <c:extLst>
            <c:ext xmlns:c16="http://schemas.microsoft.com/office/drawing/2014/chart" uri="{C3380CC4-5D6E-409C-BE32-E72D297353CC}">
              <c16:uniqueId val="{00000002-D430-49BD-8977-4236979B668B}"/>
            </c:ext>
          </c:extLst>
        </c:ser>
        <c:dLbls>
          <c:showLegendKey val="0"/>
          <c:showVal val="0"/>
          <c:showCatName val="0"/>
          <c:showSerName val="0"/>
          <c:showPercent val="0"/>
          <c:showBubbleSize val="0"/>
        </c:dLbls>
        <c:smooth val="0"/>
        <c:axId val="1346966191"/>
        <c:axId val="1346970511"/>
      </c:lineChart>
      <c:catAx>
        <c:axId val="13469661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346970511"/>
        <c:crosses val="autoZero"/>
        <c:auto val="1"/>
        <c:lblAlgn val="ctr"/>
        <c:lblOffset val="100"/>
        <c:noMultiLvlLbl val="0"/>
      </c:catAx>
      <c:valAx>
        <c:axId val="1346970511"/>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346966191"/>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D417A3-1E3F-4B57-833C-A311F4080B71}" type="datetimeFigureOut">
              <a:rPr kumimoji="1" lang="ja-JP" altLang="en-US" smtClean="0"/>
              <a:t>2026/2/8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F29B3-0BFE-45E1-AC17-47FA859AF79F}" type="slidenum">
              <a:rPr kumimoji="1" lang="ja-JP" altLang="en-US" smtClean="0"/>
              <a:t>‹#›</a:t>
            </a:fld>
            <a:endParaRPr kumimoji="1" lang="ja-JP" altLang="en-US"/>
          </a:p>
        </p:txBody>
      </p:sp>
    </p:spTree>
    <p:extLst>
      <p:ext uri="{BB962C8B-B14F-4D97-AF65-F5344CB8AC3E}">
        <p14:creationId xmlns:p14="http://schemas.microsoft.com/office/powerpoint/2010/main" val="29808417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山田研究室所属の飯田です</a:t>
            </a:r>
            <a:endParaRPr kumimoji="1" lang="en-US" altLang="ja-JP" dirty="0"/>
          </a:p>
          <a:p>
            <a:r>
              <a:rPr kumimoji="1" lang="ja-JP" altLang="en-US" dirty="0"/>
              <a:t>本研究のテーマは、</a:t>
            </a:r>
            <a:r>
              <a:rPr kumimoji="1" lang="en-US" altLang="ja-JP" dirty="0"/>
              <a:t>LLM</a:t>
            </a:r>
            <a:r>
              <a:rPr kumimoji="1" lang="ja-JP" altLang="en-US" dirty="0"/>
              <a:t>による打ち合わせログからの要求仕様書生成です</a:t>
            </a:r>
            <a:endParaRPr kumimoji="1" lang="en-US" altLang="ja-JP" dirty="0"/>
          </a:p>
          <a:p>
            <a:r>
              <a:rPr kumimoji="1" lang="ja-JP" altLang="en-US" dirty="0"/>
              <a:t>よろしくお願いします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a:t>
            </a:fld>
            <a:endParaRPr kumimoji="1" lang="ja-JP" altLang="en-US"/>
          </a:p>
        </p:txBody>
      </p:sp>
    </p:spTree>
    <p:extLst>
      <p:ext uri="{BB962C8B-B14F-4D97-AF65-F5344CB8AC3E}">
        <p14:creationId xmlns:p14="http://schemas.microsoft.com/office/powerpoint/2010/main" val="878279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背景として、現在、仕様書の類は人手に依存しており、時間的コスト、優先度、ログの規模によって簡略化、先送りが見られたり、作成者による認識や理解によって偏りが生まれたりといくつかの課題を抱えています</a:t>
            </a:r>
            <a:endParaRPr kumimoji="1" lang="en-US" altLang="ja-JP" dirty="0"/>
          </a:p>
          <a:p>
            <a:r>
              <a:rPr kumimoji="1" lang="ja-JP" altLang="en-US" dirty="0"/>
              <a:t>これらの課題に対して、生成</a:t>
            </a:r>
            <a:r>
              <a:rPr kumimoji="1" lang="en-US" altLang="ja-JP" dirty="0"/>
              <a:t>AI</a:t>
            </a:r>
            <a:r>
              <a:rPr kumimoji="1" lang="ja-JP" altLang="en-US" dirty="0"/>
              <a:t>を用いることで解決できないかと考えました</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2</a:t>
            </a:fld>
            <a:endParaRPr kumimoji="1" lang="ja-JP" altLang="en-US"/>
          </a:p>
        </p:txBody>
      </p:sp>
    </p:spTree>
    <p:extLst>
      <p:ext uri="{BB962C8B-B14F-4D97-AF65-F5344CB8AC3E}">
        <p14:creationId xmlns:p14="http://schemas.microsoft.com/office/powerpoint/2010/main" val="1249677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まず、生成</a:t>
            </a:r>
            <a:r>
              <a:rPr kumimoji="1" lang="en-US" altLang="ja-JP" dirty="0"/>
              <a:t>AI</a:t>
            </a:r>
            <a:r>
              <a:rPr kumimoji="1" lang="ja-JP" altLang="en-US" dirty="0"/>
              <a:t>の現状について調査しました</a:t>
            </a:r>
            <a:endParaRPr kumimoji="1" lang="en-US" altLang="ja-JP" dirty="0"/>
          </a:p>
          <a:p>
            <a:r>
              <a:rPr kumimoji="1" lang="ja-JP" altLang="en-US" dirty="0"/>
              <a:t>実験方法として、同じプロンプトとデータセットを渡し、仕様書を生成するよう命令を与えます</a:t>
            </a:r>
            <a:endParaRPr kumimoji="1" lang="en-US" altLang="ja-JP" dirty="0"/>
          </a:p>
          <a:p>
            <a:r>
              <a:rPr kumimoji="1" lang="ja-JP" altLang="en-US" dirty="0"/>
              <a:t>これを</a:t>
            </a:r>
            <a:r>
              <a:rPr kumimoji="1" lang="en-US" altLang="ja-JP" dirty="0"/>
              <a:t>10</a:t>
            </a:r>
            <a:r>
              <a:rPr kumimoji="1" lang="ja-JP" altLang="en-US" dirty="0"/>
              <a:t>回行い、人で作成した仕様書と比較し、抽出率を測定しました。</a:t>
            </a:r>
            <a:endParaRPr kumimoji="1" lang="en-US" altLang="ja-JP" dirty="0"/>
          </a:p>
          <a:p>
            <a:r>
              <a:rPr kumimoji="1" lang="ja-JP" altLang="en-US" dirty="0"/>
              <a:t>結果として、全項目数</a:t>
            </a:r>
            <a:r>
              <a:rPr kumimoji="1" lang="en-US" altLang="ja-JP" dirty="0"/>
              <a:t>9</a:t>
            </a:r>
            <a:r>
              <a:rPr kumimoji="1" lang="ja-JP" altLang="en-US" dirty="0"/>
              <a:t>に対して、最小は</a:t>
            </a:r>
            <a:r>
              <a:rPr kumimoji="1" lang="en-US" altLang="ja-JP" dirty="0"/>
              <a:t>5, </a:t>
            </a:r>
            <a:r>
              <a:rPr kumimoji="1" lang="ja-JP" altLang="en-US" dirty="0"/>
              <a:t>最大は</a:t>
            </a:r>
            <a:r>
              <a:rPr kumimoji="1" lang="en-US" altLang="ja-JP" dirty="0"/>
              <a:t>8, </a:t>
            </a:r>
            <a:r>
              <a:rPr kumimoji="1" lang="ja-JP" altLang="en-US" dirty="0"/>
              <a:t>平均は</a:t>
            </a:r>
            <a:r>
              <a:rPr kumimoji="1" lang="en-US" altLang="ja-JP" dirty="0"/>
              <a:t>6.2</a:t>
            </a:r>
            <a:r>
              <a:rPr kumimoji="1" lang="ja-JP" altLang="en-US" dirty="0"/>
              <a:t>で、全項目が抽出されることはなく、出力にばらつきがあることがわかりました</a:t>
            </a:r>
            <a:endParaRPr kumimoji="1" lang="en-US" altLang="ja-JP" dirty="0"/>
          </a:p>
          <a:p>
            <a:r>
              <a:rPr kumimoji="1" lang="ja-JP" altLang="en-US" dirty="0"/>
              <a:t>また、書式形態おいて、箇条書きや番振り、表形式での出力など一貫性が見られず、実用的でないことがわかりました。</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3</a:t>
            </a:fld>
            <a:endParaRPr kumimoji="1" lang="ja-JP" altLang="en-US"/>
          </a:p>
        </p:txBody>
      </p:sp>
    </p:spTree>
    <p:extLst>
      <p:ext uri="{BB962C8B-B14F-4D97-AF65-F5344CB8AC3E}">
        <p14:creationId xmlns:p14="http://schemas.microsoft.com/office/powerpoint/2010/main" val="1484813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先ほどの実験より、生成</a:t>
            </a:r>
            <a:r>
              <a:rPr kumimoji="1" lang="en-US" altLang="ja-JP" dirty="0"/>
              <a:t>AI</a:t>
            </a:r>
            <a:r>
              <a:rPr kumimoji="1" lang="ja-JP" altLang="en-US" dirty="0"/>
              <a:t>をそのまま使うだけでは、人とは異なる課題があることがわかり、人の代替にはなりえないと考えます。</a:t>
            </a:r>
            <a:endParaRPr kumimoji="1" lang="en-US" altLang="ja-JP" dirty="0"/>
          </a:p>
          <a:p>
            <a:r>
              <a:rPr kumimoji="1" lang="ja-JP" altLang="en-US" dirty="0"/>
              <a:t>推測補完による事実と推測の混同や項目の欠落、時系列の乱れは特に影響として大きく出てしまいます。</a:t>
            </a:r>
            <a:endParaRPr kumimoji="1" lang="en-US" altLang="ja-JP" dirty="0"/>
          </a:p>
          <a:p>
            <a:r>
              <a:rPr kumimoji="1" lang="ja-JP" altLang="en-US" dirty="0"/>
              <a:t>そこで、本研究では、プログラムにて補正を与えた設計を提案します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4</a:t>
            </a:fld>
            <a:endParaRPr kumimoji="1" lang="ja-JP" altLang="en-US"/>
          </a:p>
        </p:txBody>
      </p:sp>
    </p:spTree>
    <p:extLst>
      <p:ext uri="{BB962C8B-B14F-4D97-AF65-F5344CB8AC3E}">
        <p14:creationId xmlns:p14="http://schemas.microsoft.com/office/powerpoint/2010/main" val="940167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本研究では、従来人に見られる課題と先ほど見られた</a:t>
            </a:r>
            <a:r>
              <a:rPr kumimoji="1" lang="en-US" altLang="ja-JP" dirty="0"/>
              <a:t>AI</a:t>
            </a:r>
            <a:r>
              <a:rPr kumimoji="1" lang="ja-JP" altLang="en-US" dirty="0"/>
              <a:t>の課題より、</a:t>
            </a:r>
            <a:r>
              <a:rPr kumimoji="1" lang="en-US" altLang="ja-JP" dirty="0"/>
              <a:t>7</a:t>
            </a:r>
            <a:r>
              <a:rPr kumimoji="1" lang="ja-JP" altLang="en-US" dirty="0"/>
              <a:t>つに対して解決を試み、データ読み込みから仕様書出力までを自動化することを目的とし、素の生成</a:t>
            </a:r>
            <a:r>
              <a:rPr kumimoji="1" lang="en-US" altLang="ja-JP" dirty="0"/>
              <a:t>AI</a:t>
            </a:r>
            <a:r>
              <a:rPr kumimoji="1" lang="ja-JP" altLang="en-US" dirty="0"/>
              <a:t>との抽出精度と人の代替となりえるかについて検証します。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5</a:t>
            </a:fld>
            <a:endParaRPr kumimoji="1" lang="ja-JP" altLang="en-US"/>
          </a:p>
        </p:txBody>
      </p:sp>
    </p:spTree>
    <p:extLst>
      <p:ext uri="{BB962C8B-B14F-4D97-AF65-F5344CB8AC3E}">
        <p14:creationId xmlns:p14="http://schemas.microsoft.com/office/powerpoint/2010/main" val="4091149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提案手法についてです。</a:t>
            </a:r>
            <a:endParaRPr kumimoji="1" lang="en-US" altLang="ja-JP" dirty="0"/>
          </a:p>
          <a:p>
            <a:r>
              <a:rPr kumimoji="1" lang="ja-JP" altLang="en-US" dirty="0"/>
              <a:t>実験①では生成</a:t>
            </a:r>
            <a:r>
              <a:rPr kumimoji="1" lang="en-US" altLang="ja-JP" dirty="0"/>
              <a:t>AI</a:t>
            </a:r>
            <a:r>
              <a:rPr kumimoji="1" lang="ja-JP" altLang="en-US" dirty="0"/>
              <a:t>にて一度に命令を与えていました。</a:t>
            </a:r>
            <a:endParaRPr kumimoji="1" lang="en-US" altLang="ja-JP" dirty="0"/>
          </a:p>
          <a:p>
            <a:r>
              <a:rPr kumimoji="1" lang="ja-JP" altLang="en-US" dirty="0"/>
              <a:t>先行研究にて、複雑な命令より単純な命令の方が、生成</a:t>
            </a:r>
            <a:r>
              <a:rPr kumimoji="1" lang="en-US" altLang="ja-JP" dirty="0"/>
              <a:t>AI</a:t>
            </a:r>
            <a:r>
              <a:rPr kumimoji="1" lang="ja-JP" altLang="en-US" dirty="0"/>
              <a:t>の出力品質が高まることが分かっています。</a:t>
            </a:r>
            <a:endParaRPr kumimoji="1" lang="en-US" altLang="ja-JP" dirty="0"/>
          </a:p>
          <a:p>
            <a:r>
              <a:rPr kumimoji="1" lang="ja-JP" altLang="en-US" dirty="0"/>
              <a:t>そこで、生成</a:t>
            </a:r>
            <a:r>
              <a:rPr kumimoji="1" lang="en-US" altLang="ja-JP" dirty="0"/>
              <a:t>AI</a:t>
            </a:r>
            <a:r>
              <a:rPr kumimoji="1" lang="ja-JP" altLang="en-US" dirty="0"/>
              <a:t>を用いる工程で区切り、フェーズを２つに分けた設計を採用しています。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フェーズ１では、決定事項や質問、雑談といったラベルを付与し、発言ごとに識別を行い、その結果を中間</a:t>
            </a:r>
            <a:r>
              <a:rPr kumimoji="1" lang="en-US" altLang="ja-JP" dirty="0"/>
              <a:t>JSON</a:t>
            </a:r>
            <a:r>
              <a:rPr kumimoji="1" lang="ja-JP" altLang="en-US" dirty="0"/>
              <a:t>として出力させます。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フェーズ</a:t>
            </a:r>
            <a:r>
              <a:rPr kumimoji="1" lang="en-US" altLang="ja-JP" dirty="0"/>
              <a:t>2</a:t>
            </a:r>
            <a:r>
              <a:rPr kumimoji="1" lang="ja-JP" altLang="en-US" dirty="0"/>
              <a:t>では、抽出された中間</a:t>
            </a:r>
            <a:r>
              <a:rPr kumimoji="1" lang="en-US" altLang="ja-JP" dirty="0"/>
              <a:t>JSON</a:t>
            </a:r>
            <a:r>
              <a:rPr kumimoji="1" lang="ja-JP" altLang="en-US" dirty="0"/>
              <a:t>を参照し、時系列や情報の統合化を行った決定事項</a:t>
            </a:r>
            <a:r>
              <a:rPr kumimoji="1" lang="en-US" altLang="ja-JP" dirty="0"/>
              <a:t>JSON</a:t>
            </a:r>
            <a:r>
              <a:rPr kumimoji="1" lang="ja-JP" altLang="en-US" dirty="0"/>
              <a:t>を出力させ、テンプレートエンジンを用いて指定テンプレートに反映させます</a:t>
            </a:r>
            <a:endParaRPr kumimoji="1" lang="en-US" altLang="ja-JP" dirty="0"/>
          </a:p>
          <a:p>
            <a:r>
              <a:rPr kumimoji="1" lang="ja-JP" altLang="en-US" dirty="0"/>
              <a:t>こちらのシステム構成図をもとに、アプローチ手法について解説します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6</a:t>
            </a:fld>
            <a:endParaRPr kumimoji="1" lang="ja-JP" altLang="en-US"/>
          </a:p>
        </p:txBody>
      </p:sp>
    </p:spTree>
    <p:extLst>
      <p:ext uri="{BB962C8B-B14F-4D97-AF65-F5344CB8AC3E}">
        <p14:creationId xmlns:p14="http://schemas.microsoft.com/office/powerpoint/2010/main" val="3736271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今回行ったアプローチとして、主に</a:t>
            </a:r>
            <a:r>
              <a:rPr kumimoji="1" lang="en-US" altLang="ja-JP" dirty="0"/>
              <a:t>5</a:t>
            </a:r>
            <a:r>
              <a:rPr kumimoji="1" lang="ja-JP" altLang="en-US" dirty="0"/>
              <a:t>つになります。</a:t>
            </a:r>
            <a:endParaRPr kumimoji="1" lang="en-US" altLang="ja-JP" dirty="0"/>
          </a:p>
          <a:p>
            <a:r>
              <a:rPr kumimoji="1" lang="ja-JP" altLang="en-US" dirty="0"/>
              <a:t>生成</a:t>
            </a:r>
            <a:r>
              <a:rPr kumimoji="1" lang="en-US" altLang="ja-JP" dirty="0"/>
              <a:t>AI</a:t>
            </a:r>
            <a:r>
              <a:rPr kumimoji="1" lang="ja-JP" altLang="en-US" dirty="0"/>
              <a:t>モデルは、</a:t>
            </a:r>
            <a:r>
              <a:rPr kumimoji="1" lang="en-US" altLang="ja-JP" dirty="0"/>
              <a:t>OpenAI</a:t>
            </a:r>
            <a:r>
              <a:rPr kumimoji="1" lang="ja-JP" altLang="en-US" dirty="0"/>
              <a:t>が開発した</a:t>
            </a:r>
            <a:r>
              <a:rPr kumimoji="1" lang="en-US" altLang="ja-JP" dirty="0"/>
              <a:t>GPT-4o</a:t>
            </a:r>
            <a:r>
              <a:rPr kumimoji="1" lang="ja-JP" altLang="en-US" dirty="0"/>
              <a:t>を採用しています。このモデルの特徴として、高度な自然言語理解能力を持ち、テキストをもとに分析・抽出を行う今回の設計に適していると考えました。</a:t>
            </a:r>
            <a:endParaRPr kumimoji="1" lang="en-US" altLang="ja-JP" dirty="0"/>
          </a:p>
          <a:p>
            <a:r>
              <a:rPr kumimoji="1" lang="ja-JP" altLang="en-US" dirty="0"/>
              <a:t>フェーズを２つに分け、</a:t>
            </a:r>
            <a:r>
              <a:rPr kumimoji="1" lang="en-US" altLang="ja-JP" dirty="0"/>
              <a:t>GPT-4o</a:t>
            </a:r>
            <a:r>
              <a:rPr kumimoji="1" lang="ja-JP" altLang="en-US" dirty="0"/>
              <a:t>を用いる工程で、それぞれ</a:t>
            </a:r>
            <a:r>
              <a:rPr kumimoji="1" lang="en-US" altLang="ja-JP" dirty="0"/>
              <a:t>JSON</a:t>
            </a:r>
            <a:r>
              <a:rPr kumimoji="1" lang="ja-JP" altLang="en-US" dirty="0"/>
              <a:t>ファイルを出力させることにより、次のステップで確実なデータを渡すことができ、分析・抽出元を人側でも追跡することを可能としています。</a:t>
            </a:r>
            <a:endParaRPr kumimoji="1" lang="en-US" altLang="ja-JP" dirty="0"/>
          </a:p>
          <a:p>
            <a:r>
              <a:rPr kumimoji="1" lang="ja-JP" altLang="en-US" dirty="0"/>
              <a:t>また、実験①にて、</a:t>
            </a:r>
            <a:r>
              <a:rPr kumimoji="1" lang="en-US" altLang="ja-JP" dirty="0"/>
              <a:t>AI</a:t>
            </a:r>
            <a:r>
              <a:rPr kumimoji="1" lang="ja-JP" altLang="en-US" dirty="0"/>
              <a:t>の出力には、書式構造の一貫性が見られず、ここをテンプレートエンジンに任せることとします。</a:t>
            </a:r>
            <a:endParaRPr kumimoji="1" lang="en-US" altLang="ja-JP" dirty="0"/>
          </a:p>
          <a:p>
            <a:r>
              <a:rPr kumimoji="1" lang="ja-JP" altLang="en-US" dirty="0"/>
              <a:t>生成</a:t>
            </a:r>
            <a:r>
              <a:rPr kumimoji="1" lang="en-US" altLang="ja-JP" dirty="0"/>
              <a:t>AI</a:t>
            </a:r>
            <a:r>
              <a:rPr kumimoji="1" lang="ja-JP" altLang="en-US" dirty="0"/>
              <a:t>の出力のランダム性を抑えるため、温度パラメータの設定を行います</a:t>
            </a:r>
            <a:endParaRPr kumimoji="1" lang="en-US" altLang="ja-JP" dirty="0"/>
          </a:p>
          <a:p>
            <a:r>
              <a:rPr kumimoji="1" lang="ja-JP" altLang="en-US" dirty="0"/>
              <a:t>ここで、データセットに合わせた調整が他データにおいて有用かを確認するために、設定条件の固定情報を持つデータファイルを作成し、別データセットに対して汎化検証を行うことで、有用性を評価します</a:t>
            </a:r>
            <a:endParaRPr kumimoji="1" lang="en-US" altLang="ja-JP" dirty="0"/>
          </a:p>
          <a:p>
            <a:r>
              <a:rPr kumimoji="1" lang="ja-JP" altLang="en-US" dirty="0"/>
              <a:t>以降、この固定情報データファイルを凍結ファイルと呼称します。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7</a:t>
            </a:fld>
            <a:endParaRPr kumimoji="1" lang="ja-JP" altLang="en-US"/>
          </a:p>
        </p:txBody>
      </p:sp>
    </p:spTree>
    <p:extLst>
      <p:ext uri="{BB962C8B-B14F-4D97-AF65-F5344CB8AC3E}">
        <p14:creationId xmlns:p14="http://schemas.microsoft.com/office/powerpoint/2010/main" val="4256557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使用するデータセットは、この２つになります。</a:t>
            </a:r>
            <a:endParaRPr kumimoji="1" lang="en-US" altLang="ja-JP" dirty="0"/>
          </a:p>
          <a:p>
            <a:r>
              <a:rPr kumimoji="1" lang="ja-JP" altLang="en-US" dirty="0"/>
              <a:t>これらは、実際の案件をもとに、企業名や機密情報を除いたデータセットとして調整したもので、他発言内容についてはそのまま使用しています。</a:t>
            </a:r>
            <a:endParaRPr kumimoji="1" lang="en-US" altLang="ja-JP" dirty="0"/>
          </a:p>
          <a:p>
            <a:r>
              <a:rPr kumimoji="1" lang="en-US" altLang="ja-JP" dirty="0"/>
              <a:t>2</a:t>
            </a:r>
            <a:r>
              <a:rPr kumimoji="1" lang="ja-JP" altLang="en-US" dirty="0"/>
              <a:t>つのデータセットには、発言期限の長さ、仕様変更の複雑さといった違いがあります</a:t>
            </a:r>
            <a:endParaRPr kumimoji="1" lang="en-US" altLang="ja-JP" dirty="0"/>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8</a:t>
            </a:fld>
            <a:endParaRPr kumimoji="1" lang="ja-JP" altLang="en-US"/>
          </a:p>
        </p:txBody>
      </p:sp>
    </p:spTree>
    <p:extLst>
      <p:ext uri="{BB962C8B-B14F-4D97-AF65-F5344CB8AC3E}">
        <p14:creationId xmlns:p14="http://schemas.microsoft.com/office/powerpoint/2010/main" val="1288675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前述した凍結ファイルにて、各データセットの温度パラメータ　</a:t>
            </a:r>
            <a:r>
              <a:rPr kumimoji="1" lang="en-US" altLang="ja-JP" dirty="0"/>
              <a:t>temperature</a:t>
            </a:r>
            <a:r>
              <a:rPr kumimoji="1" lang="ja-JP" altLang="en-US" dirty="0"/>
              <a:t>の最適値を調査する実験を行いました</a:t>
            </a:r>
            <a:endParaRPr kumimoji="1" lang="en-US" altLang="ja-JP" dirty="0"/>
          </a:p>
          <a:p>
            <a:r>
              <a:rPr kumimoji="1" lang="ja-JP" altLang="en-US" dirty="0"/>
              <a:t>実験方法として、</a:t>
            </a:r>
            <a:r>
              <a:rPr kumimoji="1" lang="en-US" altLang="ja-JP" dirty="0"/>
              <a:t>0.0</a:t>
            </a:r>
            <a:r>
              <a:rPr kumimoji="1" lang="ja-JP" altLang="en-US" dirty="0"/>
              <a:t>から</a:t>
            </a:r>
            <a:r>
              <a:rPr kumimoji="1" lang="en-US" altLang="ja-JP" dirty="0"/>
              <a:t>1.0</a:t>
            </a:r>
            <a:r>
              <a:rPr kumimoji="1" lang="ja-JP" altLang="en-US" dirty="0"/>
              <a:t>の範囲で</a:t>
            </a:r>
            <a:r>
              <a:rPr kumimoji="1" lang="en-US" altLang="ja-JP" dirty="0"/>
              <a:t>0.1</a:t>
            </a:r>
            <a:r>
              <a:rPr kumimoji="1" lang="ja-JP" altLang="en-US" dirty="0"/>
              <a:t>刻みで</a:t>
            </a:r>
            <a:r>
              <a:rPr kumimoji="1" lang="en-US" altLang="ja-JP" dirty="0"/>
              <a:t>temperature</a:t>
            </a:r>
            <a:r>
              <a:rPr kumimoji="1" lang="ja-JP" altLang="en-US" dirty="0"/>
              <a:t>を変化させた凍結ファイルを両データセットについて作成し、同一データともう一方のデータで抽出精度についてそれぞれ</a:t>
            </a:r>
            <a:r>
              <a:rPr kumimoji="1" lang="en-US" altLang="ja-JP" dirty="0"/>
              <a:t>10</a:t>
            </a:r>
            <a:r>
              <a:rPr kumimoji="1" lang="ja-JP" altLang="en-US" dirty="0"/>
              <a:t>回行い測定しました</a:t>
            </a:r>
            <a:endParaRPr kumimoji="1" lang="en-US" altLang="ja-JP" dirty="0"/>
          </a:p>
          <a:p>
            <a:r>
              <a:rPr kumimoji="1" lang="ja-JP" altLang="en-US" dirty="0"/>
              <a:t>凍結ファイルにおいて、</a:t>
            </a:r>
            <a:r>
              <a:rPr kumimoji="1" lang="en-US" altLang="ja-JP" dirty="0"/>
              <a:t>lock_ds1</a:t>
            </a:r>
            <a:r>
              <a:rPr kumimoji="1" lang="ja-JP" altLang="en-US" dirty="0"/>
              <a:t>は</a:t>
            </a:r>
            <a:r>
              <a:rPr kumimoji="1" lang="en-US" altLang="ja-JP" dirty="0"/>
              <a:t>DS1</a:t>
            </a:r>
            <a:r>
              <a:rPr kumimoji="1" lang="ja-JP" altLang="en-US" dirty="0"/>
              <a:t>を用いて作成したもので、</a:t>
            </a:r>
            <a:r>
              <a:rPr kumimoji="1" lang="en-US" altLang="ja-JP" dirty="0"/>
              <a:t>lock_ds2</a:t>
            </a:r>
            <a:r>
              <a:rPr kumimoji="1" lang="ja-JP" altLang="en-US" dirty="0"/>
              <a:t>は</a:t>
            </a:r>
            <a:r>
              <a:rPr kumimoji="1" lang="en-US" altLang="ja-JP" dirty="0"/>
              <a:t>DS2</a:t>
            </a:r>
            <a:r>
              <a:rPr kumimoji="1" lang="ja-JP" altLang="en-US" dirty="0"/>
              <a:t>を用いて作成したものになります。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9</a:t>
            </a:fld>
            <a:endParaRPr kumimoji="1" lang="ja-JP" altLang="en-US"/>
          </a:p>
        </p:txBody>
      </p:sp>
    </p:spTree>
    <p:extLst>
      <p:ext uri="{BB962C8B-B14F-4D97-AF65-F5344CB8AC3E}">
        <p14:creationId xmlns:p14="http://schemas.microsoft.com/office/powerpoint/2010/main" val="2807286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E507F-527B-49D5-D322-3F2308BF47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98D17D-6E18-350A-F068-1EBE470764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F9845D-BA84-77B1-A3AD-408EC30A78E7}"/>
              </a:ext>
            </a:extLst>
          </p:cNvPr>
          <p:cNvSpPr>
            <a:spLocks noGrp="1"/>
          </p:cNvSpPr>
          <p:nvPr>
            <p:ph type="body" idx="1"/>
          </p:nvPr>
        </p:nvSpPr>
        <p:spPr/>
        <p:txBody>
          <a:bodyPr/>
          <a:lstStyle/>
          <a:p>
            <a:r>
              <a:rPr kumimoji="1" lang="ja-JP" altLang="en-US" dirty="0"/>
              <a:t>結果としてこのようになりました</a:t>
            </a:r>
            <a:endParaRPr kumimoji="1" lang="en-US" altLang="ja-JP" dirty="0"/>
          </a:p>
          <a:p>
            <a:r>
              <a:rPr kumimoji="1" lang="ja-JP" altLang="en-US" dirty="0"/>
              <a:t>両データより、温度を上げるほど、平均が増えるだけでなく、最小から最大の幅も変わることが見られます</a:t>
            </a:r>
            <a:endParaRPr kumimoji="1" lang="en-US" altLang="ja-JP" dirty="0"/>
          </a:p>
          <a:p>
            <a:r>
              <a:rPr kumimoji="1" lang="ja-JP" altLang="en-US" dirty="0"/>
              <a:t>また、両データセットにて、全項目数を上回る出力が確認されることから、これは、</a:t>
            </a:r>
            <a:r>
              <a:rPr kumimoji="1" lang="en-US" altLang="ja-JP" dirty="0"/>
              <a:t>AI</a:t>
            </a:r>
            <a:r>
              <a:rPr kumimoji="1" lang="ja-JP" altLang="en-US" dirty="0"/>
              <a:t>の予測推論が影響していると考えられます</a:t>
            </a:r>
            <a:endParaRPr kumimoji="1" lang="en-US" altLang="ja-JP" dirty="0"/>
          </a:p>
          <a:p>
            <a:r>
              <a:rPr kumimoji="1" lang="ja-JP" altLang="en-US" dirty="0"/>
              <a:t>今回結果より、抽出率と不要な情報や</a:t>
            </a:r>
            <a:r>
              <a:rPr kumimoji="1" lang="en-US" altLang="ja-JP" dirty="0"/>
              <a:t>AI</a:t>
            </a:r>
            <a:r>
              <a:rPr kumimoji="1" lang="ja-JP" altLang="en-US" dirty="0"/>
              <a:t>の推論の影響が小さいことを基準として、</a:t>
            </a:r>
            <a:r>
              <a:rPr kumimoji="1" lang="en-US" altLang="ja-JP" dirty="0"/>
              <a:t>DS1</a:t>
            </a:r>
            <a:r>
              <a:rPr kumimoji="1" lang="ja-JP" altLang="en-US" dirty="0"/>
              <a:t>は</a:t>
            </a:r>
            <a:r>
              <a:rPr kumimoji="1" lang="en-US" altLang="ja-JP" dirty="0"/>
              <a:t>0.2, DS2</a:t>
            </a:r>
            <a:r>
              <a:rPr kumimoji="1" lang="ja-JP" altLang="en-US" dirty="0"/>
              <a:t>では</a:t>
            </a:r>
            <a:r>
              <a:rPr kumimoji="1" lang="en-US" altLang="ja-JP" dirty="0"/>
              <a:t>0.6</a:t>
            </a:r>
            <a:r>
              <a:rPr kumimoji="1" lang="ja-JP" altLang="en-US" dirty="0"/>
              <a:t>を採用し、次の実験ではこちらの凍結ファイルを用いて汎化検証を行った結果になります</a:t>
            </a:r>
          </a:p>
        </p:txBody>
      </p:sp>
      <p:sp>
        <p:nvSpPr>
          <p:cNvPr id="4" name="スライド番号プレースホルダー 3">
            <a:extLst>
              <a:ext uri="{FF2B5EF4-FFF2-40B4-BE49-F238E27FC236}">
                <a16:creationId xmlns:a16="http://schemas.microsoft.com/office/drawing/2014/main" id="{76D412F8-0718-71BC-1507-856009F5C12E}"/>
              </a:ext>
            </a:extLst>
          </p:cNvPr>
          <p:cNvSpPr>
            <a:spLocks noGrp="1"/>
          </p:cNvSpPr>
          <p:nvPr>
            <p:ph type="sldNum" sz="quarter" idx="5"/>
          </p:nvPr>
        </p:nvSpPr>
        <p:spPr/>
        <p:txBody>
          <a:bodyPr/>
          <a:lstStyle/>
          <a:p>
            <a:fld id="{0BEF29B3-0BFE-45E1-AC17-47FA859AF79F}" type="slidenum">
              <a:rPr kumimoji="1" lang="ja-JP" altLang="en-US" smtClean="0"/>
              <a:t>10</a:t>
            </a:fld>
            <a:endParaRPr kumimoji="1" lang="ja-JP" altLang="en-US"/>
          </a:p>
        </p:txBody>
      </p:sp>
    </p:spTree>
    <p:extLst>
      <p:ext uri="{BB962C8B-B14F-4D97-AF65-F5344CB8AC3E}">
        <p14:creationId xmlns:p14="http://schemas.microsoft.com/office/powerpoint/2010/main" val="372150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凍結ファイルに用いたデータセットは異なるデータに対して実行した結果になります</a:t>
            </a:r>
            <a:endParaRPr kumimoji="1" lang="en-US" altLang="ja-JP" dirty="0"/>
          </a:p>
          <a:p>
            <a:r>
              <a:rPr kumimoji="1" lang="ja-JP" altLang="en-US" dirty="0"/>
              <a:t>両データから、凍結ファイルの作成に使用したデータセットを同じデータセットに適用したときのほうが結果が良い傾向が見られました。</a:t>
            </a:r>
            <a:endParaRPr kumimoji="1" lang="en-US" altLang="ja-JP" dirty="0"/>
          </a:p>
          <a:p>
            <a:r>
              <a:rPr kumimoji="1" lang="ja-JP" altLang="en-US" dirty="0"/>
              <a:t>一方、別データセットに適用しても極端には崩れないが、データ特性の違いから同一データ程の精度は見られませんでした</a:t>
            </a:r>
            <a:endParaRPr kumimoji="1" lang="en-US" altLang="ja-JP" dirty="0"/>
          </a:p>
          <a:p>
            <a:r>
              <a:rPr kumimoji="1" lang="ja-JP" altLang="en-US" dirty="0"/>
              <a:t>また、今回所要時間についても計測してみたところ、データセットが異なる場合でもあまり差がないことが確認できます。</a:t>
            </a:r>
            <a:endParaRPr kumimoji="1" lang="en-US" altLang="ja-JP" dirty="0"/>
          </a:p>
          <a:p>
            <a:r>
              <a:rPr kumimoji="1" lang="ja-JP" altLang="en-US" dirty="0"/>
              <a:t>これらの結果から、温度調整と凍結ファイルによる固定情報の保持は有効であると考えます。</a:t>
            </a:r>
            <a:endParaRPr kumimoji="1" lang="en-US" altLang="ja-JP" dirty="0"/>
          </a:p>
          <a:p>
            <a:r>
              <a:rPr kumimoji="1" lang="ja-JP" altLang="en-US" dirty="0"/>
              <a:t>ただし、最適値はデータセットの特質に依存するため、対象ログの種類ごとの調整が必要であると考えます。</a:t>
            </a:r>
            <a:endParaRPr kumimoji="1" lang="en-US" altLang="ja-JP" dirty="0"/>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11</a:t>
            </a:fld>
            <a:endParaRPr kumimoji="1" lang="ja-JP" altLang="en-US"/>
          </a:p>
        </p:txBody>
      </p:sp>
    </p:spTree>
    <p:extLst>
      <p:ext uri="{BB962C8B-B14F-4D97-AF65-F5344CB8AC3E}">
        <p14:creationId xmlns:p14="http://schemas.microsoft.com/office/powerpoint/2010/main" val="2814531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続いて、実験②で得られた温度パラメータを用いて、素の</a:t>
            </a:r>
            <a:r>
              <a:rPr kumimoji="1" lang="en-US" altLang="ja-JP" dirty="0"/>
              <a:t>AI</a:t>
            </a:r>
            <a:r>
              <a:rPr kumimoji="1" lang="ja-JP" altLang="en-US" dirty="0"/>
              <a:t>と本研究プログラム、本研究プログラムと人手作成についてそれぞれ比較し、抽出率や精度、課題解決ができているかを比較します</a:t>
            </a:r>
            <a:endParaRPr kumimoji="1" lang="en-US" altLang="ja-JP" dirty="0"/>
          </a:p>
          <a:p>
            <a:r>
              <a:rPr kumimoji="1" lang="ja-JP" altLang="en-US" dirty="0"/>
              <a:t>測定方法としては、素の</a:t>
            </a:r>
            <a:r>
              <a:rPr kumimoji="1" lang="en-US" altLang="ja-JP" dirty="0"/>
              <a:t>AI</a:t>
            </a:r>
            <a:r>
              <a:rPr kumimoji="1" lang="ja-JP" altLang="en-US" dirty="0"/>
              <a:t>と本研究プログラムは、</a:t>
            </a:r>
            <a:r>
              <a:rPr kumimoji="1" lang="en-US" altLang="ja-JP" dirty="0"/>
              <a:t>10</a:t>
            </a:r>
            <a:r>
              <a:rPr kumimoji="1" lang="ja-JP" altLang="en-US" dirty="0"/>
              <a:t>回行った結果を用い、人手作成は、誤りがないことが確認できるまでを</a:t>
            </a:r>
            <a:r>
              <a:rPr kumimoji="1" lang="en-US" altLang="ja-JP" dirty="0"/>
              <a:t>1</a:t>
            </a:r>
            <a:r>
              <a:rPr kumimoji="1" lang="ja-JP" altLang="en-US" dirty="0"/>
              <a:t>度行い、その結果を用いることとします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12</a:t>
            </a:fld>
            <a:endParaRPr kumimoji="1" lang="ja-JP" altLang="en-US"/>
          </a:p>
        </p:txBody>
      </p:sp>
    </p:spTree>
    <p:extLst>
      <p:ext uri="{BB962C8B-B14F-4D97-AF65-F5344CB8AC3E}">
        <p14:creationId xmlns:p14="http://schemas.microsoft.com/office/powerpoint/2010/main" val="3761324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素の</a:t>
            </a:r>
            <a:r>
              <a:rPr kumimoji="1" lang="en-US" altLang="ja-JP" dirty="0"/>
              <a:t>AI</a:t>
            </a:r>
            <a:r>
              <a:rPr kumimoji="1" lang="ja-JP" altLang="en-US" dirty="0"/>
              <a:t>と本研究プログラムの比較についてです</a:t>
            </a:r>
            <a:endParaRPr kumimoji="1" lang="en-US" altLang="ja-JP" dirty="0"/>
          </a:p>
          <a:p>
            <a:r>
              <a:rPr kumimoji="1" lang="ja-JP" altLang="en-US" dirty="0"/>
              <a:t>テンプレートエンジンによって、どちらも書式の統一性を持たせることができています。</a:t>
            </a:r>
            <a:endParaRPr kumimoji="1" lang="en-US" altLang="ja-JP" dirty="0"/>
          </a:p>
          <a:p>
            <a:r>
              <a:rPr kumimoji="1" lang="ja-JP" altLang="en-US" dirty="0"/>
              <a:t>抽出率についても、</a:t>
            </a:r>
            <a:r>
              <a:rPr kumimoji="1" lang="en-US" altLang="ja-JP" dirty="0"/>
              <a:t>DS1</a:t>
            </a:r>
            <a:r>
              <a:rPr kumimoji="1" lang="ja-JP" altLang="en-US" dirty="0"/>
              <a:t>では、約</a:t>
            </a:r>
            <a:r>
              <a:rPr kumimoji="1" lang="en-US" altLang="ja-JP" dirty="0"/>
              <a:t>25%</a:t>
            </a:r>
            <a:r>
              <a:rPr kumimoji="1" lang="ja-JP" altLang="en-US" dirty="0"/>
              <a:t>、</a:t>
            </a:r>
            <a:r>
              <a:rPr kumimoji="1" lang="en-US" altLang="ja-JP" dirty="0"/>
              <a:t>DS2</a:t>
            </a:r>
            <a:r>
              <a:rPr kumimoji="1" lang="ja-JP" altLang="en-US" dirty="0"/>
              <a:t>では、約</a:t>
            </a:r>
            <a:r>
              <a:rPr kumimoji="1" lang="en-US" altLang="ja-JP" dirty="0"/>
              <a:t>7%</a:t>
            </a:r>
            <a:r>
              <a:rPr kumimoji="1" lang="ja-JP" altLang="en-US" dirty="0"/>
              <a:t>、本研究の方が良い結果が見られました</a:t>
            </a:r>
            <a:endParaRPr kumimoji="1" lang="en-US" altLang="ja-JP" dirty="0"/>
          </a:p>
          <a:p>
            <a:r>
              <a:rPr kumimoji="1" lang="ja-JP" altLang="en-US" dirty="0"/>
              <a:t>主に、温度調整、段階処理、テンプレートエンジンによって、所要時間は数秒の差しかないものの、抽出精度・品質の向上が確認できました。</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13</a:t>
            </a:fld>
            <a:endParaRPr kumimoji="1" lang="ja-JP" altLang="en-US"/>
          </a:p>
        </p:txBody>
      </p:sp>
    </p:spTree>
    <p:extLst>
      <p:ext uri="{BB962C8B-B14F-4D97-AF65-F5344CB8AC3E}">
        <p14:creationId xmlns:p14="http://schemas.microsoft.com/office/powerpoint/2010/main" val="3602910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続いて、本研究プログラムと人手作成の比較についてです</a:t>
            </a:r>
            <a:endParaRPr kumimoji="1" lang="en-US" altLang="ja-JP" dirty="0"/>
          </a:p>
          <a:p>
            <a:r>
              <a:rPr kumimoji="1" lang="ja-JP" altLang="en-US" dirty="0"/>
              <a:t>人では、</a:t>
            </a:r>
            <a:r>
              <a:rPr kumimoji="1" lang="en-US" altLang="ja-JP" dirty="0"/>
              <a:t>3</a:t>
            </a:r>
            <a:r>
              <a:rPr kumimoji="1" lang="ja-JP" altLang="en-US" dirty="0"/>
              <a:t>時間超の時間を要しましたが、本研究では、</a:t>
            </a:r>
            <a:r>
              <a:rPr kumimoji="1" lang="en-US" altLang="ja-JP" dirty="0"/>
              <a:t>2~3</a:t>
            </a:r>
            <a:r>
              <a:rPr kumimoji="1" lang="ja-JP" altLang="en-US" dirty="0"/>
              <a:t>分で処理できています。</a:t>
            </a:r>
            <a:endParaRPr kumimoji="1" lang="en-US" altLang="ja-JP" dirty="0"/>
          </a:p>
          <a:p>
            <a:r>
              <a:rPr kumimoji="1" lang="ja-JP" altLang="en-US" dirty="0"/>
              <a:t>しかし、本研究では、抽出率の向上は見られたものの、重要項目の抽出率を含め完全ではなく、項目の漏れが見られています。</a:t>
            </a:r>
            <a:endParaRPr kumimoji="1" lang="en-US" altLang="ja-JP" dirty="0"/>
          </a:p>
          <a:p>
            <a:r>
              <a:rPr kumimoji="1" lang="ja-JP" altLang="en-US" dirty="0"/>
              <a:t>このことから、人の完全代替にはなり得ないものの、支援という形で実現できることが見えました。</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14</a:t>
            </a:fld>
            <a:endParaRPr kumimoji="1" lang="ja-JP" altLang="en-US"/>
          </a:p>
        </p:txBody>
      </p:sp>
    </p:spTree>
    <p:extLst>
      <p:ext uri="{BB962C8B-B14F-4D97-AF65-F5344CB8AC3E}">
        <p14:creationId xmlns:p14="http://schemas.microsoft.com/office/powerpoint/2010/main" val="17448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実験結果をまとめると、温度パラメータの最適化により精度向上が見られたが、人の水準には達しませんでした</a:t>
            </a:r>
            <a:endParaRPr kumimoji="1" lang="en-US" altLang="ja-JP" dirty="0"/>
          </a:p>
          <a:p>
            <a:r>
              <a:rPr kumimoji="1" lang="ja-JP" altLang="en-US" dirty="0"/>
              <a:t>一方で、所要時間は大幅に減少でき、実務負担の軽減において期待できます。</a:t>
            </a:r>
            <a:endParaRPr kumimoji="1" lang="en-US" altLang="ja-JP" dirty="0"/>
          </a:p>
          <a:p>
            <a:r>
              <a:rPr kumimoji="1" lang="ja-JP" altLang="en-US" dirty="0"/>
              <a:t>今回見られた全項目数を上回る過抽出や情報の欠落、出力結果に日本語と英語といった複数言語が混在する問題については、現在の生成</a:t>
            </a:r>
            <a:r>
              <a:rPr kumimoji="1" lang="en-US" altLang="ja-JP" dirty="0"/>
              <a:t>AI</a:t>
            </a:r>
            <a:r>
              <a:rPr kumimoji="1" lang="ja-JP" altLang="en-US" dirty="0"/>
              <a:t>の分析・出力特性によって起きていると考えます。</a:t>
            </a:r>
            <a:endParaRPr kumimoji="1" lang="en-US" altLang="ja-JP" dirty="0"/>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15</a:t>
            </a:fld>
            <a:endParaRPr kumimoji="1" lang="ja-JP" altLang="en-US"/>
          </a:p>
        </p:txBody>
      </p:sp>
    </p:spTree>
    <p:extLst>
      <p:ext uri="{BB962C8B-B14F-4D97-AF65-F5344CB8AC3E}">
        <p14:creationId xmlns:p14="http://schemas.microsoft.com/office/powerpoint/2010/main" val="801097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先ほど挙げた言語の混在と人の代替になり得るかについて考察します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言語の混在について、出力結果を日本語で返す命令をいれても結果があまり変わらなかったことから、入力ログや用語、テンプレートなどのファイルに英語が混ざることで、生成</a:t>
            </a:r>
            <a:r>
              <a:rPr kumimoji="1" lang="en-US" altLang="ja-JP" dirty="0"/>
              <a:t>AI</a:t>
            </a:r>
            <a:r>
              <a:rPr kumimoji="1" lang="ja-JP" altLang="en-US" dirty="0"/>
              <a:t>の出力仕様の誘導により発生したと推察しています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続いて、人の代替となり得るかについてです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結論からいうと現状は難しいと判断しました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理由としては、２つあります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一つ目は、</a:t>
            </a:r>
            <a:r>
              <a:rPr kumimoji="1" lang="en-US" altLang="ja-JP" dirty="0"/>
              <a:t>AI</a:t>
            </a:r>
            <a:r>
              <a:rPr kumimoji="1" lang="ja-JP" altLang="en-US" dirty="0"/>
              <a:t>の推測補完の影響が大きく、過抽出や内容の誤りをゼロにできず、ここの点において保証できないことです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２つ目は、ログによっては、決定や未定、検討中といった明確に判断できる言葉が含まれず、人の間で暗黙な合意や認識がある場合、現在の生成</a:t>
            </a:r>
            <a:r>
              <a:rPr kumimoji="1" lang="en-US" altLang="ja-JP" dirty="0"/>
              <a:t>AI</a:t>
            </a:r>
            <a:r>
              <a:rPr kumimoji="1" lang="ja-JP" altLang="en-US" dirty="0"/>
              <a:t>では、判別できず、実際の認識とずれてしまうことです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この２つについては、</a:t>
            </a:r>
            <a:r>
              <a:rPr kumimoji="1" lang="en-US" altLang="ja-JP" dirty="0"/>
              <a:t>AI</a:t>
            </a:r>
            <a:r>
              <a:rPr kumimoji="1" lang="ja-JP" altLang="en-US" dirty="0"/>
              <a:t>モデルの進化によって改善する余地はありますが、進化しても確率的生成の性質が残る限りは、実運用で人の代替にはなり得ないと考えます。</a:t>
            </a:r>
            <a:endParaRPr kumimoji="1" lang="en-US" altLang="ja-JP" dirty="0"/>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16</a:t>
            </a:fld>
            <a:endParaRPr kumimoji="1" lang="ja-JP" altLang="en-US"/>
          </a:p>
        </p:txBody>
      </p:sp>
    </p:spTree>
    <p:extLst>
      <p:ext uri="{BB962C8B-B14F-4D97-AF65-F5344CB8AC3E}">
        <p14:creationId xmlns:p14="http://schemas.microsoft.com/office/powerpoint/2010/main" val="1810460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本研究についてまとめます</a:t>
            </a:r>
            <a:endParaRPr kumimoji="1" lang="en-US" altLang="ja-JP" dirty="0"/>
          </a:p>
          <a:p>
            <a:r>
              <a:rPr kumimoji="1" lang="ja-JP" altLang="en-US" dirty="0"/>
              <a:t>議事録ログから要求要件を抽出し、テンプレートエンジンを用いての仕様書化、段階処理、温度パラメータの最適化は有効でした。</a:t>
            </a:r>
            <a:endParaRPr kumimoji="1" lang="en-US" altLang="ja-JP" dirty="0"/>
          </a:p>
          <a:p>
            <a:r>
              <a:rPr kumimoji="1" lang="ja-JP" altLang="en-US" dirty="0"/>
              <a:t>実験にて、人の負担軽減の可能性は見えましたが、抽出精度、過抽出、最終状態判定の課題が残り、現状、人の完全代替には至らないことがわかりました。</a:t>
            </a:r>
            <a:endParaRPr kumimoji="1" lang="en-US" altLang="ja-JP" dirty="0"/>
          </a:p>
          <a:p>
            <a:r>
              <a:rPr kumimoji="1" lang="ja-JP" altLang="en-US" dirty="0"/>
              <a:t>今後の生成</a:t>
            </a:r>
            <a:r>
              <a:rPr kumimoji="1" lang="en-US" altLang="ja-JP" dirty="0"/>
              <a:t>AI</a:t>
            </a:r>
            <a:r>
              <a:rPr kumimoji="1" lang="ja-JP" altLang="en-US" dirty="0"/>
              <a:t>の進化傾向や生成</a:t>
            </a:r>
            <a:r>
              <a:rPr kumimoji="1" lang="en-US" altLang="ja-JP" dirty="0"/>
              <a:t>AI</a:t>
            </a:r>
            <a:r>
              <a:rPr kumimoji="1" lang="ja-JP" altLang="en-US" dirty="0"/>
              <a:t>の特性に人が合わせることで問題解決につながる見込みはあるとして、今後の展望とします。</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17</a:t>
            </a:fld>
            <a:endParaRPr kumimoji="1" lang="ja-JP" altLang="en-US"/>
          </a:p>
        </p:txBody>
      </p:sp>
    </p:spTree>
    <p:extLst>
      <p:ext uri="{BB962C8B-B14F-4D97-AF65-F5344CB8AC3E}">
        <p14:creationId xmlns:p14="http://schemas.microsoft.com/office/powerpoint/2010/main" val="1813044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以上で、発表を終わります</a:t>
            </a:r>
            <a:endParaRPr kumimoji="1" lang="en-US" altLang="ja-JP" dirty="0"/>
          </a:p>
          <a:p>
            <a:r>
              <a:rPr kumimoji="1" lang="ja-JP" altLang="en-US" dirty="0"/>
              <a:t>ご清聴ありがとうございました</a:t>
            </a:r>
          </a:p>
        </p:txBody>
      </p:sp>
      <p:sp>
        <p:nvSpPr>
          <p:cNvPr id="4" name="スライド番号プレースホルダー 3"/>
          <p:cNvSpPr>
            <a:spLocks noGrp="1"/>
          </p:cNvSpPr>
          <p:nvPr>
            <p:ph type="sldNum" sz="quarter" idx="5"/>
          </p:nvPr>
        </p:nvSpPr>
        <p:spPr/>
        <p:txBody>
          <a:bodyPr/>
          <a:lstStyle/>
          <a:p>
            <a:fld id="{0BEF29B3-0BFE-45E1-AC17-47FA859AF79F}" type="slidenum">
              <a:rPr kumimoji="1" lang="ja-JP" altLang="en-US" smtClean="0"/>
              <a:t>18</a:t>
            </a:fld>
            <a:endParaRPr kumimoji="1" lang="ja-JP" altLang="en-US"/>
          </a:p>
        </p:txBody>
      </p:sp>
    </p:spTree>
    <p:extLst>
      <p:ext uri="{BB962C8B-B14F-4D97-AF65-F5344CB8AC3E}">
        <p14:creationId xmlns:p14="http://schemas.microsoft.com/office/powerpoint/2010/main" val="4108756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B3F1CF-5D29-0ECE-6854-7AA41236D7C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08297F5-009E-E132-D4C1-8EB589AF76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E75E982-1D86-4A35-22FB-85F0C934270E}"/>
              </a:ext>
            </a:extLst>
          </p:cNvPr>
          <p:cNvSpPr>
            <a:spLocks noGrp="1"/>
          </p:cNvSpPr>
          <p:nvPr>
            <p:ph type="dt" sz="half" idx="10"/>
          </p:nvPr>
        </p:nvSpPr>
        <p:spPr/>
        <p:txBody>
          <a:bodyPr/>
          <a:lstStyle/>
          <a:p>
            <a:fld id="{D705ED8C-C764-41F5-96CF-0F9B15F62710}" type="datetime1">
              <a:rPr kumimoji="1" lang="ja-JP" altLang="en-US" smtClean="0"/>
              <a:t>2026/2/8</a:t>
            </a:fld>
            <a:endParaRPr kumimoji="1" lang="ja-JP" altLang="en-US"/>
          </a:p>
        </p:txBody>
      </p:sp>
      <p:sp>
        <p:nvSpPr>
          <p:cNvPr id="5" name="フッター プレースホルダー 4">
            <a:extLst>
              <a:ext uri="{FF2B5EF4-FFF2-40B4-BE49-F238E27FC236}">
                <a16:creationId xmlns:a16="http://schemas.microsoft.com/office/drawing/2014/main" id="{FACA8F91-44C0-C53F-84CB-82093B91EC7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307FA1-517C-6E49-DF2C-DE20401CE3A8}"/>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3717426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F8F0C3-8723-E6EB-1CD3-FF4A4873939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ABCC6CE-1AA6-29B8-FA2C-E44291A07E8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0E23E14-85C5-9886-633C-EE02CDB1B09B}"/>
              </a:ext>
            </a:extLst>
          </p:cNvPr>
          <p:cNvSpPr>
            <a:spLocks noGrp="1"/>
          </p:cNvSpPr>
          <p:nvPr>
            <p:ph type="dt" sz="half" idx="10"/>
          </p:nvPr>
        </p:nvSpPr>
        <p:spPr/>
        <p:txBody>
          <a:bodyPr/>
          <a:lstStyle/>
          <a:p>
            <a:fld id="{11BD9CF9-F98D-4852-8F64-2FC979518458}" type="datetime1">
              <a:rPr kumimoji="1" lang="ja-JP" altLang="en-US" smtClean="0"/>
              <a:t>2026/2/8</a:t>
            </a:fld>
            <a:endParaRPr kumimoji="1" lang="ja-JP" altLang="en-US"/>
          </a:p>
        </p:txBody>
      </p:sp>
      <p:sp>
        <p:nvSpPr>
          <p:cNvPr id="5" name="フッター プレースホルダー 4">
            <a:extLst>
              <a:ext uri="{FF2B5EF4-FFF2-40B4-BE49-F238E27FC236}">
                <a16:creationId xmlns:a16="http://schemas.microsoft.com/office/drawing/2014/main" id="{7CAF512B-C418-D84D-DFC3-181C251AAAA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BB726C-AE8F-154B-B1A7-2C3B207821C0}"/>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1839973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4306B5-3470-456A-8E2A-7C4752A2710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5839A7D-4172-F7D4-8E9B-D01D6D369E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373C8BF-2C78-DBA1-35D2-7B2906E3AEC6}"/>
              </a:ext>
            </a:extLst>
          </p:cNvPr>
          <p:cNvSpPr>
            <a:spLocks noGrp="1"/>
          </p:cNvSpPr>
          <p:nvPr>
            <p:ph type="dt" sz="half" idx="10"/>
          </p:nvPr>
        </p:nvSpPr>
        <p:spPr/>
        <p:txBody>
          <a:bodyPr/>
          <a:lstStyle/>
          <a:p>
            <a:fld id="{BC7A392E-DF18-4958-95B6-B6810D71BE20}" type="datetime1">
              <a:rPr kumimoji="1" lang="ja-JP" altLang="en-US" smtClean="0"/>
              <a:t>2026/2/8</a:t>
            </a:fld>
            <a:endParaRPr kumimoji="1" lang="ja-JP" altLang="en-US"/>
          </a:p>
        </p:txBody>
      </p:sp>
      <p:sp>
        <p:nvSpPr>
          <p:cNvPr id="5" name="フッター プレースホルダー 4">
            <a:extLst>
              <a:ext uri="{FF2B5EF4-FFF2-40B4-BE49-F238E27FC236}">
                <a16:creationId xmlns:a16="http://schemas.microsoft.com/office/drawing/2014/main" id="{6887C6A4-0198-F886-17C5-57538154B60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8519C7-E3DE-2675-8A36-C16B78F3A5E2}"/>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286208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B8E40E-362D-4859-CD43-4B7F4999DE6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EC75C2B-402B-7466-0882-CCBDDBD1C03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0C9C484-16CF-4831-A5CD-17300D7B852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027A976-DA37-FBBF-4B31-6C9B04988196}"/>
              </a:ext>
            </a:extLst>
          </p:cNvPr>
          <p:cNvSpPr>
            <a:spLocks noGrp="1"/>
          </p:cNvSpPr>
          <p:nvPr>
            <p:ph type="dt" sz="half" idx="10"/>
          </p:nvPr>
        </p:nvSpPr>
        <p:spPr/>
        <p:txBody>
          <a:bodyPr/>
          <a:lstStyle/>
          <a:p>
            <a:fld id="{18DF5635-DC9A-4631-B178-36166F94D0A9}" type="datetime1">
              <a:rPr kumimoji="1" lang="ja-JP" altLang="en-US" smtClean="0"/>
              <a:t>2026/2/8</a:t>
            </a:fld>
            <a:endParaRPr kumimoji="1" lang="ja-JP" altLang="en-US"/>
          </a:p>
        </p:txBody>
      </p:sp>
      <p:sp>
        <p:nvSpPr>
          <p:cNvPr id="6" name="フッター プレースホルダー 5">
            <a:extLst>
              <a:ext uri="{FF2B5EF4-FFF2-40B4-BE49-F238E27FC236}">
                <a16:creationId xmlns:a16="http://schemas.microsoft.com/office/drawing/2014/main" id="{769D9321-97A1-3FB7-7319-C4694541226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FDD7204-BEEB-970F-6009-99090142D5B2}"/>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747448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CE865E-4FCA-CEC7-31AE-0CCDC462879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6B7E2B8-DAE5-C016-965A-C15BEF25F1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205343D-5E29-2C38-1441-D0A70DD6448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EFDAFE0-28DA-5E3F-16C7-2738A35DE7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00A10E0-9493-7A45-EF68-CE368E448DB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DDF3B20-4C5C-724E-E129-C9214B1136B8}"/>
              </a:ext>
            </a:extLst>
          </p:cNvPr>
          <p:cNvSpPr>
            <a:spLocks noGrp="1"/>
          </p:cNvSpPr>
          <p:nvPr>
            <p:ph type="dt" sz="half" idx="10"/>
          </p:nvPr>
        </p:nvSpPr>
        <p:spPr/>
        <p:txBody>
          <a:bodyPr/>
          <a:lstStyle/>
          <a:p>
            <a:fld id="{C66E3DF5-06DF-4B12-9B13-4D54DD2F3862}" type="datetime1">
              <a:rPr kumimoji="1" lang="ja-JP" altLang="en-US" smtClean="0"/>
              <a:t>2026/2/8</a:t>
            </a:fld>
            <a:endParaRPr kumimoji="1" lang="ja-JP" altLang="en-US"/>
          </a:p>
        </p:txBody>
      </p:sp>
      <p:sp>
        <p:nvSpPr>
          <p:cNvPr id="8" name="フッター プレースホルダー 7">
            <a:extLst>
              <a:ext uri="{FF2B5EF4-FFF2-40B4-BE49-F238E27FC236}">
                <a16:creationId xmlns:a16="http://schemas.microsoft.com/office/drawing/2014/main" id="{45E6C0C9-8463-9E94-671D-F76AA9D8A3E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1B4F47E-58A7-2BCF-8B4E-8EF9D9A9F837}"/>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309606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F63021-E7EE-68E0-1E0E-0EE81526E79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4FDB582-024A-A711-B7EA-0ACD3001DD37}"/>
              </a:ext>
            </a:extLst>
          </p:cNvPr>
          <p:cNvSpPr>
            <a:spLocks noGrp="1"/>
          </p:cNvSpPr>
          <p:nvPr>
            <p:ph type="dt" sz="half" idx="10"/>
          </p:nvPr>
        </p:nvSpPr>
        <p:spPr/>
        <p:txBody>
          <a:bodyPr/>
          <a:lstStyle/>
          <a:p>
            <a:fld id="{C8BE9157-DC33-4C39-A1DB-7F5B1368E853}" type="datetime1">
              <a:rPr kumimoji="1" lang="ja-JP" altLang="en-US" smtClean="0"/>
              <a:t>2026/2/8</a:t>
            </a:fld>
            <a:endParaRPr kumimoji="1" lang="ja-JP" altLang="en-US"/>
          </a:p>
        </p:txBody>
      </p:sp>
      <p:sp>
        <p:nvSpPr>
          <p:cNvPr id="4" name="フッター プレースホルダー 3">
            <a:extLst>
              <a:ext uri="{FF2B5EF4-FFF2-40B4-BE49-F238E27FC236}">
                <a16:creationId xmlns:a16="http://schemas.microsoft.com/office/drawing/2014/main" id="{9511D26C-0405-54AF-A233-5BC70981B36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0708BF2-F1CC-81CC-F018-3254567B2095}"/>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1701977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EC4D75C-4ED2-F943-1BA4-DE7C0ABA07EF}"/>
              </a:ext>
            </a:extLst>
          </p:cNvPr>
          <p:cNvSpPr>
            <a:spLocks noGrp="1"/>
          </p:cNvSpPr>
          <p:nvPr>
            <p:ph type="dt" sz="half" idx="10"/>
          </p:nvPr>
        </p:nvSpPr>
        <p:spPr/>
        <p:txBody>
          <a:bodyPr/>
          <a:lstStyle/>
          <a:p>
            <a:fld id="{1F524E4A-5C14-47F0-9BD0-23FAEA541D2C}" type="datetime1">
              <a:rPr kumimoji="1" lang="ja-JP" altLang="en-US" smtClean="0"/>
              <a:t>2026/2/8</a:t>
            </a:fld>
            <a:endParaRPr kumimoji="1" lang="ja-JP" altLang="en-US"/>
          </a:p>
        </p:txBody>
      </p:sp>
      <p:sp>
        <p:nvSpPr>
          <p:cNvPr id="3" name="フッター プレースホルダー 2">
            <a:extLst>
              <a:ext uri="{FF2B5EF4-FFF2-40B4-BE49-F238E27FC236}">
                <a16:creationId xmlns:a16="http://schemas.microsoft.com/office/drawing/2014/main" id="{73F7ABD5-7F31-5353-5765-43B66B13CBB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52F8FF4-A0CD-2810-775E-D809700A74F9}"/>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3605489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544B77-687F-A018-0944-93A3F54B12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38E86A7-E8E9-76DA-B1DC-B5A7A926A7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79B20AD-E832-6B04-8A6C-88534A9689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14306BB-4E95-B626-454F-D0C39023F7F0}"/>
              </a:ext>
            </a:extLst>
          </p:cNvPr>
          <p:cNvSpPr>
            <a:spLocks noGrp="1"/>
          </p:cNvSpPr>
          <p:nvPr>
            <p:ph type="dt" sz="half" idx="10"/>
          </p:nvPr>
        </p:nvSpPr>
        <p:spPr/>
        <p:txBody>
          <a:bodyPr/>
          <a:lstStyle/>
          <a:p>
            <a:fld id="{3D72F0B9-5C83-45E1-ABC4-8556F01C6EA6}" type="datetime1">
              <a:rPr kumimoji="1" lang="ja-JP" altLang="en-US" smtClean="0"/>
              <a:t>2026/2/8</a:t>
            </a:fld>
            <a:endParaRPr kumimoji="1" lang="ja-JP" altLang="en-US"/>
          </a:p>
        </p:txBody>
      </p:sp>
      <p:sp>
        <p:nvSpPr>
          <p:cNvPr id="6" name="フッター プレースホルダー 5">
            <a:extLst>
              <a:ext uri="{FF2B5EF4-FFF2-40B4-BE49-F238E27FC236}">
                <a16:creationId xmlns:a16="http://schemas.microsoft.com/office/drawing/2014/main" id="{65A687D1-F9B2-0055-A2F5-A41A34F832E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100E05D-D278-84D7-6C9A-8969F9E38D62}"/>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1387220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C7F0E7-7CC8-C35C-D9C1-5C35A632361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65E79FF-BDC0-FCE9-5166-FD23AD3F29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7288C77-EB14-C734-47CD-13EB1A79D2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EB63277-6071-3C39-DED9-3C889E0E1D4C}"/>
              </a:ext>
            </a:extLst>
          </p:cNvPr>
          <p:cNvSpPr>
            <a:spLocks noGrp="1"/>
          </p:cNvSpPr>
          <p:nvPr>
            <p:ph type="dt" sz="half" idx="10"/>
          </p:nvPr>
        </p:nvSpPr>
        <p:spPr/>
        <p:txBody>
          <a:bodyPr/>
          <a:lstStyle/>
          <a:p>
            <a:fld id="{3BC37A24-7C32-4FF8-B071-FD61542E569C}" type="datetime1">
              <a:rPr kumimoji="1" lang="ja-JP" altLang="en-US" smtClean="0"/>
              <a:t>2026/2/8</a:t>
            </a:fld>
            <a:endParaRPr kumimoji="1" lang="ja-JP" altLang="en-US"/>
          </a:p>
        </p:txBody>
      </p:sp>
      <p:sp>
        <p:nvSpPr>
          <p:cNvPr id="6" name="フッター プレースホルダー 5">
            <a:extLst>
              <a:ext uri="{FF2B5EF4-FFF2-40B4-BE49-F238E27FC236}">
                <a16:creationId xmlns:a16="http://schemas.microsoft.com/office/drawing/2014/main" id="{B6786C79-B916-96C7-2B33-C63E81146BD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403A883-7AA3-5493-40B8-8BBF4841DDE2}"/>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808182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4B4A97-BFF5-516E-1C9D-89431A9C36A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4A3951C-A90B-3B28-DBAE-5C3F3EB1CE3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4F9E02-E2B0-B1C2-2994-A3CC220F2579}"/>
              </a:ext>
            </a:extLst>
          </p:cNvPr>
          <p:cNvSpPr>
            <a:spLocks noGrp="1"/>
          </p:cNvSpPr>
          <p:nvPr>
            <p:ph type="dt" sz="half" idx="10"/>
          </p:nvPr>
        </p:nvSpPr>
        <p:spPr/>
        <p:txBody>
          <a:bodyPr/>
          <a:lstStyle/>
          <a:p>
            <a:fld id="{C2DF5EB3-C563-4E68-80FD-8D5ACBE0CBEB}" type="datetime1">
              <a:rPr kumimoji="1" lang="ja-JP" altLang="en-US" smtClean="0"/>
              <a:t>2026/2/8</a:t>
            </a:fld>
            <a:endParaRPr kumimoji="1" lang="ja-JP" altLang="en-US"/>
          </a:p>
        </p:txBody>
      </p:sp>
      <p:sp>
        <p:nvSpPr>
          <p:cNvPr id="5" name="フッター プレースホルダー 4">
            <a:extLst>
              <a:ext uri="{FF2B5EF4-FFF2-40B4-BE49-F238E27FC236}">
                <a16:creationId xmlns:a16="http://schemas.microsoft.com/office/drawing/2014/main" id="{6219C13D-BDCB-A6C8-9D76-4FCAEAB830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8C4854A-DC00-ED83-A23C-2679B3A07BA9}"/>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3197335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EE43455-376C-0277-BFD8-EF739243AA6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D5A633F-8EDB-0D05-EA52-27CD6265DF0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5CFFE9-77D8-8731-1255-83F016F3FB6B}"/>
              </a:ext>
            </a:extLst>
          </p:cNvPr>
          <p:cNvSpPr>
            <a:spLocks noGrp="1"/>
          </p:cNvSpPr>
          <p:nvPr>
            <p:ph type="dt" sz="half" idx="10"/>
          </p:nvPr>
        </p:nvSpPr>
        <p:spPr/>
        <p:txBody>
          <a:bodyPr/>
          <a:lstStyle/>
          <a:p>
            <a:fld id="{E2BE1D79-E096-42C4-8C59-BE7309206E82}" type="datetime1">
              <a:rPr kumimoji="1" lang="ja-JP" altLang="en-US" smtClean="0"/>
              <a:t>2026/2/8</a:t>
            </a:fld>
            <a:endParaRPr kumimoji="1" lang="ja-JP" altLang="en-US"/>
          </a:p>
        </p:txBody>
      </p:sp>
      <p:sp>
        <p:nvSpPr>
          <p:cNvPr id="5" name="フッター プレースホルダー 4">
            <a:extLst>
              <a:ext uri="{FF2B5EF4-FFF2-40B4-BE49-F238E27FC236}">
                <a16:creationId xmlns:a16="http://schemas.microsoft.com/office/drawing/2014/main" id="{3B138AA9-B2FF-E8EB-D99C-683EA8E48C5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5A1821-53BC-8E26-545F-D60DDFF6C187}"/>
              </a:ext>
            </a:extLst>
          </p:cNvPr>
          <p:cNvSpPr>
            <a:spLocks noGrp="1"/>
          </p:cNvSpPr>
          <p:nvPr>
            <p:ph type="sldNum" sz="quarter" idx="12"/>
          </p:nvPr>
        </p:nvSpPr>
        <p:spPr/>
        <p:txBody>
          <a:body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44425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0C49BD6-F266-F60D-BF1E-D9E3D9D773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7C3D3C9-F0AA-8D41-8E28-6D6C21EEC2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E2AD035-3394-1915-7111-E22525F139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C2DDFB-653B-45E7-9B69-D78293D4C1C1}" type="datetime1">
              <a:rPr kumimoji="1" lang="ja-JP" altLang="en-US" smtClean="0"/>
              <a:t>2026/2/8</a:t>
            </a:fld>
            <a:endParaRPr kumimoji="1" lang="ja-JP" altLang="en-US"/>
          </a:p>
        </p:txBody>
      </p:sp>
      <p:sp>
        <p:nvSpPr>
          <p:cNvPr id="5" name="フッター プレースホルダー 4">
            <a:extLst>
              <a:ext uri="{FF2B5EF4-FFF2-40B4-BE49-F238E27FC236}">
                <a16:creationId xmlns:a16="http://schemas.microsoft.com/office/drawing/2014/main" id="{C9CC7E2B-79B8-FD40-8B4B-EB19090F14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C99D347-34E8-D89A-6C95-32DD89D264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C8F3A-98E9-46B1-BAC9-77D093337233}" type="slidenum">
              <a:rPr kumimoji="1" lang="ja-JP" altLang="en-US" smtClean="0"/>
              <a:t>‹#›</a:t>
            </a:fld>
            <a:endParaRPr kumimoji="1" lang="ja-JP" altLang="en-US"/>
          </a:p>
        </p:txBody>
      </p:sp>
    </p:spTree>
    <p:extLst>
      <p:ext uri="{BB962C8B-B14F-4D97-AF65-F5344CB8AC3E}">
        <p14:creationId xmlns:p14="http://schemas.microsoft.com/office/powerpoint/2010/main" val="3887841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6E668D-5CDA-1613-AF0D-9C304D370D9C}"/>
              </a:ext>
            </a:extLst>
          </p:cNvPr>
          <p:cNvSpPr>
            <a:spLocks noGrp="1"/>
          </p:cNvSpPr>
          <p:nvPr>
            <p:ph type="ctrTitle"/>
          </p:nvPr>
        </p:nvSpPr>
        <p:spPr>
          <a:xfrm>
            <a:off x="982133" y="1122363"/>
            <a:ext cx="10227733" cy="2387600"/>
          </a:xfrm>
        </p:spPr>
        <p:txBody>
          <a:bodyPr>
            <a:normAutofit/>
          </a:bodyPr>
          <a:lstStyle/>
          <a:p>
            <a:r>
              <a:rPr lang="en-US" altLang="ja-JP" dirty="0"/>
              <a:t>LLM</a:t>
            </a:r>
            <a:r>
              <a:rPr lang="ja-JP" altLang="ja-JP" dirty="0"/>
              <a:t>による打合せログからの要求仕様書生成</a:t>
            </a:r>
          </a:p>
        </p:txBody>
      </p:sp>
      <p:sp>
        <p:nvSpPr>
          <p:cNvPr id="3" name="字幕 2">
            <a:extLst>
              <a:ext uri="{FF2B5EF4-FFF2-40B4-BE49-F238E27FC236}">
                <a16:creationId xmlns:a16="http://schemas.microsoft.com/office/drawing/2014/main" id="{43D93682-2F44-1227-6C31-A8922748F334}"/>
              </a:ext>
            </a:extLst>
          </p:cNvPr>
          <p:cNvSpPr>
            <a:spLocks noGrp="1"/>
          </p:cNvSpPr>
          <p:nvPr>
            <p:ph type="subTitle" idx="1"/>
          </p:nvPr>
        </p:nvSpPr>
        <p:spPr>
          <a:xfrm>
            <a:off x="1524000" y="3842675"/>
            <a:ext cx="9144000" cy="1655762"/>
          </a:xfrm>
        </p:spPr>
        <p:txBody>
          <a:bodyPr/>
          <a:lstStyle/>
          <a:p>
            <a:r>
              <a:rPr kumimoji="1" lang="ja-JP" altLang="en-US" dirty="0"/>
              <a:t>公立諏訪東京理科大学</a:t>
            </a:r>
            <a:endParaRPr kumimoji="1" lang="en-US" altLang="ja-JP" dirty="0"/>
          </a:p>
          <a:p>
            <a:r>
              <a:rPr lang="ja-JP" altLang="en-US" dirty="0"/>
              <a:t>山田研究室</a:t>
            </a:r>
            <a:endParaRPr lang="en-US" altLang="ja-JP" dirty="0"/>
          </a:p>
          <a:p>
            <a:r>
              <a:rPr kumimoji="1" lang="ja-JP" altLang="en-US" dirty="0"/>
              <a:t>飯田 琉斗</a:t>
            </a:r>
          </a:p>
        </p:txBody>
      </p:sp>
    </p:spTree>
    <p:extLst>
      <p:ext uri="{BB962C8B-B14F-4D97-AF65-F5344CB8AC3E}">
        <p14:creationId xmlns:p14="http://schemas.microsoft.com/office/powerpoint/2010/main" val="1551933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5BFDDE-CC8F-D0B0-15EA-4087785BE544}"/>
              </a:ext>
            </a:extLst>
          </p:cNvPr>
          <p:cNvSpPr>
            <a:spLocks noGrp="1"/>
          </p:cNvSpPr>
          <p:nvPr>
            <p:ph type="title"/>
          </p:nvPr>
        </p:nvSpPr>
        <p:spPr/>
        <p:txBody>
          <a:bodyPr/>
          <a:lstStyle/>
          <a:p>
            <a:r>
              <a:rPr kumimoji="1" lang="ja-JP" altLang="en-US" dirty="0"/>
              <a:t>背景</a:t>
            </a:r>
          </a:p>
        </p:txBody>
      </p:sp>
      <p:sp>
        <p:nvSpPr>
          <p:cNvPr id="3" name="コンテンツ プレースホルダー 2">
            <a:extLst>
              <a:ext uri="{FF2B5EF4-FFF2-40B4-BE49-F238E27FC236}">
                <a16:creationId xmlns:a16="http://schemas.microsoft.com/office/drawing/2014/main" id="{35D0C152-B436-27BA-B500-718E1CD298FB}"/>
              </a:ext>
            </a:extLst>
          </p:cNvPr>
          <p:cNvSpPr>
            <a:spLocks noGrp="1"/>
          </p:cNvSpPr>
          <p:nvPr>
            <p:ph idx="1"/>
          </p:nvPr>
        </p:nvSpPr>
        <p:spPr/>
        <p:txBody>
          <a:bodyPr/>
          <a:lstStyle/>
          <a:p>
            <a:pPr marL="0" indent="0">
              <a:buNone/>
            </a:pPr>
            <a:r>
              <a:rPr kumimoji="1" lang="ja-JP" altLang="en-US" dirty="0"/>
              <a:t>要求仕様書の作成は、人手に依存しており、いくつか課題を抱えている</a:t>
            </a:r>
            <a:endParaRPr kumimoji="1" lang="en-US" altLang="ja-JP" dirty="0"/>
          </a:p>
          <a:p>
            <a:pPr marL="0" indent="0">
              <a:buNone/>
            </a:pPr>
            <a:r>
              <a:rPr lang="ja-JP" altLang="en-US" dirty="0"/>
              <a:t>生成</a:t>
            </a:r>
            <a:r>
              <a:rPr lang="en-US" altLang="ja-JP" dirty="0"/>
              <a:t>AI</a:t>
            </a:r>
            <a:r>
              <a:rPr lang="ja-JP" altLang="en-US" dirty="0"/>
              <a:t>を用いることで、課題解決を試みる</a:t>
            </a:r>
            <a:endParaRPr kumimoji="1" lang="ja-JP" altLang="en-US" dirty="0"/>
          </a:p>
        </p:txBody>
      </p:sp>
      <p:graphicFrame>
        <p:nvGraphicFramePr>
          <p:cNvPr id="4" name="表 3">
            <a:extLst>
              <a:ext uri="{FF2B5EF4-FFF2-40B4-BE49-F238E27FC236}">
                <a16:creationId xmlns:a16="http://schemas.microsoft.com/office/drawing/2014/main" id="{BC8B84CE-91CE-E69B-5A88-09E1A8233905}"/>
              </a:ext>
            </a:extLst>
          </p:cNvPr>
          <p:cNvGraphicFramePr>
            <a:graphicFrameLocks noGrp="1"/>
          </p:cNvGraphicFramePr>
          <p:nvPr>
            <p:extLst>
              <p:ext uri="{D42A27DB-BD31-4B8C-83A1-F6EECF244321}">
                <p14:modId xmlns:p14="http://schemas.microsoft.com/office/powerpoint/2010/main" val="3278680796"/>
              </p:ext>
            </p:extLst>
          </p:nvPr>
        </p:nvGraphicFramePr>
        <p:xfrm>
          <a:off x="838199" y="3236628"/>
          <a:ext cx="10515600" cy="3075272"/>
        </p:xfrm>
        <a:graphic>
          <a:graphicData uri="http://schemas.openxmlformats.org/drawingml/2006/table">
            <a:tbl>
              <a:tblPr firstRow="1" bandRow="1">
                <a:tableStyleId>{5C22544A-7EE6-4342-B048-85BDC9FD1C3A}</a:tableStyleId>
              </a:tblPr>
              <a:tblGrid>
                <a:gridCol w="4215064">
                  <a:extLst>
                    <a:ext uri="{9D8B030D-6E8A-4147-A177-3AD203B41FA5}">
                      <a16:colId xmlns:a16="http://schemas.microsoft.com/office/drawing/2014/main" val="3116518062"/>
                    </a:ext>
                  </a:extLst>
                </a:gridCol>
                <a:gridCol w="6300536">
                  <a:extLst>
                    <a:ext uri="{9D8B030D-6E8A-4147-A177-3AD203B41FA5}">
                      <a16:colId xmlns:a16="http://schemas.microsoft.com/office/drawing/2014/main" val="3329680842"/>
                    </a:ext>
                  </a:extLst>
                </a:gridCol>
              </a:tblGrid>
              <a:tr h="195714">
                <a:tc>
                  <a:txBody>
                    <a:bodyPr/>
                    <a:lstStyle/>
                    <a:p>
                      <a:pPr algn="ctr"/>
                      <a:r>
                        <a:rPr kumimoji="1" lang="ja-JP" altLang="en-US" dirty="0"/>
                        <a:t>課題</a:t>
                      </a:r>
                    </a:p>
                  </a:txBody>
                  <a:tcPr/>
                </a:tc>
                <a:tc>
                  <a:txBody>
                    <a:bodyPr/>
                    <a:lstStyle/>
                    <a:p>
                      <a:pPr algn="ctr"/>
                      <a:r>
                        <a:rPr kumimoji="1" lang="ja-JP" altLang="en-US" dirty="0"/>
                        <a:t>内容</a:t>
                      </a:r>
                    </a:p>
                  </a:txBody>
                  <a:tcPr/>
                </a:tc>
                <a:extLst>
                  <a:ext uri="{0D108BD9-81ED-4DB2-BD59-A6C34878D82A}">
                    <a16:rowId xmlns:a16="http://schemas.microsoft.com/office/drawing/2014/main" val="3595052137"/>
                  </a:ext>
                </a:extLst>
              </a:tr>
              <a:tr h="789272">
                <a:tc>
                  <a:txBody>
                    <a:bodyPr/>
                    <a:lstStyle/>
                    <a:p>
                      <a:r>
                        <a:rPr kumimoji="1" lang="ja-JP" altLang="en-US" dirty="0"/>
                        <a:t>コスト・スピードの課題</a:t>
                      </a:r>
                      <a:endParaRPr kumimoji="1" lang="en-US" altLang="ja-JP" dirty="0"/>
                    </a:p>
                  </a:txBody>
                  <a:tcPr/>
                </a:tc>
                <a:tc>
                  <a:txBody>
                    <a:bodyPr/>
                    <a:lstStyle/>
                    <a:p>
                      <a:r>
                        <a:rPr kumimoji="1" lang="ja-JP" altLang="en-US" dirty="0"/>
                        <a:t>人手によって、数時間を要する。</a:t>
                      </a:r>
                      <a:endParaRPr kumimoji="1" lang="en-US" altLang="ja-JP" dirty="0"/>
                    </a:p>
                    <a:p>
                      <a:r>
                        <a:rPr kumimoji="1" lang="ja-JP" altLang="en-US" dirty="0"/>
                        <a:t>優先度やログの量によって、簡略化・先送りが発生する</a:t>
                      </a:r>
                      <a:endParaRPr kumimoji="1" lang="en-US" altLang="ja-JP" dirty="0"/>
                    </a:p>
                  </a:txBody>
                  <a:tcPr/>
                </a:tc>
                <a:extLst>
                  <a:ext uri="{0D108BD9-81ED-4DB2-BD59-A6C34878D82A}">
                    <a16:rowId xmlns:a16="http://schemas.microsoft.com/office/drawing/2014/main" val="3907867090"/>
                  </a:ext>
                </a:extLst>
              </a:tr>
              <a:tr h="588538">
                <a:tc>
                  <a:txBody>
                    <a:bodyPr/>
                    <a:lstStyle/>
                    <a:p>
                      <a:r>
                        <a:rPr kumimoji="1" lang="ja-JP" altLang="en-US" dirty="0"/>
                        <a:t>主観バイアスと選択的要約の課題</a:t>
                      </a:r>
                      <a:endParaRPr kumimoji="1" lang="en-US" altLang="ja-JP" dirty="0"/>
                    </a:p>
                  </a:txBody>
                  <a:tcPr/>
                </a:tc>
                <a:tc>
                  <a:txBody>
                    <a:bodyPr/>
                    <a:lstStyle/>
                    <a:p>
                      <a:r>
                        <a:rPr kumimoji="1" lang="ja-JP" altLang="en-US" dirty="0"/>
                        <a:t>作成者の理解や発言者との関係による発言バイアスに引っ張られ、偏りが生まれる場合がある</a:t>
                      </a:r>
                    </a:p>
                  </a:txBody>
                  <a:tcPr/>
                </a:tc>
                <a:extLst>
                  <a:ext uri="{0D108BD9-81ED-4DB2-BD59-A6C34878D82A}">
                    <a16:rowId xmlns:a16="http://schemas.microsoft.com/office/drawing/2014/main" val="2645532750"/>
                  </a:ext>
                </a:extLst>
              </a:tr>
              <a:tr h="588538">
                <a:tc>
                  <a:txBody>
                    <a:bodyPr/>
                    <a:lstStyle/>
                    <a:p>
                      <a:r>
                        <a:rPr kumimoji="1" lang="ja-JP" altLang="en-US" dirty="0"/>
                        <a:t>形式・粒度の不一致</a:t>
                      </a:r>
                    </a:p>
                  </a:txBody>
                  <a:tcPr/>
                </a:tc>
                <a:tc>
                  <a:txBody>
                    <a:bodyPr/>
                    <a:lstStyle/>
                    <a:p>
                      <a:r>
                        <a:rPr kumimoji="1" lang="ja-JP" altLang="en-US" dirty="0"/>
                        <a:t>引継ぎ等で作成者が変わった場合、書き方の癖や粒度のずれによって、一貫性のない文書が蓄積される</a:t>
                      </a:r>
                    </a:p>
                  </a:txBody>
                  <a:tcPr/>
                </a:tc>
                <a:extLst>
                  <a:ext uri="{0D108BD9-81ED-4DB2-BD59-A6C34878D82A}">
                    <a16:rowId xmlns:a16="http://schemas.microsoft.com/office/drawing/2014/main" val="2030885375"/>
                  </a:ext>
                </a:extLst>
              </a:tr>
              <a:tr h="588538">
                <a:tc>
                  <a:txBody>
                    <a:bodyPr/>
                    <a:lstStyle/>
                    <a:p>
                      <a:r>
                        <a:rPr kumimoji="1" lang="ja-JP" altLang="en-US" dirty="0"/>
                        <a:t>単純ミスの多発</a:t>
                      </a:r>
                    </a:p>
                  </a:txBody>
                  <a:tcPr/>
                </a:tc>
                <a:tc>
                  <a:txBody>
                    <a:bodyPr/>
                    <a:lstStyle/>
                    <a:p>
                      <a:r>
                        <a:rPr kumimoji="1" lang="ja-JP" altLang="en-US" dirty="0"/>
                        <a:t>コピペのミス、打ち間違い、別トピックとの混同といったヒューマンエラーの発生</a:t>
                      </a:r>
                    </a:p>
                  </a:txBody>
                  <a:tcPr/>
                </a:tc>
                <a:extLst>
                  <a:ext uri="{0D108BD9-81ED-4DB2-BD59-A6C34878D82A}">
                    <a16:rowId xmlns:a16="http://schemas.microsoft.com/office/drawing/2014/main" val="1789670269"/>
                  </a:ext>
                </a:extLst>
              </a:tr>
            </a:tbl>
          </a:graphicData>
        </a:graphic>
      </p:graphicFrame>
      <p:sp>
        <p:nvSpPr>
          <p:cNvPr id="5" name="スライド番号プレースホルダー 4">
            <a:extLst>
              <a:ext uri="{FF2B5EF4-FFF2-40B4-BE49-F238E27FC236}">
                <a16:creationId xmlns:a16="http://schemas.microsoft.com/office/drawing/2014/main" id="{6297FAF7-6321-F777-B92A-4C1831CC439C}"/>
              </a:ext>
            </a:extLst>
          </p:cNvPr>
          <p:cNvSpPr>
            <a:spLocks noGrp="1"/>
          </p:cNvSpPr>
          <p:nvPr>
            <p:ph type="sldNum" sz="quarter" idx="12"/>
          </p:nvPr>
        </p:nvSpPr>
        <p:spPr/>
        <p:txBody>
          <a:bodyPr/>
          <a:lstStyle/>
          <a:p>
            <a:fld id="{F32C8F3A-98E9-46B1-BAC9-77D093337233}" type="slidenum">
              <a:rPr kumimoji="1" lang="ja-JP" altLang="en-US" smtClean="0"/>
              <a:t>2</a:t>
            </a:fld>
            <a:endParaRPr kumimoji="1" lang="ja-JP" altLang="en-US"/>
          </a:p>
        </p:txBody>
      </p:sp>
    </p:spTree>
    <p:extLst>
      <p:ext uri="{BB962C8B-B14F-4D97-AF65-F5344CB8AC3E}">
        <p14:creationId xmlns:p14="http://schemas.microsoft.com/office/powerpoint/2010/main" val="18623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B8FB12-F5EC-5C50-42C7-C51EDBB9D699}"/>
              </a:ext>
            </a:extLst>
          </p:cNvPr>
          <p:cNvSpPr>
            <a:spLocks noGrp="1"/>
          </p:cNvSpPr>
          <p:nvPr>
            <p:ph type="title"/>
          </p:nvPr>
        </p:nvSpPr>
        <p:spPr/>
        <p:txBody>
          <a:bodyPr/>
          <a:lstStyle/>
          <a:p>
            <a:r>
              <a:rPr lang="ja-JP" altLang="en-US" dirty="0"/>
              <a:t>実験①</a:t>
            </a:r>
            <a:r>
              <a:rPr lang="en-US" altLang="ja-JP" dirty="0"/>
              <a:t>: </a:t>
            </a:r>
            <a:r>
              <a:rPr lang="ja-JP" altLang="en-US" dirty="0"/>
              <a:t>素の生成</a:t>
            </a:r>
            <a:r>
              <a:rPr lang="en-US" altLang="ja-JP" dirty="0"/>
              <a:t>AI</a:t>
            </a:r>
            <a:r>
              <a:rPr lang="ja-JP" altLang="en-US" dirty="0"/>
              <a:t>での生成処理</a:t>
            </a:r>
            <a:endParaRPr kumimoji="1" lang="ja-JP" altLang="en-US" dirty="0"/>
          </a:p>
        </p:txBody>
      </p:sp>
      <p:sp>
        <p:nvSpPr>
          <p:cNvPr id="3" name="コンテンツ プレースホルダー 2">
            <a:extLst>
              <a:ext uri="{FF2B5EF4-FFF2-40B4-BE49-F238E27FC236}">
                <a16:creationId xmlns:a16="http://schemas.microsoft.com/office/drawing/2014/main" id="{80B74D25-EC23-B211-CC4A-8C189744015A}"/>
              </a:ext>
            </a:extLst>
          </p:cNvPr>
          <p:cNvSpPr>
            <a:spLocks noGrp="1"/>
          </p:cNvSpPr>
          <p:nvPr>
            <p:ph idx="1"/>
          </p:nvPr>
        </p:nvSpPr>
        <p:spPr>
          <a:xfrm>
            <a:off x="838200" y="1825625"/>
            <a:ext cx="10515600" cy="4667250"/>
          </a:xfrm>
        </p:spPr>
        <p:txBody>
          <a:bodyPr>
            <a:normAutofit/>
          </a:bodyPr>
          <a:lstStyle/>
          <a:p>
            <a:pPr marL="0" indent="0">
              <a:buNone/>
            </a:pPr>
            <a:r>
              <a:rPr lang="ja-JP" altLang="en-US" dirty="0"/>
              <a:t>方法</a:t>
            </a:r>
            <a:r>
              <a:rPr lang="en-US" altLang="ja-JP" dirty="0"/>
              <a:t>: </a:t>
            </a:r>
            <a:r>
              <a:rPr lang="ja-JP" altLang="en-US" dirty="0"/>
              <a:t>用意したデータセットで仕様書を作成する命令を与える</a:t>
            </a:r>
            <a:endParaRPr lang="en-US" altLang="ja-JP" dirty="0"/>
          </a:p>
          <a:p>
            <a:pPr marL="0" indent="0">
              <a:buNone/>
            </a:pPr>
            <a:r>
              <a:rPr lang="ja-JP" altLang="en-US" dirty="0"/>
              <a:t>出力</a:t>
            </a:r>
            <a:r>
              <a:rPr lang="en-US" altLang="ja-JP" dirty="0"/>
              <a:t>: Markdown</a:t>
            </a:r>
            <a:r>
              <a:rPr lang="ja-JP" altLang="en-US" dirty="0"/>
              <a:t>形式</a:t>
            </a:r>
            <a:endParaRPr lang="en-US" altLang="ja-JP" dirty="0"/>
          </a:p>
          <a:p>
            <a:pPr marL="0" indent="0">
              <a:buNone/>
            </a:pPr>
            <a:r>
              <a:rPr lang="ja-JP" altLang="en-US" dirty="0"/>
              <a:t>全項目数</a:t>
            </a:r>
            <a:r>
              <a:rPr lang="en-US" altLang="ja-JP" dirty="0"/>
              <a:t>: 9</a:t>
            </a:r>
            <a:r>
              <a:rPr lang="ja-JP" altLang="en-US" dirty="0"/>
              <a:t>項目</a:t>
            </a:r>
            <a:endParaRPr lang="en-US" altLang="ja-JP" dirty="0"/>
          </a:p>
          <a:p>
            <a:pPr marL="0" indent="0">
              <a:buNone/>
            </a:pPr>
            <a:endParaRPr lang="en-US" altLang="ja-JP" dirty="0"/>
          </a:p>
          <a:p>
            <a:pPr marL="0" indent="0">
              <a:buNone/>
            </a:pPr>
            <a:r>
              <a:rPr lang="en-US" altLang="ja-JP" dirty="0"/>
              <a:t>			</a:t>
            </a:r>
            <a:r>
              <a:rPr lang="ja-JP" altLang="en-US" dirty="0"/>
              <a:t>同一命令で</a:t>
            </a:r>
            <a:r>
              <a:rPr lang="en-US" altLang="ja-JP" dirty="0"/>
              <a:t>10</a:t>
            </a:r>
            <a:r>
              <a:rPr lang="ja-JP" altLang="en-US" dirty="0"/>
              <a:t>回行った結果</a:t>
            </a:r>
            <a:endParaRPr lang="en-US" altLang="ja-JP" dirty="0"/>
          </a:p>
        </p:txBody>
      </p:sp>
      <p:sp>
        <p:nvSpPr>
          <p:cNvPr id="4" name="スライド番号プレースホルダー 3">
            <a:extLst>
              <a:ext uri="{FF2B5EF4-FFF2-40B4-BE49-F238E27FC236}">
                <a16:creationId xmlns:a16="http://schemas.microsoft.com/office/drawing/2014/main" id="{1CCBAE86-F056-511E-1D35-7C5B6B161EF2}"/>
              </a:ext>
            </a:extLst>
          </p:cNvPr>
          <p:cNvSpPr>
            <a:spLocks noGrp="1"/>
          </p:cNvSpPr>
          <p:nvPr>
            <p:ph type="sldNum" sz="quarter" idx="12"/>
          </p:nvPr>
        </p:nvSpPr>
        <p:spPr/>
        <p:txBody>
          <a:bodyPr/>
          <a:lstStyle/>
          <a:p>
            <a:fld id="{F32C8F3A-98E9-46B1-BAC9-77D093337233}" type="slidenum">
              <a:rPr kumimoji="1" lang="ja-JP" altLang="en-US" smtClean="0"/>
              <a:t>3</a:t>
            </a:fld>
            <a:endParaRPr kumimoji="1" lang="ja-JP" altLang="en-US"/>
          </a:p>
        </p:txBody>
      </p:sp>
      <p:graphicFrame>
        <p:nvGraphicFramePr>
          <p:cNvPr id="5" name="コンテンツ プレースホルダー 14">
            <a:extLst>
              <a:ext uri="{FF2B5EF4-FFF2-40B4-BE49-F238E27FC236}">
                <a16:creationId xmlns:a16="http://schemas.microsoft.com/office/drawing/2014/main" id="{8FD16E0C-57A0-F4BB-FA7B-E878520DC6C0}"/>
              </a:ext>
            </a:extLst>
          </p:cNvPr>
          <p:cNvGraphicFramePr>
            <a:graphicFrameLocks/>
          </p:cNvGraphicFramePr>
          <p:nvPr>
            <p:extLst>
              <p:ext uri="{D42A27DB-BD31-4B8C-83A1-F6EECF244321}">
                <p14:modId xmlns:p14="http://schemas.microsoft.com/office/powerpoint/2010/main" val="3821949778"/>
              </p:ext>
            </p:extLst>
          </p:nvPr>
        </p:nvGraphicFramePr>
        <p:xfrm>
          <a:off x="3839496" y="4382135"/>
          <a:ext cx="3969774" cy="1584960"/>
        </p:xfrm>
        <a:graphic>
          <a:graphicData uri="http://schemas.openxmlformats.org/drawingml/2006/table">
            <a:tbl>
              <a:tblPr firstCol="1">
                <a:tableStyleId>{5C22544A-7EE6-4342-B048-85BDC9FD1C3A}</a:tableStyleId>
              </a:tblPr>
              <a:tblGrid>
                <a:gridCol w="1624781">
                  <a:extLst>
                    <a:ext uri="{9D8B030D-6E8A-4147-A177-3AD203B41FA5}">
                      <a16:colId xmlns:a16="http://schemas.microsoft.com/office/drawing/2014/main" val="3803729236"/>
                    </a:ext>
                  </a:extLst>
                </a:gridCol>
                <a:gridCol w="2344993">
                  <a:extLst>
                    <a:ext uri="{9D8B030D-6E8A-4147-A177-3AD203B41FA5}">
                      <a16:colId xmlns:a16="http://schemas.microsoft.com/office/drawing/2014/main" val="2624679251"/>
                    </a:ext>
                  </a:extLst>
                </a:gridCol>
              </a:tblGrid>
              <a:tr h="370840">
                <a:tc>
                  <a:txBody>
                    <a:bodyPr/>
                    <a:lstStyle/>
                    <a:p>
                      <a:r>
                        <a:rPr kumimoji="1" lang="ja-JP" altLang="en-US" sz="2000" dirty="0"/>
                        <a:t>最小抽出数</a:t>
                      </a:r>
                      <a:endParaRPr kumimoji="1" lang="en-US" altLang="ja-JP" sz="2000" dirty="0"/>
                    </a:p>
                  </a:txBody>
                  <a:tcPr/>
                </a:tc>
                <a:tc>
                  <a:txBody>
                    <a:bodyPr/>
                    <a:lstStyle/>
                    <a:p>
                      <a:r>
                        <a:rPr kumimoji="1" lang="en-US" altLang="ja-JP" sz="2000" dirty="0"/>
                        <a:t>5</a:t>
                      </a:r>
                      <a:r>
                        <a:rPr kumimoji="1" lang="ja-JP" altLang="en-US" sz="2000" dirty="0"/>
                        <a:t>項目</a:t>
                      </a:r>
                      <a:endParaRPr kumimoji="1" lang="en-US" altLang="ja-JP" sz="2000" dirty="0"/>
                    </a:p>
                  </a:txBody>
                  <a:tcPr/>
                </a:tc>
                <a:extLst>
                  <a:ext uri="{0D108BD9-81ED-4DB2-BD59-A6C34878D82A}">
                    <a16:rowId xmlns:a16="http://schemas.microsoft.com/office/drawing/2014/main" val="3543608291"/>
                  </a:ext>
                </a:extLst>
              </a:tr>
              <a:tr h="370840">
                <a:tc>
                  <a:txBody>
                    <a:bodyPr/>
                    <a:lstStyle/>
                    <a:p>
                      <a:r>
                        <a:rPr kumimoji="1" lang="ja-JP" altLang="en-US" sz="2000" dirty="0"/>
                        <a:t>最大抽出数</a:t>
                      </a:r>
                    </a:p>
                  </a:txBody>
                  <a:tcPr/>
                </a:tc>
                <a:tc>
                  <a:txBody>
                    <a:bodyPr/>
                    <a:lstStyle/>
                    <a:p>
                      <a:r>
                        <a:rPr kumimoji="1" lang="en-US" altLang="ja-JP" sz="2000" dirty="0"/>
                        <a:t>8</a:t>
                      </a:r>
                      <a:r>
                        <a:rPr kumimoji="1" lang="ja-JP" altLang="en-US" sz="2000" dirty="0"/>
                        <a:t>項目</a:t>
                      </a:r>
                    </a:p>
                  </a:txBody>
                  <a:tcPr/>
                </a:tc>
                <a:extLst>
                  <a:ext uri="{0D108BD9-81ED-4DB2-BD59-A6C34878D82A}">
                    <a16:rowId xmlns:a16="http://schemas.microsoft.com/office/drawing/2014/main" val="3935664542"/>
                  </a:ext>
                </a:extLst>
              </a:tr>
              <a:tr h="370840">
                <a:tc>
                  <a:txBody>
                    <a:bodyPr/>
                    <a:lstStyle/>
                    <a:p>
                      <a:r>
                        <a:rPr kumimoji="1" lang="ja-JP" altLang="en-US" sz="2000" dirty="0"/>
                        <a:t>平均抽出数</a:t>
                      </a:r>
                      <a:endParaRPr kumimoji="1" lang="en-US" altLang="ja-JP" sz="2000" dirty="0"/>
                    </a:p>
                  </a:txBody>
                  <a:tcPr/>
                </a:tc>
                <a:tc>
                  <a:txBody>
                    <a:bodyPr/>
                    <a:lstStyle/>
                    <a:p>
                      <a:r>
                        <a:rPr kumimoji="1" lang="en-US" altLang="ja-JP" sz="2000" dirty="0"/>
                        <a:t>6.2</a:t>
                      </a:r>
                      <a:r>
                        <a:rPr kumimoji="1" lang="ja-JP" altLang="en-US" sz="2000" dirty="0"/>
                        <a:t>項目</a:t>
                      </a:r>
                    </a:p>
                  </a:txBody>
                  <a:tcPr/>
                </a:tc>
                <a:extLst>
                  <a:ext uri="{0D108BD9-81ED-4DB2-BD59-A6C34878D82A}">
                    <a16:rowId xmlns:a16="http://schemas.microsoft.com/office/drawing/2014/main" val="3280347631"/>
                  </a:ext>
                </a:extLst>
              </a:tr>
              <a:tr h="370840">
                <a:tc>
                  <a:txBody>
                    <a:bodyPr/>
                    <a:lstStyle/>
                    <a:p>
                      <a:r>
                        <a:rPr kumimoji="1" lang="ja-JP" altLang="en-US" sz="2000" dirty="0"/>
                        <a:t>平均抽出率</a:t>
                      </a:r>
                      <a:endParaRPr kumimoji="1" lang="en-US" altLang="ja-JP" sz="2000" dirty="0"/>
                    </a:p>
                  </a:txBody>
                  <a:tcPr/>
                </a:tc>
                <a:tc>
                  <a:txBody>
                    <a:bodyPr/>
                    <a:lstStyle/>
                    <a:p>
                      <a:r>
                        <a:rPr kumimoji="1" lang="en-US" altLang="ja-JP" sz="2000" dirty="0"/>
                        <a:t>69%</a:t>
                      </a:r>
                      <a:endParaRPr kumimoji="1" lang="ja-JP" altLang="en-US" sz="2000" dirty="0"/>
                    </a:p>
                  </a:txBody>
                  <a:tcPr/>
                </a:tc>
                <a:extLst>
                  <a:ext uri="{0D108BD9-81ED-4DB2-BD59-A6C34878D82A}">
                    <a16:rowId xmlns:a16="http://schemas.microsoft.com/office/drawing/2014/main" val="3490835769"/>
                  </a:ext>
                </a:extLst>
              </a:tr>
            </a:tbl>
          </a:graphicData>
        </a:graphic>
      </p:graphicFrame>
    </p:spTree>
    <p:extLst>
      <p:ext uri="{BB962C8B-B14F-4D97-AF65-F5344CB8AC3E}">
        <p14:creationId xmlns:p14="http://schemas.microsoft.com/office/powerpoint/2010/main" val="162318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9310C8-914A-C623-238B-D329C89ACE5C}"/>
              </a:ext>
            </a:extLst>
          </p:cNvPr>
          <p:cNvSpPr>
            <a:spLocks noGrp="1"/>
          </p:cNvSpPr>
          <p:nvPr>
            <p:ph type="title"/>
          </p:nvPr>
        </p:nvSpPr>
        <p:spPr/>
        <p:txBody>
          <a:bodyPr/>
          <a:lstStyle/>
          <a:p>
            <a:r>
              <a:rPr kumimoji="1" lang="ja-JP" altLang="en-US" dirty="0"/>
              <a:t>生成</a:t>
            </a:r>
            <a:r>
              <a:rPr kumimoji="1" lang="en-US" altLang="ja-JP" dirty="0"/>
              <a:t>AI</a:t>
            </a:r>
            <a:r>
              <a:rPr kumimoji="1" lang="ja-JP" altLang="en-US" dirty="0"/>
              <a:t>の限界</a:t>
            </a:r>
          </a:p>
        </p:txBody>
      </p:sp>
      <p:sp>
        <p:nvSpPr>
          <p:cNvPr id="3" name="コンテンツ プレースホルダー 2">
            <a:extLst>
              <a:ext uri="{FF2B5EF4-FFF2-40B4-BE49-F238E27FC236}">
                <a16:creationId xmlns:a16="http://schemas.microsoft.com/office/drawing/2014/main" id="{229AD134-49CF-C3EA-C157-A296237E3B3C}"/>
              </a:ext>
            </a:extLst>
          </p:cNvPr>
          <p:cNvSpPr>
            <a:spLocks noGrp="1"/>
          </p:cNvSpPr>
          <p:nvPr>
            <p:ph idx="1"/>
          </p:nvPr>
        </p:nvSpPr>
        <p:spPr/>
        <p:txBody>
          <a:bodyPr/>
          <a:lstStyle/>
          <a:p>
            <a:pPr marL="0" indent="0">
              <a:buNone/>
            </a:pPr>
            <a:r>
              <a:rPr lang="ja-JP" altLang="en-US" dirty="0"/>
              <a:t>生成</a:t>
            </a:r>
            <a:r>
              <a:rPr lang="en-US" altLang="ja-JP" dirty="0"/>
              <a:t>AI</a:t>
            </a:r>
            <a:r>
              <a:rPr lang="ja-JP" altLang="en-US" dirty="0"/>
              <a:t>をそのまま使うだけでは、人手による課題の解決はできず、新たな課題があることがわかった</a:t>
            </a:r>
            <a:endParaRPr lang="en-US" altLang="ja-JP" dirty="0"/>
          </a:p>
          <a:p>
            <a:pPr marL="0" indent="0">
              <a:buNone/>
            </a:pPr>
            <a:endParaRPr kumimoji="1" lang="ja-JP" altLang="en-US" dirty="0"/>
          </a:p>
        </p:txBody>
      </p:sp>
      <p:graphicFrame>
        <p:nvGraphicFramePr>
          <p:cNvPr id="4" name="表 3">
            <a:extLst>
              <a:ext uri="{FF2B5EF4-FFF2-40B4-BE49-F238E27FC236}">
                <a16:creationId xmlns:a16="http://schemas.microsoft.com/office/drawing/2014/main" id="{139A08C1-3344-764C-ED7A-5467E0D1A28F}"/>
              </a:ext>
            </a:extLst>
          </p:cNvPr>
          <p:cNvGraphicFramePr>
            <a:graphicFrameLocks noGrp="1"/>
          </p:cNvGraphicFramePr>
          <p:nvPr>
            <p:extLst>
              <p:ext uri="{D42A27DB-BD31-4B8C-83A1-F6EECF244321}">
                <p14:modId xmlns:p14="http://schemas.microsoft.com/office/powerpoint/2010/main" val="3364907272"/>
              </p:ext>
            </p:extLst>
          </p:nvPr>
        </p:nvGraphicFramePr>
        <p:xfrm>
          <a:off x="838200" y="2723280"/>
          <a:ext cx="10022305" cy="3866841"/>
        </p:xfrm>
        <a:graphic>
          <a:graphicData uri="http://schemas.openxmlformats.org/drawingml/2006/table">
            <a:tbl>
              <a:tblPr firstRow="1" bandRow="1">
                <a:tableStyleId>{5C22544A-7EE6-4342-B048-85BDC9FD1C3A}</a:tableStyleId>
              </a:tblPr>
              <a:tblGrid>
                <a:gridCol w="4017332">
                  <a:extLst>
                    <a:ext uri="{9D8B030D-6E8A-4147-A177-3AD203B41FA5}">
                      <a16:colId xmlns:a16="http://schemas.microsoft.com/office/drawing/2014/main" val="3116518062"/>
                    </a:ext>
                  </a:extLst>
                </a:gridCol>
                <a:gridCol w="6004973">
                  <a:extLst>
                    <a:ext uri="{9D8B030D-6E8A-4147-A177-3AD203B41FA5}">
                      <a16:colId xmlns:a16="http://schemas.microsoft.com/office/drawing/2014/main" val="3329680842"/>
                    </a:ext>
                  </a:extLst>
                </a:gridCol>
              </a:tblGrid>
              <a:tr h="374023">
                <a:tc>
                  <a:txBody>
                    <a:bodyPr/>
                    <a:lstStyle/>
                    <a:p>
                      <a:pPr algn="ctr"/>
                      <a:r>
                        <a:rPr kumimoji="1" lang="ja-JP" altLang="en-US" dirty="0"/>
                        <a:t>課題</a:t>
                      </a:r>
                    </a:p>
                  </a:txBody>
                  <a:tcPr/>
                </a:tc>
                <a:tc>
                  <a:txBody>
                    <a:bodyPr/>
                    <a:lstStyle/>
                    <a:p>
                      <a:pPr algn="ctr"/>
                      <a:r>
                        <a:rPr kumimoji="1" lang="ja-JP" altLang="en-US" dirty="0"/>
                        <a:t>内容</a:t>
                      </a:r>
                    </a:p>
                  </a:txBody>
                  <a:tcPr/>
                </a:tc>
                <a:extLst>
                  <a:ext uri="{0D108BD9-81ED-4DB2-BD59-A6C34878D82A}">
                    <a16:rowId xmlns:a16="http://schemas.microsoft.com/office/drawing/2014/main" val="3595052137"/>
                  </a:ext>
                </a:extLst>
              </a:tr>
              <a:tr h="807104">
                <a:tc>
                  <a:txBody>
                    <a:bodyPr/>
                    <a:lstStyle/>
                    <a:p>
                      <a:r>
                        <a:rPr kumimoji="1" lang="ja-JP" altLang="en-US" dirty="0"/>
                        <a:t>事実・推測の混同</a:t>
                      </a:r>
                      <a:endParaRPr kumimoji="1" lang="en-US" altLang="ja-JP" dirty="0"/>
                    </a:p>
                  </a:txBody>
                  <a:tcPr/>
                </a:tc>
                <a:tc>
                  <a:txBody>
                    <a:bodyPr/>
                    <a:lstStyle/>
                    <a:p>
                      <a:r>
                        <a:rPr kumimoji="1" lang="ja-JP" altLang="en-US" dirty="0"/>
                        <a:t>予測補完によって、記されていない情報を埋め込んだり、推測で情報を拡張したりする</a:t>
                      </a:r>
                      <a:endParaRPr kumimoji="1" lang="en-US" altLang="ja-JP" dirty="0"/>
                    </a:p>
                  </a:txBody>
                  <a:tcPr/>
                </a:tc>
                <a:extLst>
                  <a:ext uri="{0D108BD9-81ED-4DB2-BD59-A6C34878D82A}">
                    <a16:rowId xmlns:a16="http://schemas.microsoft.com/office/drawing/2014/main" val="3907867090"/>
                  </a:ext>
                </a:extLst>
              </a:tr>
              <a:tr h="654542">
                <a:tc>
                  <a:txBody>
                    <a:bodyPr/>
                    <a:lstStyle/>
                    <a:p>
                      <a:r>
                        <a:rPr kumimoji="1" lang="ja-JP" altLang="en-US" dirty="0"/>
                        <a:t>項目の欠落</a:t>
                      </a:r>
                      <a:endParaRPr kumimoji="1" lang="en-US" altLang="ja-JP" dirty="0"/>
                    </a:p>
                  </a:txBody>
                  <a:tcPr/>
                </a:tc>
                <a:tc>
                  <a:txBody>
                    <a:bodyPr/>
                    <a:lstStyle/>
                    <a:p>
                      <a:r>
                        <a:rPr kumimoji="1" lang="ja-JP" altLang="en-US" dirty="0"/>
                        <a:t>全項目をまとめられず、いくつか漏れが発生することがある</a:t>
                      </a:r>
                    </a:p>
                  </a:txBody>
                  <a:tcPr/>
                </a:tc>
                <a:extLst>
                  <a:ext uri="{0D108BD9-81ED-4DB2-BD59-A6C34878D82A}">
                    <a16:rowId xmlns:a16="http://schemas.microsoft.com/office/drawing/2014/main" val="2645532750"/>
                  </a:ext>
                </a:extLst>
              </a:tr>
              <a:tr h="654542">
                <a:tc>
                  <a:txBody>
                    <a:bodyPr/>
                    <a:lstStyle/>
                    <a:p>
                      <a:r>
                        <a:rPr kumimoji="1" lang="ja-JP" altLang="en-US" dirty="0"/>
                        <a:t>項目の重複</a:t>
                      </a:r>
                      <a:endParaRPr kumimoji="1" lang="en-US" altLang="ja-JP" dirty="0"/>
                    </a:p>
                  </a:txBody>
                  <a:tcPr/>
                </a:tc>
                <a:tc>
                  <a:txBody>
                    <a:bodyPr/>
                    <a:lstStyle/>
                    <a:p>
                      <a:r>
                        <a:rPr kumimoji="1" lang="ja-JP" altLang="en-US" dirty="0"/>
                        <a:t>同項目にて、古い情報と新しい情報の２つが抽出され、まとめられていることがある</a:t>
                      </a:r>
                    </a:p>
                  </a:txBody>
                  <a:tcPr/>
                </a:tc>
                <a:extLst>
                  <a:ext uri="{0D108BD9-81ED-4DB2-BD59-A6C34878D82A}">
                    <a16:rowId xmlns:a16="http://schemas.microsoft.com/office/drawing/2014/main" val="3855783641"/>
                  </a:ext>
                </a:extLst>
              </a:tr>
              <a:tr h="722088">
                <a:tc>
                  <a:txBody>
                    <a:bodyPr/>
                    <a:lstStyle/>
                    <a:p>
                      <a:r>
                        <a:rPr kumimoji="1" lang="ja-JP" altLang="en-US" dirty="0"/>
                        <a:t>時系列の乱れ</a:t>
                      </a:r>
                    </a:p>
                  </a:txBody>
                  <a:tcPr/>
                </a:tc>
                <a:tc>
                  <a:txBody>
                    <a:bodyPr/>
                    <a:lstStyle/>
                    <a:p>
                      <a:r>
                        <a:rPr kumimoji="1" lang="ja-JP" altLang="en-US" dirty="0"/>
                        <a:t>項目の変更がある場合、最新情報に更新されず、古い情報を保持している</a:t>
                      </a:r>
                    </a:p>
                  </a:txBody>
                  <a:tcPr/>
                </a:tc>
                <a:extLst>
                  <a:ext uri="{0D108BD9-81ED-4DB2-BD59-A6C34878D82A}">
                    <a16:rowId xmlns:a16="http://schemas.microsoft.com/office/drawing/2014/main" val="2030885375"/>
                  </a:ext>
                </a:extLst>
              </a:tr>
              <a:tr h="654542">
                <a:tc>
                  <a:txBody>
                    <a:bodyPr/>
                    <a:lstStyle/>
                    <a:p>
                      <a:r>
                        <a:rPr kumimoji="1" lang="ja-JP" altLang="en-US" dirty="0"/>
                        <a:t>書式形式の非一貫性</a:t>
                      </a:r>
                    </a:p>
                  </a:txBody>
                  <a:tcPr/>
                </a:tc>
                <a:tc>
                  <a:txBody>
                    <a:bodyPr/>
                    <a:lstStyle/>
                    <a:p>
                      <a:r>
                        <a:rPr kumimoji="1" lang="ja-JP" altLang="en-US" dirty="0"/>
                        <a:t>出力によって、書式方法が異なる</a:t>
                      </a:r>
                    </a:p>
                  </a:txBody>
                  <a:tcPr/>
                </a:tc>
                <a:extLst>
                  <a:ext uri="{0D108BD9-81ED-4DB2-BD59-A6C34878D82A}">
                    <a16:rowId xmlns:a16="http://schemas.microsoft.com/office/drawing/2014/main" val="1789670269"/>
                  </a:ext>
                </a:extLst>
              </a:tr>
            </a:tbl>
          </a:graphicData>
        </a:graphic>
      </p:graphicFrame>
      <p:sp>
        <p:nvSpPr>
          <p:cNvPr id="5" name="スライド番号プレースホルダー 4">
            <a:extLst>
              <a:ext uri="{FF2B5EF4-FFF2-40B4-BE49-F238E27FC236}">
                <a16:creationId xmlns:a16="http://schemas.microsoft.com/office/drawing/2014/main" id="{FF3E637D-8F0A-EAA9-ADBA-A659D41049BC}"/>
              </a:ext>
            </a:extLst>
          </p:cNvPr>
          <p:cNvSpPr>
            <a:spLocks noGrp="1"/>
          </p:cNvSpPr>
          <p:nvPr>
            <p:ph type="sldNum" sz="quarter" idx="12"/>
          </p:nvPr>
        </p:nvSpPr>
        <p:spPr/>
        <p:txBody>
          <a:bodyPr/>
          <a:lstStyle/>
          <a:p>
            <a:fld id="{F32C8F3A-98E9-46B1-BAC9-77D093337233}" type="slidenum">
              <a:rPr kumimoji="1" lang="ja-JP" altLang="en-US" smtClean="0"/>
              <a:t>4</a:t>
            </a:fld>
            <a:endParaRPr kumimoji="1" lang="ja-JP" altLang="en-US"/>
          </a:p>
        </p:txBody>
      </p:sp>
    </p:spTree>
    <p:extLst>
      <p:ext uri="{BB962C8B-B14F-4D97-AF65-F5344CB8AC3E}">
        <p14:creationId xmlns:p14="http://schemas.microsoft.com/office/powerpoint/2010/main" val="2186755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DF9013-461A-455C-8DF1-DC407E2B0AB9}"/>
              </a:ext>
            </a:extLst>
          </p:cNvPr>
          <p:cNvSpPr>
            <a:spLocks noGrp="1"/>
          </p:cNvSpPr>
          <p:nvPr>
            <p:ph type="title"/>
          </p:nvPr>
        </p:nvSpPr>
        <p:spPr/>
        <p:txBody>
          <a:bodyPr/>
          <a:lstStyle/>
          <a:p>
            <a:r>
              <a:rPr lang="ja-JP" altLang="en-US" dirty="0"/>
              <a:t>目的</a:t>
            </a:r>
            <a:endParaRPr kumimoji="1" lang="ja-JP" altLang="en-US" dirty="0"/>
          </a:p>
        </p:txBody>
      </p:sp>
      <p:sp>
        <p:nvSpPr>
          <p:cNvPr id="3" name="コンテンツ プレースホルダー 2">
            <a:extLst>
              <a:ext uri="{FF2B5EF4-FFF2-40B4-BE49-F238E27FC236}">
                <a16:creationId xmlns:a16="http://schemas.microsoft.com/office/drawing/2014/main" id="{0A468351-AFAB-7E73-357E-37AD7D9F9250}"/>
              </a:ext>
            </a:extLst>
          </p:cNvPr>
          <p:cNvSpPr>
            <a:spLocks noGrp="1"/>
          </p:cNvSpPr>
          <p:nvPr>
            <p:ph idx="1"/>
          </p:nvPr>
        </p:nvSpPr>
        <p:spPr>
          <a:xfrm>
            <a:off x="838200" y="1825625"/>
            <a:ext cx="11000874" cy="4351338"/>
          </a:xfrm>
        </p:spPr>
        <p:txBody>
          <a:bodyPr/>
          <a:lstStyle/>
          <a:p>
            <a:pPr marL="0" indent="0">
              <a:buNone/>
            </a:pPr>
            <a:r>
              <a:rPr kumimoji="1" lang="ja-JP" altLang="en-US" dirty="0"/>
              <a:t>人手・</a:t>
            </a:r>
            <a:r>
              <a:rPr kumimoji="1" lang="en-US" altLang="ja-JP" dirty="0"/>
              <a:t>AI</a:t>
            </a:r>
            <a:r>
              <a:rPr kumimoji="1" lang="ja-JP" altLang="en-US" dirty="0"/>
              <a:t>の課題を解決し、この工程を自動化することを目的とする</a:t>
            </a:r>
          </a:p>
        </p:txBody>
      </p:sp>
      <p:graphicFrame>
        <p:nvGraphicFramePr>
          <p:cNvPr id="4" name="表 3">
            <a:extLst>
              <a:ext uri="{FF2B5EF4-FFF2-40B4-BE49-F238E27FC236}">
                <a16:creationId xmlns:a16="http://schemas.microsoft.com/office/drawing/2014/main" id="{38BF8509-A4D8-E1A6-AC54-52FB4AD2ADD5}"/>
              </a:ext>
            </a:extLst>
          </p:cNvPr>
          <p:cNvGraphicFramePr>
            <a:graphicFrameLocks noGrp="1"/>
          </p:cNvGraphicFramePr>
          <p:nvPr>
            <p:extLst>
              <p:ext uri="{D42A27DB-BD31-4B8C-83A1-F6EECF244321}">
                <p14:modId xmlns:p14="http://schemas.microsoft.com/office/powerpoint/2010/main" val="1137620311"/>
              </p:ext>
            </p:extLst>
          </p:nvPr>
        </p:nvGraphicFramePr>
        <p:xfrm>
          <a:off x="838200" y="2445059"/>
          <a:ext cx="10515599" cy="3715109"/>
        </p:xfrm>
        <a:graphic>
          <a:graphicData uri="http://schemas.openxmlformats.org/drawingml/2006/table">
            <a:tbl>
              <a:tblPr firstRow="1" bandRow="1">
                <a:tableStyleId>{5C22544A-7EE6-4342-B048-85BDC9FD1C3A}</a:tableStyleId>
              </a:tblPr>
              <a:tblGrid>
                <a:gridCol w="3008956">
                  <a:extLst>
                    <a:ext uri="{9D8B030D-6E8A-4147-A177-3AD203B41FA5}">
                      <a16:colId xmlns:a16="http://schemas.microsoft.com/office/drawing/2014/main" val="3116518062"/>
                    </a:ext>
                  </a:extLst>
                </a:gridCol>
                <a:gridCol w="1222149">
                  <a:extLst>
                    <a:ext uri="{9D8B030D-6E8A-4147-A177-3AD203B41FA5}">
                      <a16:colId xmlns:a16="http://schemas.microsoft.com/office/drawing/2014/main" val="1496987676"/>
                    </a:ext>
                  </a:extLst>
                </a:gridCol>
                <a:gridCol w="6284494">
                  <a:extLst>
                    <a:ext uri="{9D8B030D-6E8A-4147-A177-3AD203B41FA5}">
                      <a16:colId xmlns:a16="http://schemas.microsoft.com/office/drawing/2014/main" val="3329680842"/>
                    </a:ext>
                  </a:extLst>
                </a:gridCol>
              </a:tblGrid>
              <a:tr h="409001">
                <a:tc>
                  <a:txBody>
                    <a:bodyPr/>
                    <a:lstStyle/>
                    <a:p>
                      <a:pPr algn="ctr"/>
                      <a:r>
                        <a:rPr kumimoji="1" lang="ja-JP" altLang="en-US" dirty="0"/>
                        <a:t>課題</a:t>
                      </a:r>
                    </a:p>
                  </a:txBody>
                  <a:tcPr/>
                </a:tc>
                <a:tc>
                  <a:txBody>
                    <a:bodyPr/>
                    <a:lstStyle/>
                    <a:p>
                      <a:pPr algn="ctr"/>
                      <a:r>
                        <a:rPr kumimoji="1" lang="ja-JP" altLang="en-US" dirty="0"/>
                        <a:t>課題元</a:t>
                      </a:r>
                    </a:p>
                  </a:txBody>
                  <a:tcPr/>
                </a:tc>
                <a:tc>
                  <a:txBody>
                    <a:bodyPr/>
                    <a:lstStyle/>
                    <a:p>
                      <a:pPr algn="ctr"/>
                      <a:r>
                        <a:rPr kumimoji="1" lang="ja-JP" altLang="en-US" dirty="0"/>
                        <a:t>内容</a:t>
                      </a:r>
                    </a:p>
                  </a:txBody>
                  <a:tcPr/>
                </a:tc>
                <a:extLst>
                  <a:ext uri="{0D108BD9-81ED-4DB2-BD59-A6C34878D82A}">
                    <a16:rowId xmlns:a16="http://schemas.microsoft.com/office/drawing/2014/main" val="3595052137"/>
                  </a:ext>
                </a:extLst>
              </a:tr>
              <a:tr h="466656">
                <a:tc>
                  <a:txBody>
                    <a:bodyPr/>
                    <a:lstStyle/>
                    <a:p>
                      <a:r>
                        <a:rPr kumimoji="1" lang="ja-JP" altLang="en-US" dirty="0"/>
                        <a:t>事実・推測の混同防止</a:t>
                      </a:r>
                      <a:endParaRPr kumimoji="1" lang="en-US" altLang="ja-JP" dirty="0"/>
                    </a:p>
                  </a:txBody>
                  <a:tcPr/>
                </a:tc>
                <a:tc>
                  <a:txBody>
                    <a:bodyPr/>
                    <a:lstStyle/>
                    <a:p>
                      <a:r>
                        <a:rPr kumimoji="1" lang="en-US" altLang="ja-JP" dirty="0"/>
                        <a:t>AI</a:t>
                      </a:r>
                    </a:p>
                  </a:txBody>
                  <a:tcPr/>
                </a:tc>
                <a:tc>
                  <a:txBody>
                    <a:bodyPr/>
                    <a:lstStyle/>
                    <a:p>
                      <a:r>
                        <a:rPr kumimoji="1" lang="ja-JP" altLang="en-US" dirty="0"/>
                        <a:t>事実と異なる、提案されていないことを含まない</a:t>
                      </a:r>
                      <a:endParaRPr kumimoji="1" lang="en-US" altLang="ja-JP" dirty="0"/>
                    </a:p>
                  </a:txBody>
                  <a:tcPr/>
                </a:tc>
                <a:extLst>
                  <a:ext uri="{0D108BD9-81ED-4DB2-BD59-A6C34878D82A}">
                    <a16:rowId xmlns:a16="http://schemas.microsoft.com/office/drawing/2014/main" val="3907867090"/>
                  </a:ext>
                </a:extLst>
              </a:tr>
              <a:tr h="433136">
                <a:tc>
                  <a:txBody>
                    <a:bodyPr/>
                    <a:lstStyle/>
                    <a:p>
                      <a:r>
                        <a:rPr kumimoji="1" lang="ja-JP" altLang="en-US" dirty="0"/>
                        <a:t>項目の欠落</a:t>
                      </a:r>
                      <a:endParaRPr kumimoji="1" lang="en-US" altLang="ja-JP" dirty="0"/>
                    </a:p>
                  </a:txBody>
                  <a:tcPr/>
                </a:tc>
                <a:tc>
                  <a:txBody>
                    <a:bodyPr/>
                    <a:lstStyle/>
                    <a:p>
                      <a:r>
                        <a:rPr kumimoji="1" lang="en-US" altLang="ja-JP" dirty="0"/>
                        <a:t>AI</a:t>
                      </a:r>
                    </a:p>
                  </a:txBody>
                  <a:tcPr/>
                </a:tc>
                <a:tc>
                  <a:txBody>
                    <a:bodyPr/>
                    <a:lstStyle/>
                    <a:p>
                      <a:r>
                        <a:rPr kumimoji="1" lang="ja-JP" altLang="en-US" dirty="0"/>
                        <a:t>主要機能、重要条件を漏らさない</a:t>
                      </a:r>
                    </a:p>
                  </a:txBody>
                  <a:tcPr/>
                </a:tc>
                <a:extLst>
                  <a:ext uri="{0D108BD9-81ED-4DB2-BD59-A6C34878D82A}">
                    <a16:rowId xmlns:a16="http://schemas.microsoft.com/office/drawing/2014/main" val="2645532750"/>
                  </a:ext>
                </a:extLst>
              </a:tr>
              <a:tr h="407194">
                <a:tc>
                  <a:txBody>
                    <a:bodyPr/>
                    <a:lstStyle/>
                    <a:p>
                      <a:r>
                        <a:rPr kumimoji="1" lang="ja-JP" altLang="en-US" dirty="0"/>
                        <a:t>ノイズの除去</a:t>
                      </a:r>
                      <a:endParaRPr kumimoji="1" lang="en-US" altLang="ja-JP" dirty="0"/>
                    </a:p>
                  </a:txBody>
                  <a:tcPr/>
                </a:tc>
                <a:tc>
                  <a:txBody>
                    <a:bodyPr/>
                    <a:lstStyle/>
                    <a:p>
                      <a:r>
                        <a:rPr kumimoji="1" lang="en-US" altLang="ja-JP" dirty="0"/>
                        <a:t>AI</a:t>
                      </a:r>
                    </a:p>
                  </a:txBody>
                  <a:tcPr/>
                </a:tc>
                <a:tc>
                  <a:txBody>
                    <a:bodyPr/>
                    <a:lstStyle/>
                    <a:p>
                      <a:r>
                        <a:rPr kumimoji="1" lang="ja-JP" altLang="en-US" dirty="0"/>
                        <a:t>決定事項ではない項目を含まない</a:t>
                      </a:r>
                    </a:p>
                  </a:txBody>
                  <a:tcPr/>
                </a:tc>
                <a:extLst>
                  <a:ext uri="{0D108BD9-81ED-4DB2-BD59-A6C34878D82A}">
                    <a16:rowId xmlns:a16="http://schemas.microsoft.com/office/drawing/2014/main" val="3855783641"/>
                  </a:ext>
                </a:extLst>
              </a:tr>
              <a:tr h="525630">
                <a:tc>
                  <a:txBody>
                    <a:bodyPr/>
                    <a:lstStyle/>
                    <a:p>
                      <a:r>
                        <a:rPr kumimoji="1" lang="ja-JP" altLang="en-US" dirty="0"/>
                        <a:t>時系列の乱れ</a:t>
                      </a:r>
                    </a:p>
                  </a:txBody>
                  <a:tcPr/>
                </a:tc>
                <a:tc>
                  <a:txBody>
                    <a:bodyPr/>
                    <a:lstStyle/>
                    <a:p>
                      <a:r>
                        <a:rPr kumimoji="1" lang="en-US" altLang="ja-JP" dirty="0"/>
                        <a:t>AI</a:t>
                      </a:r>
                      <a:r>
                        <a:rPr kumimoji="1" lang="ja-JP" altLang="en-US" dirty="0"/>
                        <a:t>・人手</a:t>
                      </a:r>
                    </a:p>
                  </a:txBody>
                  <a:tcPr/>
                </a:tc>
                <a:tc>
                  <a:txBody>
                    <a:bodyPr/>
                    <a:lstStyle/>
                    <a:p>
                      <a:r>
                        <a:rPr kumimoji="1" lang="ja-JP" altLang="en-US" dirty="0"/>
                        <a:t>項目内容が最新情報と一致する</a:t>
                      </a:r>
                    </a:p>
                  </a:txBody>
                  <a:tcPr/>
                </a:tc>
                <a:extLst>
                  <a:ext uri="{0D108BD9-81ED-4DB2-BD59-A6C34878D82A}">
                    <a16:rowId xmlns:a16="http://schemas.microsoft.com/office/drawing/2014/main" val="2030885375"/>
                  </a:ext>
                </a:extLst>
              </a:tr>
              <a:tr h="462840">
                <a:tc>
                  <a:txBody>
                    <a:bodyPr/>
                    <a:lstStyle/>
                    <a:p>
                      <a:r>
                        <a:rPr kumimoji="1" lang="ja-JP" altLang="en-US" dirty="0"/>
                        <a:t>書式形式の統一</a:t>
                      </a:r>
                    </a:p>
                  </a:txBody>
                  <a:tcPr/>
                </a:tc>
                <a:tc>
                  <a:txBody>
                    <a:bodyPr/>
                    <a:lstStyle/>
                    <a:p>
                      <a:r>
                        <a:rPr kumimoji="1" lang="en-US" altLang="ja-JP" dirty="0"/>
                        <a:t>AI</a:t>
                      </a:r>
                      <a:r>
                        <a:rPr kumimoji="1" lang="ja-JP" altLang="en-US" dirty="0"/>
                        <a:t>・人手</a:t>
                      </a:r>
                    </a:p>
                  </a:txBody>
                  <a:tcPr/>
                </a:tc>
                <a:tc>
                  <a:txBody>
                    <a:bodyPr/>
                    <a:lstStyle/>
                    <a:p>
                      <a:r>
                        <a:rPr kumimoji="1" lang="ja-JP" altLang="en-US" dirty="0"/>
                        <a:t>使用者に限らず、決まったテンプレートを使用する</a:t>
                      </a:r>
                    </a:p>
                  </a:txBody>
                  <a:tcPr/>
                </a:tc>
                <a:extLst>
                  <a:ext uri="{0D108BD9-81ED-4DB2-BD59-A6C34878D82A}">
                    <a16:rowId xmlns:a16="http://schemas.microsoft.com/office/drawing/2014/main" val="1789670269"/>
                  </a:ext>
                </a:extLst>
              </a:tr>
              <a:tr h="433137">
                <a:tc>
                  <a:txBody>
                    <a:bodyPr/>
                    <a:lstStyle/>
                    <a:p>
                      <a:r>
                        <a:rPr kumimoji="1" lang="ja-JP" altLang="en-US" dirty="0"/>
                        <a:t>処理コストの削減</a:t>
                      </a:r>
                    </a:p>
                  </a:txBody>
                  <a:tcPr/>
                </a:tc>
                <a:tc>
                  <a:txBody>
                    <a:bodyPr/>
                    <a:lstStyle/>
                    <a:p>
                      <a:r>
                        <a:rPr kumimoji="1" lang="ja-JP" altLang="en-US" dirty="0"/>
                        <a:t>人手</a:t>
                      </a:r>
                    </a:p>
                  </a:txBody>
                  <a:tcPr/>
                </a:tc>
                <a:tc>
                  <a:txBody>
                    <a:bodyPr/>
                    <a:lstStyle/>
                    <a:p>
                      <a:r>
                        <a:rPr kumimoji="1" lang="ja-JP" altLang="en-US" dirty="0"/>
                        <a:t>数時間かかる処理を数分で行えるようにする</a:t>
                      </a:r>
                    </a:p>
                  </a:txBody>
                  <a:tcPr/>
                </a:tc>
                <a:extLst>
                  <a:ext uri="{0D108BD9-81ED-4DB2-BD59-A6C34878D82A}">
                    <a16:rowId xmlns:a16="http://schemas.microsoft.com/office/drawing/2014/main" val="1391221960"/>
                  </a:ext>
                </a:extLst>
              </a:tr>
              <a:tr h="577515">
                <a:tc>
                  <a:txBody>
                    <a:bodyPr/>
                    <a:lstStyle/>
                    <a:p>
                      <a:r>
                        <a:rPr kumimoji="1" lang="ja-JP" altLang="en-US" dirty="0"/>
                        <a:t>ヒューマンエラーの排除</a:t>
                      </a:r>
                    </a:p>
                  </a:txBody>
                  <a:tcPr/>
                </a:tc>
                <a:tc>
                  <a:txBody>
                    <a:bodyPr/>
                    <a:lstStyle/>
                    <a:p>
                      <a:r>
                        <a:rPr kumimoji="1" lang="ja-JP" altLang="en-US" dirty="0"/>
                        <a:t>人手</a:t>
                      </a:r>
                    </a:p>
                  </a:txBody>
                  <a:tcPr/>
                </a:tc>
                <a:tc>
                  <a:txBody>
                    <a:bodyPr/>
                    <a:lstStyle/>
                    <a:p>
                      <a:r>
                        <a:rPr kumimoji="1" lang="ja-JP" altLang="en-US" dirty="0"/>
                        <a:t>数値・テキストの誤り、別トピックの混合を防ぐ</a:t>
                      </a:r>
                    </a:p>
                  </a:txBody>
                  <a:tcPr/>
                </a:tc>
                <a:extLst>
                  <a:ext uri="{0D108BD9-81ED-4DB2-BD59-A6C34878D82A}">
                    <a16:rowId xmlns:a16="http://schemas.microsoft.com/office/drawing/2014/main" val="1497738565"/>
                  </a:ext>
                </a:extLst>
              </a:tr>
            </a:tbl>
          </a:graphicData>
        </a:graphic>
      </p:graphicFrame>
      <p:sp>
        <p:nvSpPr>
          <p:cNvPr id="5" name="スライド番号プレースホルダー 4">
            <a:extLst>
              <a:ext uri="{FF2B5EF4-FFF2-40B4-BE49-F238E27FC236}">
                <a16:creationId xmlns:a16="http://schemas.microsoft.com/office/drawing/2014/main" id="{1E1A34E0-0FD7-E128-BF2E-B20C8B42540A}"/>
              </a:ext>
            </a:extLst>
          </p:cNvPr>
          <p:cNvSpPr>
            <a:spLocks noGrp="1"/>
          </p:cNvSpPr>
          <p:nvPr>
            <p:ph type="sldNum" sz="quarter" idx="12"/>
          </p:nvPr>
        </p:nvSpPr>
        <p:spPr/>
        <p:txBody>
          <a:bodyPr/>
          <a:lstStyle/>
          <a:p>
            <a:fld id="{F32C8F3A-98E9-46B1-BAC9-77D093337233}" type="slidenum">
              <a:rPr kumimoji="1" lang="ja-JP" altLang="en-US" smtClean="0"/>
              <a:t>5</a:t>
            </a:fld>
            <a:endParaRPr kumimoji="1" lang="ja-JP" altLang="en-US"/>
          </a:p>
        </p:txBody>
      </p:sp>
    </p:spTree>
    <p:extLst>
      <p:ext uri="{BB962C8B-B14F-4D97-AF65-F5344CB8AC3E}">
        <p14:creationId xmlns:p14="http://schemas.microsoft.com/office/powerpoint/2010/main" val="2534247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1ABAD1-1B73-B4E2-F374-1C936C2A3F1C}"/>
              </a:ext>
            </a:extLst>
          </p:cNvPr>
          <p:cNvSpPr>
            <a:spLocks noGrp="1"/>
          </p:cNvSpPr>
          <p:nvPr>
            <p:ph type="title"/>
          </p:nvPr>
        </p:nvSpPr>
        <p:spPr/>
        <p:txBody>
          <a:bodyPr/>
          <a:lstStyle/>
          <a:p>
            <a:r>
              <a:rPr kumimoji="1" lang="ja-JP" altLang="en-US" dirty="0"/>
              <a:t>提案手法</a:t>
            </a:r>
          </a:p>
        </p:txBody>
      </p:sp>
      <p:sp>
        <p:nvSpPr>
          <p:cNvPr id="3" name="コンテンツ プレースホルダー 2">
            <a:extLst>
              <a:ext uri="{FF2B5EF4-FFF2-40B4-BE49-F238E27FC236}">
                <a16:creationId xmlns:a16="http://schemas.microsoft.com/office/drawing/2014/main" id="{003C298A-EF36-85F5-4EC5-42902A5F304E}"/>
              </a:ext>
            </a:extLst>
          </p:cNvPr>
          <p:cNvSpPr>
            <a:spLocks noGrp="1"/>
          </p:cNvSpPr>
          <p:nvPr>
            <p:ph idx="1"/>
          </p:nvPr>
        </p:nvSpPr>
        <p:spPr>
          <a:xfrm>
            <a:off x="870284" y="1584993"/>
            <a:ext cx="10515600" cy="4351338"/>
          </a:xfrm>
        </p:spPr>
        <p:txBody>
          <a:bodyPr/>
          <a:lstStyle/>
          <a:p>
            <a:pPr marL="0" indent="0">
              <a:buNone/>
            </a:pPr>
            <a:r>
              <a:rPr lang="ja-JP" altLang="en-US" dirty="0"/>
              <a:t>生成</a:t>
            </a:r>
            <a:r>
              <a:rPr lang="en-US" altLang="ja-JP" dirty="0"/>
              <a:t>AI</a:t>
            </a:r>
            <a:r>
              <a:rPr lang="ja-JP" altLang="en-US" dirty="0"/>
              <a:t>を用いる工程で区切り、</a:t>
            </a:r>
            <a:r>
              <a:rPr lang="en-US" altLang="ja-JP" dirty="0"/>
              <a:t>2</a:t>
            </a:r>
            <a:r>
              <a:rPr lang="ja-JP" altLang="en-US" dirty="0"/>
              <a:t>フェーズに分けた設計</a:t>
            </a:r>
            <a:endParaRPr kumimoji="1" lang="en-US" altLang="ja-JP" dirty="0"/>
          </a:p>
        </p:txBody>
      </p:sp>
      <p:sp>
        <p:nvSpPr>
          <p:cNvPr id="4" name="スライド番号プレースホルダー 3">
            <a:extLst>
              <a:ext uri="{FF2B5EF4-FFF2-40B4-BE49-F238E27FC236}">
                <a16:creationId xmlns:a16="http://schemas.microsoft.com/office/drawing/2014/main" id="{169E0483-FE8D-2687-FD70-8F2015B113A7}"/>
              </a:ext>
            </a:extLst>
          </p:cNvPr>
          <p:cNvSpPr>
            <a:spLocks noGrp="1"/>
          </p:cNvSpPr>
          <p:nvPr>
            <p:ph type="sldNum" sz="quarter" idx="12"/>
          </p:nvPr>
        </p:nvSpPr>
        <p:spPr/>
        <p:txBody>
          <a:bodyPr/>
          <a:lstStyle/>
          <a:p>
            <a:fld id="{F32C8F3A-98E9-46B1-BAC9-77D093337233}" type="slidenum">
              <a:rPr kumimoji="1" lang="ja-JP" altLang="en-US" smtClean="0"/>
              <a:t>6</a:t>
            </a:fld>
            <a:endParaRPr kumimoji="1" lang="ja-JP" altLang="en-US" dirty="0"/>
          </a:p>
        </p:txBody>
      </p:sp>
      <p:grpSp>
        <p:nvGrpSpPr>
          <p:cNvPr id="22" name="グループ化 21">
            <a:extLst>
              <a:ext uri="{FF2B5EF4-FFF2-40B4-BE49-F238E27FC236}">
                <a16:creationId xmlns:a16="http://schemas.microsoft.com/office/drawing/2014/main" id="{D5DD37B4-CE04-54F0-B2A4-0A8335B4DA27}"/>
              </a:ext>
            </a:extLst>
          </p:cNvPr>
          <p:cNvGrpSpPr/>
          <p:nvPr/>
        </p:nvGrpSpPr>
        <p:grpSpPr>
          <a:xfrm>
            <a:off x="577515" y="2215814"/>
            <a:ext cx="10515599" cy="4028575"/>
            <a:chOff x="577516" y="856246"/>
            <a:chExt cx="10862503" cy="5145507"/>
          </a:xfrm>
        </p:grpSpPr>
        <p:sp>
          <p:nvSpPr>
            <p:cNvPr id="5" name="四角形: 角を丸くする 4">
              <a:extLst>
                <a:ext uri="{FF2B5EF4-FFF2-40B4-BE49-F238E27FC236}">
                  <a16:creationId xmlns:a16="http://schemas.microsoft.com/office/drawing/2014/main" id="{4785A2B0-0C93-E648-E0A9-43F75ED1EA8C}"/>
                </a:ext>
              </a:extLst>
            </p:cNvPr>
            <p:cNvSpPr/>
            <p:nvPr/>
          </p:nvSpPr>
          <p:spPr>
            <a:xfrm>
              <a:off x="6621376" y="856246"/>
              <a:ext cx="4818643" cy="5145507"/>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BD2D1F1-A14E-8E2C-E81F-99238677BAE6}"/>
                </a:ext>
              </a:extLst>
            </p:cNvPr>
            <p:cNvSpPr txBox="1"/>
            <p:nvPr/>
          </p:nvSpPr>
          <p:spPr>
            <a:xfrm>
              <a:off x="7017505" y="1509631"/>
              <a:ext cx="4102022" cy="668284"/>
            </a:xfrm>
            <a:prstGeom prst="rect">
              <a:avLst/>
            </a:prstGeom>
            <a:noFill/>
          </p:spPr>
          <p:txBody>
            <a:bodyPr wrap="square" rtlCol="0">
              <a:spAutoFit/>
            </a:bodyPr>
            <a:lstStyle/>
            <a:p>
              <a:r>
                <a:rPr kumimoji="1" lang="en-US" altLang="ja-JP" sz="2800" b="1" dirty="0"/>
                <a:t>Phase 2: </a:t>
              </a:r>
              <a:r>
                <a:rPr kumimoji="1" lang="ja-JP" altLang="en-US" sz="2800" b="1" dirty="0"/>
                <a:t>抽出・反映</a:t>
              </a:r>
            </a:p>
          </p:txBody>
        </p:sp>
        <p:sp>
          <p:nvSpPr>
            <p:cNvPr id="7" name="四角形: 角を丸くする 6">
              <a:extLst>
                <a:ext uri="{FF2B5EF4-FFF2-40B4-BE49-F238E27FC236}">
                  <a16:creationId xmlns:a16="http://schemas.microsoft.com/office/drawing/2014/main" id="{2C4B5D12-0F7C-6807-7303-6445627F6C62}"/>
                </a:ext>
              </a:extLst>
            </p:cNvPr>
            <p:cNvSpPr/>
            <p:nvPr/>
          </p:nvSpPr>
          <p:spPr>
            <a:xfrm>
              <a:off x="577516" y="856246"/>
              <a:ext cx="5823276" cy="5145507"/>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82C4F759-C31A-2128-0FF8-7A80C350C0BE}"/>
                </a:ext>
              </a:extLst>
            </p:cNvPr>
            <p:cNvSpPr/>
            <p:nvPr/>
          </p:nvSpPr>
          <p:spPr>
            <a:xfrm>
              <a:off x="770020" y="2388269"/>
              <a:ext cx="2261937" cy="14117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①議事録入力</a:t>
              </a:r>
              <a:endParaRPr lang="en-US" altLang="ja-JP" dirty="0"/>
            </a:p>
            <a:p>
              <a:pPr algn="ctr"/>
              <a:r>
                <a:rPr lang="en-US" altLang="ja-JP" dirty="0"/>
                <a:t>(JSON</a:t>
              </a:r>
              <a:r>
                <a:rPr lang="ja-JP" altLang="en-US" dirty="0"/>
                <a:t>ファイル</a:t>
              </a:r>
              <a:r>
                <a:rPr lang="en-US" altLang="ja-JP" dirty="0"/>
                <a:t>)</a:t>
              </a:r>
            </a:p>
          </p:txBody>
        </p:sp>
        <p:sp>
          <p:nvSpPr>
            <p:cNvPr id="9" name="四角形: 角を丸くする 8">
              <a:extLst>
                <a:ext uri="{FF2B5EF4-FFF2-40B4-BE49-F238E27FC236}">
                  <a16:creationId xmlns:a16="http://schemas.microsoft.com/office/drawing/2014/main" id="{D8051F70-C184-736C-E46D-979F48B954E2}"/>
                </a:ext>
              </a:extLst>
            </p:cNvPr>
            <p:cNvSpPr/>
            <p:nvPr/>
          </p:nvSpPr>
          <p:spPr>
            <a:xfrm>
              <a:off x="3184357" y="2388268"/>
              <a:ext cx="3152273" cy="14076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②</a:t>
              </a:r>
              <a:r>
                <a:rPr lang="en-US" altLang="ja-JP" dirty="0"/>
                <a:t>LLM</a:t>
              </a:r>
              <a:r>
                <a:rPr lang="ja-JP" altLang="en-US" dirty="0"/>
                <a:t>分類</a:t>
              </a:r>
              <a:r>
                <a:rPr lang="en-US" altLang="ja-JP" dirty="0"/>
                <a:t>+</a:t>
              </a:r>
              <a:r>
                <a:rPr lang="ja-JP" altLang="en-US" dirty="0"/>
                <a:t>ラベル付与</a:t>
              </a:r>
              <a:endParaRPr lang="en-US" altLang="ja-JP" dirty="0"/>
            </a:p>
            <a:p>
              <a:pPr algn="ctr"/>
              <a:r>
                <a:rPr lang="en-US" altLang="ja-JP" dirty="0"/>
                <a:t>(GPT-4o)</a:t>
              </a:r>
            </a:p>
          </p:txBody>
        </p:sp>
        <p:sp>
          <p:nvSpPr>
            <p:cNvPr id="10" name="矢印: 右 9">
              <a:extLst>
                <a:ext uri="{FF2B5EF4-FFF2-40B4-BE49-F238E27FC236}">
                  <a16:creationId xmlns:a16="http://schemas.microsoft.com/office/drawing/2014/main" id="{F194079D-EF35-C535-20A7-5B8B734815AD}"/>
                </a:ext>
              </a:extLst>
            </p:cNvPr>
            <p:cNvSpPr/>
            <p:nvPr/>
          </p:nvSpPr>
          <p:spPr>
            <a:xfrm>
              <a:off x="2811379" y="3094120"/>
              <a:ext cx="593557" cy="40105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CA0F5C90-F26E-57D7-3FDC-3264021CB2E8}"/>
                </a:ext>
              </a:extLst>
            </p:cNvPr>
            <p:cNvSpPr/>
            <p:nvPr/>
          </p:nvSpPr>
          <p:spPr>
            <a:xfrm>
              <a:off x="6868018" y="2380243"/>
              <a:ext cx="1957138" cy="14117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③決定事項抽出</a:t>
              </a:r>
              <a:endParaRPr lang="en-US" altLang="ja-JP" dirty="0"/>
            </a:p>
            <a:p>
              <a:pPr algn="ctr"/>
              <a:r>
                <a:rPr lang="en-US" altLang="ja-JP" dirty="0"/>
                <a:t>(GPT-4o)</a:t>
              </a:r>
            </a:p>
          </p:txBody>
        </p:sp>
        <p:sp>
          <p:nvSpPr>
            <p:cNvPr id="12" name="矢印: 右 11">
              <a:extLst>
                <a:ext uri="{FF2B5EF4-FFF2-40B4-BE49-F238E27FC236}">
                  <a16:creationId xmlns:a16="http://schemas.microsoft.com/office/drawing/2014/main" id="{C52554EA-89A0-8BE4-834D-7C87824F5CCE}"/>
                </a:ext>
              </a:extLst>
            </p:cNvPr>
            <p:cNvSpPr/>
            <p:nvPr/>
          </p:nvSpPr>
          <p:spPr>
            <a:xfrm>
              <a:off x="6136105" y="3094120"/>
              <a:ext cx="986590" cy="40105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7052087F-94F8-EB75-BA12-D88D67FEAFCE}"/>
                </a:ext>
              </a:extLst>
            </p:cNvPr>
            <p:cNvSpPr/>
            <p:nvPr/>
          </p:nvSpPr>
          <p:spPr>
            <a:xfrm>
              <a:off x="8977557" y="2384255"/>
              <a:ext cx="2129938" cy="14117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④テンプレ反映</a:t>
              </a:r>
              <a:endParaRPr lang="en-US" altLang="ja-JP" dirty="0"/>
            </a:p>
            <a:p>
              <a:pPr algn="ctr"/>
              <a:r>
                <a:rPr lang="en-US" altLang="ja-JP" dirty="0"/>
                <a:t>(Jinja2)</a:t>
              </a:r>
            </a:p>
          </p:txBody>
        </p:sp>
        <p:sp>
          <p:nvSpPr>
            <p:cNvPr id="14" name="矢印: 右 13">
              <a:extLst>
                <a:ext uri="{FF2B5EF4-FFF2-40B4-BE49-F238E27FC236}">
                  <a16:creationId xmlns:a16="http://schemas.microsoft.com/office/drawing/2014/main" id="{15E17F93-3C01-847D-9383-6B7C73642580}"/>
                </a:ext>
              </a:extLst>
            </p:cNvPr>
            <p:cNvSpPr/>
            <p:nvPr/>
          </p:nvSpPr>
          <p:spPr>
            <a:xfrm>
              <a:off x="8632651" y="3094120"/>
              <a:ext cx="593557" cy="40105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B8925C6F-E70E-95F4-2117-B8E6C0E913F3}"/>
                </a:ext>
              </a:extLst>
            </p:cNvPr>
            <p:cNvSpPr/>
            <p:nvPr/>
          </p:nvSpPr>
          <p:spPr>
            <a:xfrm>
              <a:off x="3793956" y="4221071"/>
              <a:ext cx="1933074" cy="140769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中間</a:t>
              </a:r>
              <a:r>
                <a:rPr lang="en-US" altLang="ja-JP" dirty="0">
                  <a:solidFill>
                    <a:schemeClr val="tx1"/>
                  </a:solidFill>
                </a:rPr>
                <a:t>JSON</a:t>
              </a:r>
            </a:p>
            <a:p>
              <a:pPr algn="ctr"/>
              <a:r>
                <a:rPr lang="en-US" altLang="ja-JP" dirty="0">
                  <a:solidFill>
                    <a:schemeClr val="tx1"/>
                  </a:solidFill>
                </a:rPr>
                <a:t>(</a:t>
              </a:r>
              <a:r>
                <a:rPr lang="ja-JP" altLang="en-US" dirty="0">
                  <a:solidFill>
                    <a:schemeClr val="tx1"/>
                  </a:solidFill>
                </a:rPr>
                <a:t>ラベル付与</a:t>
              </a:r>
              <a:r>
                <a:rPr lang="en-US" altLang="ja-JP" dirty="0">
                  <a:solidFill>
                    <a:schemeClr val="tx1"/>
                  </a:solidFill>
                </a:rPr>
                <a:t>)</a:t>
              </a:r>
            </a:p>
          </p:txBody>
        </p:sp>
        <p:sp>
          <p:nvSpPr>
            <p:cNvPr id="16" name="四角形: 角を丸くする 15">
              <a:extLst>
                <a:ext uri="{FF2B5EF4-FFF2-40B4-BE49-F238E27FC236}">
                  <a16:creationId xmlns:a16="http://schemas.microsoft.com/office/drawing/2014/main" id="{D3D958A5-6D83-ABEC-0C3D-08D1CD59DADA}"/>
                </a:ext>
              </a:extLst>
            </p:cNvPr>
            <p:cNvSpPr/>
            <p:nvPr/>
          </p:nvSpPr>
          <p:spPr>
            <a:xfrm>
              <a:off x="6880050" y="4221071"/>
              <a:ext cx="1933074" cy="140769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決定事項</a:t>
              </a:r>
              <a:r>
                <a:rPr lang="en-US" altLang="ja-JP" dirty="0">
                  <a:solidFill>
                    <a:schemeClr val="tx1"/>
                  </a:solidFill>
                </a:rPr>
                <a:t>JSON</a:t>
              </a:r>
            </a:p>
          </p:txBody>
        </p:sp>
        <p:sp>
          <p:nvSpPr>
            <p:cNvPr id="17" name="四角形: 角を丸くする 16">
              <a:extLst>
                <a:ext uri="{FF2B5EF4-FFF2-40B4-BE49-F238E27FC236}">
                  <a16:creationId xmlns:a16="http://schemas.microsoft.com/office/drawing/2014/main" id="{93E557F0-8F23-939F-C0DE-57892180EDF0}"/>
                </a:ext>
              </a:extLst>
            </p:cNvPr>
            <p:cNvSpPr/>
            <p:nvPr/>
          </p:nvSpPr>
          <p:spPr>
            <a:xfrm>
              <a:off x="8989589" y="4221072"/>
              <a:ext cx="2129938" cy="140769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要求仕様書</a:t>
              </a:r>
              <a:endParaRPr lang="en-US" altLang="ja-JP" dirty="0">
                <a:solidFill>
                  <a:schemeClr val="tx1"/>
                </a:solidFill>
              </a:endParaRPr>
            </a:p>
            <a:p>
              <a:pPr algn="ctr"/>
              <a:r>
                <a:rPr lang="en-US" altLang="ja-JP" dirty="0">
                  <a:solidFill>
                    <a:schemeClr val="tx1"/>
                  </a:solidFill>
                </a:rPr>
                <a:t>(Markdown)</a:t>
              </a:r>
            </a:p>
          </p:txBody>
        </p:sp>
        <p:sp>
          <p:nvSpPr>
            <p:cNvPr id="18" name="矢印: 右 17">
              <a:extLst>
                <a:ext uri="{FF2B5EF4-FFF2-40B4-BE49-F238E27FC236}">
                  <a16:creationId xmlns:a16="http://schemas.microsoft.com/office/drawing/2014/main" id="{DC574958-5C9F-EF7C-11D6-C72B86CC8A6C}"/>
                </a:ext>
              </a:extLst>
            </p:cNvPr>
            <p:cNvSpPr/>
            <p:nvPr/>
          </p:nvSpPr>
          <p:spPr>
            <a:xfrm rot="5400000">
              <a:off x="4463714" y="3844089"/>
              <a:ext cx="593557" cy="401052"/>
            </a:xfrm>
            <a:prstGeom prst="rightArrow">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矢印: 右 18">
              <a:extLst>
                <a:ext uri="{FF2B5EF4-FFF2-40B4-BE49-F238E27FC236}">
                  <a16:creationId xmlns:a16="http://schemas.microsoft.com/office/drawing/2014/main" id="{16518C0F-6D22-D8B6-58FC-78651EAB1E9C}"/>
                </a:ext>
              </a:extLst>
            </p:cNvPr>
            <p:cNvSpPr/>
            <p:nvPr/>
          </p:nvSpPr>
          <p:spPr>
            <a:xfrm rot="5400000">
              <a:off x="7553816" y="3844090"/>
              <a:ext cx="593557" cy="401052"/>
            </a:xfrm>
            <a:prstGeom prst="rightArrow">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右 19">
              <a:extLst>
                <a:ext uri="{FF2B5EF4-FFF2-40B4-BE49-F238E27FC236}">
                  <a16:creationId xmlns:a16="http://schemas.microsoft.com/office/drawing/2014/main" id="{773E0171-0DA3-C94D-C155-B7FA1E4E599B}"/>
                </a:ext>
              </a:extLst>
            </p:cNvPr>
            <p:cNvSpPr/>
            <p:nvPr/>
          </p:nvSpPr>
          <p:spPr>
            <a:xfrm rot="5400000">
              <a:off x="9659347" y="3844089"/>
              <a:ext cx="593557" cy="401052"/>
            </a:xfrm>
            <a:prstGeom prst="rightArrow">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04D3B35D-8210-0464-631C-CB15288F439C}"/>
                </a:ext>
              </a:extLst>
            </p:cNvPr>
            <p:cNvSpPr txBox="1"/>
            <p:nvPr/>
          </p:nvSpPr>
          <p:spPr>
            <a:xfrm>
              <a:off x="1116087" y="1517656"/>
              <a:ext cx="4974983" cy="668284"/>
            </a:xfrm>
            <a:prstGeom prst="rect">
              <a:avLst/>
            </a:prstGeom>
            <a:noFill/>
          </p:spPr>
          <p:txBody>
            <a:bodyPr wrap="square" rtlCol="0">
              <a:spAutoFit/>
            </a:bodyPr>
            <a:lstStyle/>
            <a:p>
              <a:r>
                <a:rPr lang="en-US" altLang="ja-JP" sz="2800" b="1" dirty="0"/>
                <a:t>Phase</a:t>
              </a:r>
              <a:r>
                <a:rPr kumimoji="1" lang="ja-JP" altLang="en-US" sz="2800" b="1" dirty="0"/>
                <a:t> </a:t>
              </a:r>
              <a:r>
                <a:rPr kumimoji="1" lang="en-US" altLang="ja-JP" sz="2800" b="1" dirty="0"/>
                <a:t>1: </a:t>
              </a:r>
              <a:r>
                <a:rPr kumimoji="1" lang="ja-JP" altLang="en-US" sz="2800" b="1" dirty="0"/>
                <a:t>分析・ラベル付与</a:t>
              </a:r>
            </a:p>
          </p:txBody>
        </p:sp>
      </p:grpSp>
    </p:spTree>
    <p:extLst>
      <p:ext uri="{BB962C8B-B14F-4D97-AF65-F5344CB8AC3E}">
        <p14:creationId xmlns:p14="http://schemas.microsoft.com/office/powerpoint/2010/main" val="3208735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5A5FA6-2290-72EB-A1AE-60548172898B}"/>
              </a:ext>
            </a:extLst>
          </p:cNvPr>
          <p:cNvSpPr>
            <a:spLocks noGrp="1"/>
          </p:cNvSpPr>
          <p:nvPr>
            <p:ph type="title"/>
          </p:nvPr>
        </p:nvSpPr>
        <p:spPr/>
        <p:txBody>
          <a:bodyPr/>
          <a:lstStyle/>
          <a:p>
            <a:r>
              <a:rPr kumimoji="1" lang="ja-JP" altLang="en-US" dirty="0"/>
              <a:t>アプローチ</a:t>
            </a:r>
            <a:r>
              <a:rPr lang="ja-JP" altLang="en-US" dirty="0"/>
              <a:t>手法</a:t>
            </a:r>
            <a:endParaRPr kumimoji="1" lang="ja-JP" altLang="en-US" dirty="0"/>
          </a:p>
        </p:txBody>
      </p:sp>
      <p:graphicFrame>
        <p:nvGraphicFramePr>
          <p:cNvPr id="4" name="コンテンツ プレースホルダー 3">
            <a:extLst>
              <a:ext uri="{FF2B5EF4-FFF2-40B4-BE49-F238E27FC236}">
                <a16:creationId xmlns:a16="http://schemas.microsoft.com/office/drawing/2014/main" id="{0F4CA273-052E-ACE7-694E-0D6FB8356237}"/>
              </a:ext>
            </a:extLst>
          </p:cNvPr>
          <p:cNvGraphicFramePr>
            <a:graphicFrameLocks noGrp="1"/>
          </p:cNvGraphicFramePr>
          <p:nvPr>
            <p:ph idx="1"/>
            <p:extLst>
              <p:ext uri="{D42A27DB-BD31-4B8C-83A1-F6EECF244321}">
                <p14:modId xmlns:p14="http://schemas.microsoft.com/office/powerpoint/2010/main" val="1333914301"/>
              </p:ext>
            </p:extLst>
          </p:nvPr>
        </p:nvGraphicFramePr>
        <p:xfrm>
          <a:off x="838200" y="1853698"/>
          <a:ext cx="10515600" cy="3320347"/>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895973317"/>
                    </a:ext>
                  </a:extLst>
                </a:gridCol>
                <a:gridCol w="7696200">
                  <a:extLst>
                    <a:ext uri="{9D8B030D-6E8A-4147-A177-3AD203B41FA5}">
                      <a16:colId xmlns:a16="http://schemas.microsoft.com/office/drawing/2014/main" val="523500318"/>
                    </a:ext>
                  </a:extLst>
                </a:gridCol>
              </a:tblGrid>
              <a:tr h="372143">
                <a:tc>
                  <a:txBody>
                    <a:bodyPr/>
                    <a:lstStyle/>
                    <a:p>
                      <a:pPr algn="ctr"/>
                      <a:r>
                        <a:rPr kumimoji="1" lang="ja-JP" altLang="en-US" dirty="0"/>
                        <a:t>手法</a:t>
                      </a:r>
                    </a:p>
                  </a:txBody>
                  <a:tcPr/>
                </a:tc>
                <a:tc>
                  <a:txBody>
                    <a:bodyPr/>
                    <a:lstStyle/>
                    <a:p>
                      <a:pPr algn="ctr"/>
                      <a:r>
                        <a:rPr kumimoji="1" lang="ja-JP" altLang="en-US" dirty="0"/>
                        <a:t>内容</a:t>
                      </a:r>
                    </a:p>
                  </a:txBody>
                  <a:tcPr/>
                </a:tc>
                <a:extLst>
                  <a:ext uri="{0D108BD9-81ED-4DB2-BD59-A6C34878D82A}">
                    <a16:rowId xmlns:a16="http://schemas.microsoft.com/office/drawing/2014/main" val="3491935950"/>
                  </a:ext>
                </a:extLst>
              </a:tr>
              <a:tr h="513982">
                <a:tc>
                  <a:txBody>
                    <a:bodyPr/>
                    <a:lstStyle/>
                    <a:p>
                      <a:r>
                        <a:rPr kumimoji="1" lang="en-US" altLang="ja-JP" dirty="0"/>
                        <a:t>GPT-4o</a:t>
                      </a:r>
                      <a:r>
                        <a:rPr kumimoji="1" lang="ja-JP" altLang="en-US" dirty="0"/>
                        <a:t>の採用</a:t>
                      </a:r>
                    </a:p>
                  </a:txBody>
                  <a:tcPr/>
                </a:tc>
                <a:tc>
                  <a:txBody>
                    <a:bodyPr/>
                    <a:lstStyle/>
                    <a:p>
                      <a:r>
                        <a:rPr kumimoji="1" lang="ja-JP" altLang="ja-JP" sz="1800" kern="1200" dirty="0">
                          <a:solidFill>
                            <a:schemeClr val="dk1"/>
                          </a:solidFill>
                          <a:effectLst/>
                          <a:latin typeface="+mn-lt"/>
                          <a:ea typeface="+mn-ea"/>
                          <a:cs typeface="+mn-cs"/>
                        </a:rPr>
                        <a:t>高度な自然言語理解能力を持ち、テキストの文脈理解や要約処理において優れた性能を示しており、議事録処理への応用に適していると</a:t>
                      </a:r>
                      <a:r>
                        <a:rPr kumimoji="1" lang="ja-JP" altLang="en-US" sz="1800" kern="1200" dirty="0">
                          <a:solidFill>
                            <a:schemeClr val="dk1"/>
                          </a:solidFill>
                          <a:effectLst/>
                          <a:latin typeface="+mn-lt"/>
                          <a:ea typeface="+mn-ea"/>
                          <a:cs typeface="+mn-cs"/>
                        </a:rPr>
                        <a:t>考える</a:t>
                      </a:r>
                      <a:endParaRPr kumimoji="1" lang="ja-JP" altLang="en-US" dirty="0"/>
                    </a:p>
                  </a:txBody>
                  <a:tcPr/>
                </a:tc>
                <a:extLst>
                  <a:ext uri="{0D108BD9-81ED-4DB2-BD59-A6C34878D82A}">
                    <a16:rowId xmlns:a16="http://schemas.microsoft.com/office/drawing/2014/main" val="1732710100"/>
                  </a:ext>
                </a:extLst>
              </a:tr>
              <a:tr h="513982">
                <a:tc>
                  <a:txBody>
                    <a:bodyPr/>
                    <a:lstStyle/>
                    <a:p>
                      <a:r>
                        <a:rPr kumimoji="1" lang="en-US" altLang="ja-JP" dirty="0"/>
                        <a:t>2</a:t>
                      </a:r>
                      <a:r>
                        <a:rPr kumimoji="1" lang="ja-JP" altLang="en-US" dirty="0"/>
                        <a:t>段階処理フロー</a:t>
                      </a:r>
                      <a:endParaRPr kumimoji="1" lang="en-US" altLang="ja-JP" dirty="0"/>
                    </a:p>
                  </a:txBody>
                  <a:tcPr/>
                </a:tc>
                <a:tc>
                  <a:txBody>
                    <a:bodyPr/>
                    <a:lstStyle/>
                    <a:p>
                      <a:r>
                        <a:rPr kumimoji="1" lang="ja-JP" altLang="en-US" dirty="0"/>
                        <a:t>命令を単純なものに分割して、段階を分けて命令処理を行う</a:t>
                      </a:r>
                    </a:p>
                  </a:txBody>
                  <a:tcPr/>
                </a:tc>
                <a:extLst>
                  <a:ext uri="{0D108BD9-81ED-4DB2-BD59-A6C34878D82A}">
                    <a16:rowId xmlns:a16="http://schemas.microsoft.com/office/drawing/2014/main" val="1157767304"/>
                  </a:ext>
                </a:extLst>
              </a:tr>
              <a:tr h="513982">
                <a:tc>
                  <a:txBody>
                    <a:bodyPr/>
                    <a:lstStyle/>
                    <a:p>
                      <a:r>
                        <a:rPr kumimoji="1" lang="ja-JP" altLang="en-US" dirty="0"/>
                        <a:t>中間出力の保持</a:t>
                      </a:r>
                      <a:endParaRPr kumimoji="1" lang="en-US" altLang="ja-JP" dirty="0"/>
                    </a:p>
                  </a:txBody>
                  <a:tcPr/>
                </a:tc>
                <a:tc>
                  <a:txBody>
                    <a:bodyPr/>
                    <a:lstStyle/>
                    <a:p>
                      <a:r>
                        <a:rPr kumimoji="1" lang="ja-JP" altLang="en-US" dirty="0"/>
                        <a:t>生成</a:t>
                      </a:r>
                      <a:r>
                        <a:rPr kumimoji="1" lang="en-US" altLang="ja-JP" dirty="0"/>
                        <a:t>AI</a:t>
                      </a:r>
                      <a:r>
                        <a:rPr kumimoji="1" lang="ja-JP" altLang="en-US" dirty="0"/>
                        <a:t>に確実なデータを渡す、分析・抽出元の追跡を可能とする</a:t>
                      </a:r>
                    </a:p>
                  </a:txBody>
                  <a:tcPr/>
                </a:tc>
                <a:extLst>
                  <a:ext uri="{0D108BD9-81ED-4DB2-BD59-A6C34878D82A}">
                    <a16:rowId xmlns:a16="http://schemas.microsoft.com/office/drawing/2014/main" val="2183752494"/>
                  </a:ext>
                </a:extLst>
              </a:tr>
              <a:tr h="5139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書式構造の統一化</a:t>
                      </a:r>
                      <a:endParaRPr kumimoji="1" lang="en-US" altLang="ja-JP" dirty="0"/>
                    </a:p>
                  </a:txBody>
                  <a:tcPr/>
                </a:tc>
                <a:tc>
                  <a:txBody>
                    <a:bodyPr/>
                    <a:lstStyle/>
                    <a:p>
                      <a:r>
                        <a:rPr kumimoji="1" lang="ja-JP" altLang="en-US" dirty="0"/>
                        <a:t>生成</a:t>
                      </a:r>
                      <a:r>
                        <a:rPr kumimoji="1" lang="en-US" altLang="ja-JP" dirty="0"/>
                        <a:t>AI</a:t>
                      </a:r>
                      <a:r>
                        <a:rPr kumimoji="1" lang="ja-JP" altLang="en-US" dirty="0"/>
                        <a:t>に任せると、書式に一貫性がないため、プログラムを採用</a:t>
                      </a:r>
                      <a:endParaRPr kumimoji="1" lang="en-US" altLang="ja-JP" dirty="0"/>
                    </a:p>
                    <a:p>
                      <a:r>
                        <a:rPr kumimoji="1" lang="ja-JP" altLang="en-US" dirty="0"/>
                        <a:t>中間出力より、付与ラベルをもとに指定テンプレートに反映</a:t>
                      </a:r>
                    </a:p>
                  </a:txBody>
                  <a:tcPr/>
                </a:tc>
                <a:extLst>
                  <a:ext uri="{0D108BD9-81ED-4DB2-BD59-A6C34878D82A}">
                    <a16:rowId xmlns:a16="http://schemas.microsoft.com/office/drawing/2014/main" val="875766733"/>
                  </a:ext>
                </a:extLst>
              </a:tr>
              <a:tr h="513982">
                <a:tc>
                  <a:txBody>
                    <a:bodyPr/>
                    <a:lstStyle/>
                    <a:p>
                      <a:r>
                        <a:rPr kumimoji="1" lang="ja-JP" altLang="en-US" dirty="0"/>
                        <a:t>設定条件の固定</a:t>
                      </a:r>
                      <a:endParaRPr kumimoji="1" lang="en-US" altLang="ja-JP" dirty="0"/>
                    </a:p>
                  </a:txBody>
                  <a:tcPr/>
                </a:tc>
                <a:tc>
                  <a:txBody>
                    <a:bodyPr/>
                    <a:lstStyle/>
                    <a:p>
                      <a:r>
                        <a:rPr kumimoji="1" lang="ja-JP" altLang="en-US" dirty="0"/>
                        <a:t>温度パラメータ設定と対象データセットを凍結ファイルとして保存する</a:t>
                      </a:r>
                      <a:endParaRPr kumimoji="1" lang="en-US" altLang="ja-JP" dirty="0"/>
                    </a:p>
                    <a:p>
                      <a:r>
                        <a:rPr kumimoji="1" lang="ja-JP" altLang="en-US" dirty="0"/>
                        <a:t>凍結ファイルを用いて別データセットに対して汎化検証を行う</a:t>
                      </a:r>
                    </a:p>
                  </a:txBody>
                  <a:tcPr/>
                </a:tc>
                <a:extLst>
                  <a:ext uri="{0D108BD9-81ED-4DB2-BD59-A6C34878D82A}">
                    <a16:rowId xmlns:a16="http://schemas.microsoft.com/office/drawing/2014/main" val="1365436432"/>
                  </a:ext>
                </a:extLst>
              </a:tr>
            </a:tbl>
          </a:graphicData>
        </a:graphic>
      </p:graphicFrame>
      <p:sp>
        <p:nvSpPr>
          <p:cNvPr id="5" name="スライド番号プレースホルダー 4">
            <a:extLst>
              <a:ext uri="{FF2B5EF4-FFF2-40B4-BE49-F238E27FC236}">
                <a16:creationId xmlns:a16="http://schemas.microsoft.com/office/drawing/2014/main" id="{C1B13D3A-91EF-E27E-04AF-9512EF5D9DC5}"/>
              </a:ext>
            </a:extLst>
          </p:cNvPr>
          <p:cNvSpPr>
            <a:spLocks noGrp="1"/>
          </p:cNvSpPr>
          <p:nvPr>
            <p:ph type="sldNum" sz="quarter" idx="12"/>
          </p:nvPr>
        </p:nvSpPr>
        <p:spPr/>
        <p:txBody>
          <a:bodyPr/>
          <a:lstStyle/>
          <a:p>
            <a:fld id="{F32C8F3A-98E9-46B1-BAC9-77D093337233}" type="slidenum">
              <a:rPr kumimoji="1" lang="ja-JP" altLang="en-US" smtClean="0"/>
              <a:t>7</a:t>
            </a:fld>
            <a:endParaRPr kumimoji="1" lang="ja-JP" altLang="en-US"/>
          </a:p>
        </p:txBody>
      </p:sp>
    </p:spTree>
    <p:extLst>
      <p:ext uri="{BB962C8B-B14F-4D97-AF65-F5344CB8AC3E}">
        <p14:creationId xmlns:p14="http://schemas.microsoft.com/office/powerpoint/2010/main" val="345361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CFB7AB-5597-CE7C-326B-2C69ECADD3FC}"/>
              </a:ext>
            </a:extLst>
          </p:cNvPr>
          <p:cNvSpPr>
            <a:spLocks noGrp="1"/>
          </p:cNvSpPr>
          <p:nvPr>
            <p:ph type="title"/>
          </p:nvPr>
        </p:nvSpPr>
        <p:spPr/>
        <p:txBody>
          <a:bodyPr/>
          <a:lstStyle/>
          <a:p>
            <a:r>
              <a:rPr lang="ja-JP" altLang="en-US" dirty="0"/>
              <a:t>使用</a:t>
            </a:r>
            <a:r>
              <a:rPr kumimoji="1" lang="ja-JP" altLang="en-US" dirty="0"/>
              <a:t>データ</a:t>
            </a:r>
          </a:p>
        </p:txBody>
      </p:sp>
      <p:sp>
        <p:nvSpPr>
          <p:cNvPr id="3" name="コンテンツ プレースホルダー 2">
            <a:extLst>
              <a:ext uri="{FF2B5EF4-FFF2-40B4-BE49-F238E27FC236}">
                <a16:creationId xmlns:a16="http://schemas.microsoft.com/office/drawing/2014/main" id="{B5CB3F03-6CE7-70CB-7788-9647955342FF}"/>
              </a:ext>
            </a:extLst>
          </p:cNvPr>
          <p:cNvSpPr>
            <a:spLocks noGrp="1"/>
          </p:cNvSpPr>
          <p:nvPr>
            <p:ph idx="1"/>
          </p:nvPr>
        </p:nvSpPr>
        <p:spPr/>
        <p:txBody>
          <a:bodyPr/>
          <a:lstStyle/>
          <a:p>
            <a:pPr marL="0" indent="0">
              <a:buNone/>
            </a:pPr>
            <a:r>
              <a:rPr kumimoji="1" lang="en-US" altLang="ja-JP" dirty="0"/>
              <a:t>DS1: Web</a:t>
            </a:r>
            <a:r>
              <a:rPr kumimoji="1" lang="ja-JP" altLang="en-US" dirty="0"/>
              <a:t>アプリケーション開発についての打ち合わせログ</a:t>
            </a:r>
            <a:endParaRPr lang="en-US" altLang="ja-JP" dirty="0"/>
          </a:p>
          <a:p>
            <a:pPr marL="0" indent="0">
              <a:buNone/>
            </a:pPr>
            <a:r>
              <a:rPr kumimoji="1" lang="en-US" altLang="ja-JP" dirty="0"/>
              <a:t>DS2: </a:t>
            </a:r>
            <a:r>
              <a:rPr kumimoji="1" lang="ja-JP" altLang="en-US" dirty="0"/>
              <a:t>ホテル・旅館業向けシステム開発</a:t>
            </a:r>
            <a:endParaRPr kumimoji="1" lang="en-US" altLang="ja-JP" dirty="0"/>
          </a:p>
        </p:txBody>
      </p:sp>
      <p:sp>
        <p:nvSpPr>
          <p:cNvPr id="4" name="スライド番号プレースホルダー 3">
            <a:extLst>
              <a:ext uri="{FF2B5EF4-FFF2-40B4-BE49-F238E27FC236}">
                <a16:creationId xmlns:a16="http://schemas.microsoft.com/office/drawing/2014/main" id="{3062D527-0B2D-5CD3-27C0-94F3646EE514}"/>
              </a:ext>
            </a:extLst>
          </p:cNvPr>
          <p:cNvSpPr>
            <a:spLocks noGrp="1"/>
          </p:cNvSpPr>
          <p:nvPr>
            <p:ph type="sldNum" sz="quarter" idx="12"/>
          </p:nvPr>
        </p:nvSpPr>
        <p:spPr/>
        <p:txBody>
          <a:bodyPr/>
          <a:lstStyle/>
          <a:p>
            <a:fld id="{F32C8F3A-98E9-46B1-BAC9-77D093337233}" type="slidenum">
              <a:rPr kumimoji="1" lang="ja-JP" altLang="en-US" smtClean="0"/>
              <a:t>8</a:t>
            </a:fld>
            <a:endParaRPr kumimoji="1" lang="ja-JP" altLang="en-US"/>
          </a:p>
        </p:txBody>
      </p:sp>
      <p:graphicFrame>
        <p:nvGraphicFramePr>
          <p:cNvPr id="5" name="表 4">
            <a:extLst>
              <a:ext uri="{FF2B5EF4-FFF2-40B4-BE49-F238E27FC236}">
                <a16:creationId xmlns:a16="http://schemas.microsoft.com/office/drawing/2014/main" id="{52C80DA2-2222-9E50-C0C1-059583B53843}"/>
              </a:ext>
            </a:extLst>
          </p:cNvPr>
          <p:cNvGraphicFramePr>
            <a:graphicFrameLocks noGrp="1"/>
          </p:cNvGraphicFramePr>
          <p:nvPr>
            <p:extLst>
              <p:ext uri="{D42A27DB-BD31-4B8C-83A1-F6EECF244321}">
                <p14:modId xmlns:p14="http://schemas.microsoft.com/office/powerpoint/2010/main" val="2146406499"/>
              </p:ext>
            </p:extLst>
          </p:nvPr>
        </p:nvGraphicFramePr>
        <p:xfrm>
          <a:off x="925094" y="2856906"/>
          <a:ext cx="10093393" cy="3551615"/>
        </p:xfrm>
        <a:graphic>
          <a:graphicData uri="http://schemas.openxmlformats.org/drawingml/2006/table">
            <a:tbl>
              <a:tblPr firstRow="1" bandRow="1">
                <a:tableStyleId>{5C22544A-7EE6-4342-B048-85BDC9FD1C3A}</a:tableStyleId>
              </a:tblPr>
              <a:tblGrid>
                <a:gridCol w="1938422">
                  <a:extLst>
                    <a:ext uri="{9D8B030D-6E8A-4147-A177-3AD203B41FA5}">
                      <a16:colId xmlns:a16="http://schemas.microsoft.com/office/drawing/2014/main" val="966402343"/>
                    </a:ext>
                  </a:extLst>
                </a:gridCol>
                <a:gridCol w="4377055">
                  <a:extLst>
                    <a:ext uri="{9D8B030D-6E8A-4147-A177-3AD203B41FA5}">
                      <a16:colId xmlns:a16="http://schemas.microsoft.com/office/drawing/2014/main" val="3790227198"/>
                    </a:ext>
                  </a:extLst>
                </a:gridCol>
                <a:gridCol w="3777916">
                  <a:extLst>
                    <a:ext uri="{9D8B030D-6E8A-4147-A177-3AD203B41FA5}">
                      <a16:colId xmlns:a16="http://schemas.microsoft.com/office/drawing/2014/main" val="3802652145"/>
                    </a:ext>
                  </a:extLst>
                </a:gridCol>
              </a:tblGrid>
              <a:tr h="454291">
                <a:tc>
                  <a:txBody>
                    <a:bodyPr/>
                    <a:lstStyle/>
                    <a:p>
                      <a:pPr algn="ctr"/>
                      <a:endParaRPr kumimoji="1" lang="ja-JP" altLang="en-US" b="1" dirty="0"/>
                    </a:p>
                  </a:txBody>
                  <a:tcPr>
                    <a:solidFill>
                      <a:schemeClr val="accent1"/>
                    </a:solidFill>
                  </a:tcPr>
                </a:tc>
                <a:tc>
                  <a:txBody>
                    <a:bodyPr/>
                    <a:lstStyle/>
                    <a:p>
                      <a:pPr algn="ctr"/>
                      <a:r>
                        <a:rPr kumimoji="1" lang="en-US" altLang="ja-JP" b="1" dirty="0"/>
                        <a:t>DS1</a:t>
                      </a:r>
                      <a:endParaRPr kumimoji="1" lang="ja-JP" altLang="en-US" b="1" dirty="0"/>
                    </a:p>
                  </a:txBody>
                  <a:tcPr/>
                </a:tc>
                <a:tc>
                  <a:txBody>
                    <a:bodyPr/>
                    <a:lstStyle/>
                    <a:p>
                      <a:pPr algn="ctr"/>
                      <a:r>
                        <a:rPr kumimoji="1" lang="en-US" altLang="ja-JP" b="1" dirty="0"/>
                        <a:t>DS2</a:t>
                      </a:r>
                      <a:endParaRPr kumimoji="1" lang="ja-JP" altLang="en-US" b="1" dirty="0"/>
                    </a:p>
                  </a:txBody>
                  <a:tcPr/>
                </a:tc>
                <a:extLst>
                  <a:ext uri="{0D108BD9-81ED-4DB2-BD59-A6C34878D82A}">
                    <a16:rowId xmlns:a16="http://schemas.microsoft.com/office/drawing/2014/main" val="571725773"/>
                  </a:ext>
                </a:extLst>
              </a:tr>
              <a:tr h="454291">
                <a:tc>
                  <a:txBody>
                    <a:bodyPr/>
                    <a:lstStyle/>
                    <a:p>
                      <a:pPr algn="ctr"/>
                      <a:r>
                        <a:rPr kumimoji="1" lang="ja-JP" altLang="en-US" b="1" dirty="0">
                          <a:solidFill>
                            <a:schemeClr val="bg1"/>
                          </a:solidFill>
                        </a:rPr>
                        <a:t>規模</a:t>
                      </a:r>
                    </a:p>
                  </a:txBody>
                  <a:tcPr>
                    <a:solidFill>
                      <a:schemeClr val="accent1"/>
                    </a:solidFill>
                  </a:tcPr>
                </a:tc>
                <a:tc>
                  <a:txBody>
                    <a:bodyPr/>
                    <a:lstStyle/>
                    <a:p>
                      <a:r>
                        <a:rPr kumimoji="1" lang="en-US" altLang="ja-JP" dirty="0"/>
                        <a:t>35</a:t>
                      </a:r>
                      <a:r>
                        <a:rPr kumimoji="1" lang="ja-JP" altLang="en-US" dirty="0"/>
                        <a:t>発言</a:t>
                      </a:r>
                    </a:p>
                  </a:txBody>
                  <a:tcPr/>
                </a:tc>
                <a:tc>
                  <a:txBody>
                    <a:bodyPr/>
                    <a:lstStyle/>
                    <a:p>
                      <a:r>
                        <a:rPr kumimoji="1" lang="en-US" altLang="ja-JP" dirty="0"/>
                        <a:t>48</a:t>
                      </a:r>
                      <a:r>
                        <a:rPr kumimoji="1" lang="ja-JP" altLang="en-US" dirty="0"/>
                        <a:t>発言</a:t>
                      </a:r>
                    </a:p>
                  </a:txBody>
                  <a:tcPr/>
                </a:tc>
                <a:extLst>
                  <a:ext uri="{0D108BD9-81ED-4DB2-BD59-A6C34878D82A}">
                    <a16:rowId xmlns:a16="http://schemas.microsoft.com/office/drawing/2014/main" val="2887857194"/>
                  </a:ext>
                </a:extLst>
              </a:tr>
              <a:tr h="454291">
                <a:tc>
                  <a:txBody>
                    <a:bodyPr/>
                    <a:lstStyle/>
                    <a:p>
                      <a:pPr algn="ctr"/>
                      <a:r>
                        <a:rPr kumimoji="1" lang="ja-JP" altLang="en-US" b="1" dirty="0">
                          <a:solidFill>
                            <a:schemeClr val="bg1"/>
                          </a:solidFill>
                        </a:rPr>
                        <a:t>参加者</a:t>
                      </a:r>
                    </a:p>
                  </a:txBody>
                  <a:tcPr>
                    <a:solidFill>
                      <a:schemeClr val="accent1"/>
                    </a:solidFill>
                  </a:tcPr>
                </a:tc>
                <a:tc>
                  <a:txBody>
                    <a:bodyPr/>
                    <a:lstStyle/>
                    <a:p>
                      <a:r>
                        <a:rPr kumimoji="1" lang="en-US" altLang="ja-JP" dirty="0"/>
                        <a:t>4</a:t>
                      </a:r>
                      <a:r>
                        <a:rPr kumimoji="1" lang="ja-JP" altLang="en-US" dirty="0"/>
                        <a:t>名</a:t>
                      </a:r>
                    </a:p>
                  </a:txBody>
                  <a:tcPr/>
                </a:tc>
                <a:tc>
                  <a:txBody>
                    <a:bodyPr/>
                    <a:lstStyle/>
                    <a:p>
                      <a:r>
                        <a:rPr kumimoji="1" lang="en-US" altLang="ja-JP" dirty="0"/>
                        <a:t>4</a:t>
                      </a:r>
                      <a:r>
                        <a:rPr kumimoji="1" lang="ja-JP" altLang="en-US" dirty="0"/>
                        <a:t>名</a:t>
                      </a:r>
                    </a:p>
                  </a:txBody>
                  <a:tcPr/>
                </a:tc>
                <a:extLst>
                  <a:ext uri="{0D108BD9-81ED-4DB2-BD59-A6C34878D82A}">
                    <a16:rowId xmlns:a16="http://schemas.microsoft.com/office/drawing/2014/main" val="3056976094"/>
                  </a:ext>
                </a:extLst>
              </a:tr>
              <a:tr h="454291">
                <a:tc>
                  <a:txBody>
                    <a:bodyPr/>
                    <a:lstStyle/>
                    <a:p>
                      <a:pPr algn="ctr"/>
                      <a:r>
                        <a:rPr kumimoji="1" lang="ja-JP" altLang="en-US" b="1" dirty="0">
                          <a:solidFill>
                            <a:schemeClr val="bg1"/>
                          </a:solidFill>
                        </a:rPr>
                        <a:t>期間</a:t>
                      </a:r>
                    </a:p>
                  </a:txBody>
                  <a:tcPr>
                    <a:solidFill>
                      <a:schemeClr val="accent1"/>
                    </a:solidFill>
                  </a:tcPr>
                </a:tc>
                <a:tc>
                  <a:txBody>
                    <a:bodyPr/>
                    <a:lstStyle/>
                    <a:p>
                      <a:r>
                        <a:rPr kumimoji="1" lang="ja-JP" altLang="en-US" dirty="0"/>
                        <a:t>単一セッション</a:t>
                      </a:r>
                      <a:r>
                        <a:rPr kumimoji="1" lang="en-US" altLang="ja-JP" dirty="0"/>
                        <a:t>(</a:t>
                      </a:r>
                      <a:r>
                        <a:rPr kumimoji="1" lang="ja-JP" altLang="en-US" dirty="0"/>
                        <a:t>同日 </a:t>
                      </a:r>
                      <a:r>
                        <a:rPr kumimoji="1" lang="en-US" altLang="ja-JP" dirty="0"/>
                        <a:t>45</a:t>
                      </a:r>
                      <a:r>
                        <a:rPr kumimoji="1" lang="ja-JP" altLang="en-US" dirty="0"/>
                        <a:t>分</a:t>
                      </a:r>
                      <a:r>
                        <a:rPr kumimoji="1" lang="en-US" altLang="ja-JP" dirty="0"/>
                        <a:t>)</a:t>
                      </a:r>
                      <a:endParaRPr kumimoji="1" lang="ja-JP" altLang="en-US" dirty="0"/>
                    </a:p>
                  </a:txBody>
                  <a:tcPr/>
                </a:tc>
                <a:tc>
                  <a:txBody>
                    <a:bodyPr/>
                    <a:lstStyle/>
                    <a:p>
                      <a:r>
                        <a:rPr kumimoji="1" lang="ja-JP" altLang="en-US" dirty="0"/>
                        <a:t>複数日にまたがる議論 </a:t>
                      </a:r>
                      <a:r>
                        <a:rPr kumimoji="1" lang="en-US" altLang="ja-JP" dirty="0"/>
                        <a:t>(</a:t>
                      </a:r>
                      <a:r>
                        <a:rPr kumimoji="1" lang="ja-JP" altLang="en-US" dirty="0"/>
                        <a:t>約１週間</a:t>
                      </a:r>
                      <a:r>
                        <a:rPr kumimoji="1" lang="en-US" altLang="ja-JP" dirty="0"/>
                        <a:t>)</a:t>
                      </a:r>
                      <a:endParaRPr kumimoji="1" lang="ja-JP" altLang="en-US" dirty="0"/>
                    </a:p>
                  </a:txBody>
                  <a:tcPr/>
                </a:tc>
                <a:extLst>
                  <a:ext uri="{0D108BD9-81ED-4DB2-BD59-A6C34878D82A}">
                    <a16:rowId xmlns:a16="http://schemas.microsoft.com/office/drawing/2014/main" val="868427340"/>
                  </a:ext>
                </a:extLst>
              </a:tr>
              <a:tr h="454291">
                <a:tc>
                  <a:txBody>
                    <a:bodyPr/>
                    <a:lstStyle/>
                    <a:p>
                      <a:pPr algn="ctr"/>
                      <a:r>
                        <a:rPr kumimoji="1" lang="ja-JP" altLang="en-US" b="1" dirty="0">
                          <a:solidFill>
                            <a:schemeClr val="bg1"/>
                          </a:solidFill>
                        </a:rPr>
                        <a:t>特徴</a:t>
                      </a:r>
                    </a:p>
                  </a:txBody>
                  <a:tcPr>
                    <a:solidFill>
                      <a:schemeClr val="accent1"/>
                    </a:solidFill>
                  </a:tcPr>
                </a:tc>
                <a:tc>
                  <a:txBody>
                    <a:bodyPr/>
                    <a:lstStyle/>
                    <a:p>
                      <a:r>
                        <a:rPr kumimoji="1" lang="ja-JP" altLang="en-US" dirty="0"/>
                        <a:t>短期間での要件変更</a:t>
                      </a:r>
                      <a:endParaRPr kumimoji="1" lang="en-US" altLang="ja-JP" dirty="0"/>
                    </a:p>
                    <a:p>
                      <a:r>
                        <a:rPr kumimoji="1" lang="ja-JP" altLang="en-US" dirty="0"/>
                        <a:t>明確な決定プロセス</a:t>
                      </a:r>
                    </a:p>
                  </a:txBody>
                  <a:tcPr/>
                </a:tc>
                <a:tc>
                  <a:txBody>
                    <a:bodyPr/>
                    <a:lstStyle/>
                    <a:p>
                      <a:r>
                        <a:rPr kumimoji="1" lang="ja-JP" altLang="en-US" dirty="0"/>
                        <a:t>長期間での集中的議論</a:t>
                      </a:r>
                      <a:endParaRPr kumimoji="1" lang="en-US" altLang="ja-JP" dirty="0"/>
                    </a:p>
                    <a:p>
                      <a:r>
                        <a:rPr kumimoji="1" lang="ja-JP" altLang="en-US" dirty="0"/>
                        <a:t>複雑な機能要求</a:t>
                      </a:r>
                    </a:p>
                  </a:txBody>
                  <a:tcPr/>
                </a:tc>
                <a:extLst>
                  <a:ext uri="{0D108BD9-81ED-4DB2-BD59-A6C34878D82A}">
                    <a16:rowId xmlns:a16="http://schemas.microsoft.com/office/drawing/2014/main" val="463567107"/>
                  </a:ext>
                </a:extLst>
              </a:tr>
              <a:tr h="454291">
                <a:tc>
                  <a:txBody>
                    <a:bodyPr/>
                    <a:lstStyle/>
                    <a:p>
                      <a:pPr algn="ctr"/>
                      <a:r>
                        <a:rPr kumimoji="1" lang="ja-JP" altLang="en-US" b="1" dirty="0">
                          <a:solidFill>
                            <a:schemeClr val="bg1"/>
                          </a:solidFill>
                        </a:rPr>
                        <a:t>決定事項数</a:t>
                      </a:r>
                    </a:p>
                  </a:txBody>
                  <a:tcPr>
                    <a:solidFill>
                      <a:schemeClr val="accent1"/>
                    </a:solidFill>
                  </a:tcPr>
                </a:tc>
                <a:tc>
                  <a:txBody>
                    <a:bodyPr/>
                    <a:lstStyle/>
                    <a:p>
                      <a:r>
                        <a:rPr kumimoji="1" lang="en-US" altLang="ja-JP" dirty="0"/>
                        <a:t>9</a:t>
                      </a:r>
                      <a:r>
                        <a:rPr kumimoji="1" lang="ja-JP" altLang="en-US" dirty="0"/>
                        <a:t>項目</a:t>
                      </a:r>
                    </a:p>
                  </a:txBody>
                  <a:tcPr/>
                </a:tc>
                <a:tc>
                  <a:txBody>
                    <a:bodyPr/>
                    <a:lstStyle/>
                    <a:p>
                      <a:r>
                        <a:rPr kumimoji="1" lang="en-US" altLang="ja-JP" dirty="0"/>
                        <a:t>14</a:t>
                      </a:r>
                      <a:r>
                        <a:rPr kumimoji="1" lang="ja-JP" altLang="en-US" dirty="0"/>
                        <a:t>項目</a:t>
                      </a:r>
                    </a:p>
                  </a:txBody>
                  <a:tcPr/>
                </a:tc>
                <a:extLst>
                  <a:ext uri="{0D108BD9-81ED-4DB2-BD59-A6C34878D82A}">
                    <a16:rowId xmlns:a16="http://schemas.microsoft.com/office/drawing/2014/main" val="391041563"/>
                  </a:ext>
                </a:extLst>
              </a:tr>
              <a:tr h="454291">
                <a:tc>
                  <a:txBody>
                    <a:bodyPr/>
                    <a:lstStyle/>
                    <a:p>
                      <a:pPr algn="ctr"/>
                      <a:r>
                        <a:rPr kumimoji="1" lang="ja-JP" altLang="en-US" b="1" dirty="0">
                          <a:solidFill>
                            <a:schemeClr val="bg1"/>
                          </a:solidFill>
                        </a:rPr>
                        <a:t>議論遷移</a:t>
                      </a:r>
                    </a:p>
                  </a:txBody>
                  <a:tcPr>
                    <a:solidFill>
                      <a:schemeClr val="accent1"/>
                    </a:solidFill>
                  </a:tcPr>
                </a:tc>
                <a:tc>
                  <a:txBody>
                    <a:bodyPr/>
                    <a:lstStyle/>
                    <a:p>
                      <a:r>
                        <a:rPr kumimoji="1" lang="ja-JP" altLang="en-US" dirty="0"/>
                        <a:t>通知機能 「除外→再検討→除外</a:t>
                      </a:r>
                      <a:r>
                        <a:rPr kumimoji="1" lang="en-US" altLang="ja-JP" dirty="0"/>
                        <a:t>(</a:t>
                      </a:r>
                      <a:r>
                        <a:rPr kumimoji="1" lang="ja-JP" altLang="en-US" dirty="0"/>
                        <a:t>決定</a:t>
                      </a:r>
                      <a:r>
                        <a:rPr kumimoji="1" lang="en-US" altLang="ja-JP" dirty="0"/>
                        <a:t>)</a:t>
                      </a:r>
                      <a:r>
                        <a:rPr kumimoji="1" lang="ja-JP" altLang="en-US" dirty="0"/>
                        <a:t>」</a:t>
                      </a:r>
                    </a:p>
                  </a:txBody>
                  <a:tcPr/>
                </a:tc>
                <a:tc>
                  <a:txBody>
                    <a:bodyPr/>
                    <a:lstStyle/>
                    <a:p>
                      <a:r>
                        <a:rPr kumimoji="1" lang="ja-JP" altLang="en-US" dirty="0"/>
                        <a:t>英語表示 「追加→見送り」</a:t>
                      </a:r>
                      <a:endParaRPr kumimoji="1" lang="en-US" altLang="ja-JP" dirty="0"/>
                    </a:p>
                    <a:p>
                      <a:r>
                        <a:rPr kumimoji="1" lang="ja-JP" altLang="en-US" dirty="0"/>
                        <a:t>緊急案内の仕様変更</a:t>
                      </a:r>
                    </a:p>
                  </a:txBody>
                  <a:tcPr/>
                </a:tc>
                <a:extLst>
                  <a:ext uri="{0D108BD9-81ED-4DB2-BD59-A6C34878D82A}">
                    <a16:rowId xmlns:a16="http://schemas.microsoft.com/office/drawing/2014/main" val="3610448571"/>
                  </a:ext>
                </a:extLst>
              </a:tr>
            </a:tbl>
          </a:graphicData>
        </a:graphic>
      </p:graphicFrame>
    </p:spTree>
    <p:extLst>
      <p:ext uri="{BB962C8B-B14F-4D97-AF65-F5344CB8AC3E}">
        <p14:creationId xmlns:p14="http://schemas.microsoft.com/office/powerpoint/2010/main" val="3375911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77C3D4-45DA-89F6-1F3A-2161A12EFC28}"/>
              </a:ext>
            </a:extLst>
          </p:cNvPr>
          <p:cNvSpPr>
            <a:spLocks noGrp="1"/>
          </p:cNvSpPr>
          <p:nvPr>
            <p:ph type="title"/>
          </p:nvPr>
        </p:nvSpPr>
        <p:spPr/>
        <p:txBody>
          <a:bodyPr/>
          <a:lstStyle/>
          <a:p>
            <a:r>
              <a:rPr kumimoji="1" lang="ja-JP" altLang="en-US" dirty="0"/>
              <a:t>実験②</a:t>
            </a:r>
            <a:r>
              <a:rPr kumimoji="1" lang="en-US" altLang="ja-JP" dirty="0"/>
              <a:t>: </a:t>
            </a:r>
            <a:r>
              <a:rPr kumimoji="1" lang="ja-JP" altLang="en-US" dirty="0"/>
              <a:t>最適凍結ファイル調査</a:t>
            </a:r>
          </a:p>
        </p:txBody>
      </p:sp>
      <p:sp>
        <p:nvSpPr>
          <p:cNvPr id="3" name="コンテンツ プレースホルダー 2">
            <a:extLst>
              <a:ext uri="{FF2B5EF4-FFF2-40B4-BE49-F238E27FC236}">
                <a16:creationId xmlns:a16="http://schemas.microsoft.com/office/drawing/2014/main" id="{9C9E749A-7387-3389-9135-5855FE57A429}"/>
              </a:ext>
            </a:extLst>
          </p:cNvPr>
          <p:cNvSpPr>
            <a:spLocks noGrp="1"/>
          </p:cNvSpPr>
          <p:nvPr>
            <p:ph idx="1"/>
          </p:nvPr>
        </p:nvSpPr>
        <p:spPr/>
        <p:txBody>
          <a:bodyPr/>
          <a:lstStyle/>
          <a:p>
            <a:pPr marL="0" indent="0">
              <a:buNone/>
            </a:pPr>
            <a:r>
              <a:rPr kumimoji="1" lang="en-US" altLang="ja-JP" dirty="0"/>
              <a:t>DS1, DS2</a:t>
            </a:r>
            <a:r>
              <a:rPr kumimoji="1" lang="ja-JP" altLang="en-US" dirty="0"/>
              <a:t>それぞれで</a:t>
            </a:r>
            <a:r>
              <a:rPr kumimoji="1" lang="en-US" altLang="ja-JP" dirty="0"/>
              <a:t>temperature</a:t>
            </a:r>
            <a:r>
              <a:rPr lang="ja-JP" altLang="en-US" dirty="0"/>
              <a:t>を</a:t>
            </a:r>
            <a:r>
              <a:rPr lang="en-US" altLang="ja-JP" dirty="0"/>
              <a:t>0.0~1.0(0.1</a:t>
            </a:r>
            <a:r>
              <a:rPr lang="ja-JP" altLang="en-US" dirty="0"/>
              <a:t>刻み</a:t>
            </a:r>
            <a:r>
              <a:rPr lang="en-US" altLang="ja-JP" dirty="0"/>
              <a:t>)</a:t>
            </a:r>
            <a:r>
              <a:rPr lang="ja-JP" altLang="en-US" dirty="0"/>
              <a:t>で凍結ファイルを作成し、対象</a:t>
            </a:r>
            <a:r>
              <a:rPr lang="en-US" altLang="ja-JP" dirty="0"/>
              <a:t>DS</a:t>
            </a:r>
            <a:r>
              <a:rPr lang="ja-JP" altLang="en-US" dirty="0"/>
              <a:t>に合わせた調整を行い、</a:t>
            </a:r>
            <a:r>
              <a:rPr lang="en-US" altLang="ja-JP" dirty="0"/>
              <a:t>temperature</a:t>
            </a:r>
            <a:r>
              <a:rPr lang="ja-JP" altLang="en-US" dirty="0"/>
              <a:t>の最適値を調査する。</a:t>
            </a:r>
            <a:endParaRPr lang="en-US" altLang="ja-JP" dirty="0"/>
          </a:p>
          <a:p>
            <a:pPr marL="0" indent="0">
              <a:buNone/>
            </a:pPr>
            <a:endParaRPr lang="ja-JP" altLang="en-US" dirty="0"/>
          </a:p>
        </p:txBody>
      </p:sp>
      <p:sp>
        <p:nvSpPr>
          <p:cNvPr id="4" name="スライド番号プレースホルダー 3">
            <a:extLst>
              <a:ext uri="{FF2B5EF4-FFF2-40B4-BE49-F238E27FC236}">
                <a16:creationId xmlns:a16="http://schemas.microsoft.com/office/drawing/2014/main" id="{59A467EC-8C17-A579-2561-5F7030FF4F9F}"/>
              </a:ext>
            </a:extLst>
          </p:cNvPr>
          <p:cNvSpPr>
            <a:spLocks noGrp="1"/>
          </p:cNvSpPr>
          <p:nvPr>
            <p:ph type="sldNum" sz="quarter" idx="12"/>
          </p:nvPr>
        </p:nvSpPr>
        <p:spPr/>
        <p:txBody>
          <a:bodyPr/>
          <a:lstStyle/>
          <a:p>
            <a:fld id="{F32C8F3A-98E9-46B1-BAC9-77D093337233}" type="slidenum">
              <a:rPr kumimoji="1" lang="ja-JP" altLang="en-US" smtClean="0"/>
              <a:t>9</a:t>
            </a:fld>
            <a:endParaRPr kumimoji="1" lang="ja-JP" altLang="en-US"/>
          </a:p>
        </p:txBody>
      </p:sp>
      <p:graphicFrame>
        <p:nvGraphicFramePr>
          <p:cNvPr id="5" name="表 4">
            <a:extLst>
              <a:ext uri="{FF2B5EF4-FFF2-40B4-BE49-F238E27FC236}">
                <a16:creationId xmlns:a16="http://schemas.microsoft.com/office/drawing/2014/main" id="{4E5FB368-6E04-1921-58C7-04842B687705}"/>
              </a:ext>
            </a:extLst>
          </p:cNvPr>
          <p:cNvGraphicFramePr>
            <a:graphicFrameLocks noGrp="1"/>
          </p:cNvGraphicFramePr>
          <p:nvPr>
            <p:extLst>
              <p:ext uri="{D42A27DB-BD31-4B8C-83A1-F6EECF244321}">
                <p14:modId xmlns:p14="http://schemas.microsoft.com/office/powerpoint/2010/main" val="2532594322"/>
              </p:ext>
            </p:extLst>
          </p:nvPr>
        </p:nvGraphicFramePr>
        <p:xfrm>
          <a:off x="1418390" y="3429000"/>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156025350"/>
                    </a:ext>
                  </a:extLst>
                </a:gridCol>
                <a:gridCol w="2032000">
                  <a:extLst>
                    <a:ext uri="{9D8B030D-6E8A-4147-A177-3AD203B41FA5}">
                      <a16:colId xmlns:a16="http://schemas.microsoft.com/office/drawing/2014/main" val="2219874838"/>
                    </a:ext>
                  </a:extLst>
                </a:gridCol>
                <a:gridCol w="2032000">
                  <a:extLst>
                    <a:ext uri="{9D8B030D-6E8A-4147-A177-3AD203B41FA5}">
                      <a16:colId xmlns:a16="http://schemas.microsoft.com/office/drawing/2014/main" val="1886310205"/>
                    </a:ext>
                  </a:extLst>
                </a:gridCol>
                <a:gridCol w="2032000">
                  <a:extLst>
                    <a:ext uri="{9D8B030D-6E8A-4147-A177-3AD203B41FA5}">
                      <a16:colId xmlns:a16="http://schemas.microsoft.com/office/drawing/2014/main" val="4225313984"/>
                    </a:ext>
                  </a:extLst>
                </a:gridCol>
              </a:tblGrid>
              <a:tr h="370840">
                <a:tc>
                  <a:txBody>
                    <a:bodyPr/>
                    <a:lstStyle/>
                    <a:p>
                      <a:r>
                        <a:rPr kumimoji="1" lang="ja-JP" altLang="en-US" dirty="0"/>
                        <a:t>調整対象</a:t>
                      </a:r>
                    </a:p>
                  </a:txBody>
                  <a:tcPr/>
                </a:tc>
                <a:tc>
                  <a:txBody>
                    <a:bodyPr/>
                    <a:lstStyle/>
                    <a:p>
                      <a:r>
                        <a:rPr kumimoji="1" lang="ja-JP" altLang="en-US" dirty="0"/>
                        <a:t>評価対象</a:t>
                      </a:r>
                    </a:p>
                  </a:txBody>
                  <a:tcPr/>
                </a:tc>
                <a:tc>
                  <a:txBody>
                    <a:bodyPr/>
                    <a:lstStyle/>
                    <a:p>
                      <a:r>
                        <a:rPr kumimoji="1" lang="ja-JP" altLang="en-US" dirty="0"/>
                        <a:t>凍結ファイル</a:t>
                      </a:r>
                    </a:p>
                  </a:txBody>
                  <a:tcPr/>
                </a:tc>
                <a:tc>
                  <a:txBody>
                    <a:bodyPr/>
                    <a:lstStyle/>
                    <a:p>
                      <a:r>
                        <a:rPr kumimoji="1" lang="ja-JP" altLang="en-US" dirty="0"/>
                        <a:t>目的</a:t>
                      </a:r>
                    </a:p>
                  </a:txBody>
                  <a:tcPr/>
                </a:tc>
                <a:extLst>
                  <a:ext uri="{0D108BD9-81ED-4DB2-BD59-A6C34878D82A}">
                    <a16:rowId xmlns:a16="http://schemas.microsoft.com/office/drawing/2014/main" val="489651679"/>
                  </a:ext>
                </a:extLst>
              </a:tr>
              <a:tr h="370840">
                <a:tc>
                  <a:txBody>
                    <a:bodyPr/>
                    <a:lstStyle/>
                    <a:p>
                      <a:r>
                        <a:rPr kumimoji="1" lang="en-US" altLang="ja-JP" dirty="0"/>
                        <a:t>DS1</a:t>
                      </a:r>
                      <a:endParaRPr kumimoji="1" lang="ja-JP" altLang="en-US" dirty="0"/>
                    </a:p>
                  </a:txBody>
                  <a:tcPr/>
                </a:tc>
                <a:tc>
                  <a:txBody>
                    <a:bodyPr/>
                    <a:lstStyle/>
                    <a:p>
                      <a:r>
                        <a:rPr kumimoji="1" lang="en-US" altLang="ja-JP" dirty="0"/>
                        <a:t>DS1</a:t>
                      </a:r>
                      <a:endParaRPr kumimoji="1" lang="ja-JP" altLang="en-US" dirty="0"/>
                    </a:p>
                  </a:txBody>
                  <a:tcPr/>
                </a:tc>
                <a:tc>
                  <a:txBody>
                    <a:bodyPr/>
                    <a:lstStyle/>
                    <a:p>
                      <a:r>
                        <a:rPr kumimoji="1" lang="en-US" altLang="ja-JP" dirty="0"/>
                        <a:t>lock_ds1</a:t>
                      </a:r>
                      <a:endParaRPr kumimoji="1" lang="ja-JP" altLang="en-US" dirty="0"/>
                    </a:p>
                  </a:txBody>
                  <a:tcPr/>
                </a:tc>
                <a:tc>
                  <a:txBody>
                    <a:bodyPr/>
                    <a:lstStyle/>
                    <a:p>
                      <a:r>
                        <a:rPr kumimoji="1" lang="ja-JP" altLang="en-US" dirty="0"/>
                        <a:t>性能検証</a:t>
                      </a:r>
                      <a:endParaRPr kumimoji="1" lang="en-US" altLang="ja-JP" dirty="0"/>
                    </a:p>
                  </a:txBody>
                  <a:tcPr/>
                </a:tc>
                <a:extLst>
                  <a:ext uri="{0D108BD9-81ED-4DB2-BD59-A6C34878D82A}">
                    <a16:rowId xmlns:a16="http://schemas.microsoft.com/office/drawing/2014/main" val="1275291244"/>
                  </a:ext>
                </a:extLst>
              </a:tr>
              <a:tr h="370840">
                <a:tc>
                  <a:txBody>
                    <a:bodyPr/>
                    <a:lstStyle/>
                    <a:p>
                      <a:r>
                        <a:rPr kumimoji="1" lang="en-US" altLang="ja-JP" dirty="0"/>
                        <a:t>DS1</a:t>
                      </a:r>
                      <a:endParaRPr kumimoji="1" lang="ja-JP" altLang="en-US" dirty="0"/>
                    </a:p>
                  </a:txBody>
                  <a:tcPr/>
                </a:tc>
                <a:tc>
                  <a:txBody>
                    <a:bodyPr/>
                    <a:lstStyle/>
                    <a:p>
                      <a:r>
                        <a:rPr kumimoji="1" lang="en-US" altLang="ja-JP" dirty="0"/>
                        <a:t>DS2</a:t>
                      </a:r>
                      <a:endParaRPr kumimoji="1" lang="ja-JP" altLang="en-US" dirty="0"/>
                    </a:p>
                  </a:txBody>
                  <a:tcPr/>
                </a:tc>
                <a:tc>
                  <a:txBody>
                    <a:bodyPr/>
                    <a:lstStyle/>
                    <a:p>
                      <a:r>
                        <a:rPr kumimoji="1" lang="en-US" altLang="ja-JP" dirty="0"/>
                        <a:t>lock_ds1</a:t>
                      </a:r>
                      <a:endParaRPr kumimoji="1" lang="ja-JP" altLang="en-US" dirty="0"/>
                    </a:p>
                  </a:txBody>
                  <a:tcPr/>
                </a:tc>
                <a:tc>
                  <a:txBody>
                    <a:bodyPr/>
                    <a:lstStyle/>
                    <a:p>
                      <a:r>
                        <a:rPr kumimoji="1" lang="ja-JP" altLang="en-US" dirty="0"/>
                        <a:t>汎化検証</a:t>
                      </a:r>
                    </a:p>
                  </a:txBody>
                  <a:tcPr/>
                </a:tc>
                <a:extLst>
                  <a:ext uri="{0D108BD9-81ED-4DB2-BD59-A6C34878D82A}">
                    <a16:rowId xmlns:a16="http://schemas.microsoft.com/office/drawing/2014/main" val="2228341161"/>
                  </a:ext>
                </a:extLst>
              </a:tr>
              <a:tr h="370840">
                <a:tc>
                  <a:txBody>
                    <a:bodyPr/>
                    <a:lstStyle/>
                    <a:p>
                      <a:r>
                        <a:rPr kumimoji="1" lang="en-US" altLang="ja-JP" dirty="0"/>
                        <a:t>DS2</a:t>
                      </a:r>
                      <a:endParaRPr kumimoji="1" lang="ja-JP" altLang="en-US" dirty="0"/>
                    </a:p>
                  </a:txBody>
                  <a:tcPr/>
                </a:tc>
                <a:tc>
                  <a:txBody>
                    <a:bodyPr/>
                    <a:lstStyle/>
                    <a:p>
                      <a:r>
                        <a:rPr kumimoji="1" lang="en-US" altLang="ja-JP" dirty="0"/>
                        <a:t>DS2</a:t>
                      </a:r>
                      <a:endParaRPr kumimoji="1" lang="ja-JP" altLang="en-US" dirty="0"/>
                    </a:p>
                  </a:txBody>
                  <a:tcPr/>
                </a:tc>
                <a:tc>
                  <a:txBody>
                    <a:bodyPr/>
                    <a:lstStyle/>
                    <a:p>
                      <a:r>
                        <a:rPr kumimoji="1" lang="en-US" altLang="ja-JP" dirty="0"/>
                        <a:t>lock_ds2</a:t>
                      </a:r>
                      <a:endParaRPr kumimoji="1" lang="ja-JP" altLang="en-US" dirty="0"/>
                    </a:p>
                  </a:txBody>
                  <a:tcPr/>
                </a:tc>
                <a:tc>
                  <a:txBody>
                    <a:bodyPr/>
                    <a:lstStyle/>
                    <a:p>
                      <a:r>
                        <a:rPr kumimoji="1" lang="ja-JP" altLang="en-US" dirty="0"/>
                        <a:t>性能検証</a:t>
                      </a:r>
                    </a:p>
                  </a:txBody>
                  <a:tcPr/>
                </a:tc>
                <a:extLst>
                  <a:ext uri="{0D108BD9-81ED-4DB2-BD59-A6C34878D82A}">
                    <a16:rowId xmlns:a16="http://schemas.microsoft.com/office/drawing/2014/main" val="3536839744"/>
                  </a:ext>
                </a:extLst>
              </a:tr>
              <a:tr h="370840">
                <a:tc>
                  <a:txBody>
                    <a:bodyPr/>
                    <a:lstStyle/>
                    <a:p>
                      <a:r>
                        <a:rPr kumimoji="1" lang="en-US" altLang="ja-JP" dirty="0"/>
                        <a:t>DS2</a:t>
                      </a:r>
                      <a:endParaRPr kumimoji="1" lang="ja-JP" altLang="en-US" dirty="0"/>
                    </a:p>
                  </a:txBody>
                  <a:tcPr/>
                </a:tc>
                <a:tc>
                  <a:txBody>
                    <a:bodyPr/>
                    <a:lstStyle/>
                    <a:p>
                      <a:r>
                        <a:rPr kumimoji="1" lang="en-US" altLang="ja-JP" dirty="0"/>
                        <a:t>DS1</a:t>
                      </a:r>
                      <a:endParaRPr kumimoji="1" lang="ja-JP" altLang="en-US" dirty="0"/>
                    </a:p>
                  </a:txBody>
                  <a:tcPr/>
                </a:tc>
                <a:tc>
                  <a:txBody>
                    <a:bodyPr/>
                    <a:lstStyle/>
                    <a:p>
                      <a:r>
                        <a:rPr kumimoji="1" lang="en-US" altLang="ja-JP" dirty="0"/>
                        <a:t>lock_ds2</a:t>
                      </a:r>
                      <a:endParaRPr kumimoji="1" lang="ja-JP" altLang="en-US" dirty="0"/>
                    </a:p>
                  </a:txBody>
                  <a:tcPr/>
                </a:tc>
                <a:tc>
                  <a:txBody>
                    <a:bodyPr/>
                    <a:lstStyle/>
                    <a:p>
                      <a:r>
                        <a:rPr kumimoji="1" lang="ja-JP" altLang="en-US" dirty="0"/>
                        <a:t>汎化検証</a:t>
                      </a:r>
                    </a:p>
                  </a:txBody>
                  <a:tcPr/>
                </a:tc>
                <a:extLst>
                  <a:ext uri="{0D108BD9-81ED-4DB2-BD59-A6C34878D82A}">
                    <a16:rowId xmlns:a16="http://schemas.microsoft.com/office/drawing/2014/main" val="418468894"/>
                  </a:ext>
                </a:extLst>
              </a:tr>
            </a:tbl>
          </a:graphicData>
        </a:graphic>
      </p:graphicFrame>
    </p:spTree>
    <p:extLst>
      <p:ext uri="{BB962C8B-B14F-4D97-AF65-F5344CB8AC3E}">
        <p14:creationId xmlns:p14="http://schemas.microsoft.com/office/powerpoint/2010/main" val="1713677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D6D05-F51A-FE77-C40F-5C7EB55BA5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F62EFB-3DBA-AA1A-7DC9-8D03336C3DAB}"/>
              </a:ext>
            </a:extLst>
          </p:cNvPr>
          <p:cNvSpPr>
            <a:spLocks noGrp="1"/>
          </p:cNvSpPr>
          <p:nvPr>
            <p:ph type="title"/>
          </p:nvPr>
        </p:nvSpPr>
        <p:spPr/>
        <p:txBody>
          <a:bodyPr/>
          <a:lstStyle/>
          <a:p>
            <a:r>
              <a:rPr kumimoji="1" lang="ja-JP" altLang="en-US" dirty="0"/>
              <a:t>実験②</a:t>
            </a:r>
            <a:r>
              <a:rPr lang="en-US" altLang="ja-JP" dirty="0"/>
              <a:t>: </a:t>
            </a:r>
            <a:r>
              <a:rPr lang="ja-JP" altLang="en-US" dirty="0"/>
              <a:t>性能検証 結果</a:t>
            </a:r>
            <a:endParaRPr kumimoji="1" lang="ja-JP" altLang="en-US" dirty="0"/>
          </a:p>
        </p:txBody>
      </p:sp>
      <p:sp>
        <p:nvSpPr>
          <p:cNvPr id="4" name="スライド番号プレースホルダー 3">
            <a:extLst>
              <a:ext uri="{FF2B5EF4-FFF2-40B4-BE49-F238E27FC236}">
                <a16:creationId xmlns:a16="http://schemas.microsoft.com/office/drawing/2014/main" id="{934DFF9C-9E16-0874-E371-A67C3105C43A}"/>
              </a:ext>
            </a:extLst>
          </p:cNvPr>
          <p:cNvSpPr>
            <a:spLocks noGrp="1"/>
          </p:cNvSpPr>
          <p:nvPr>
            <p:ph type="sldNum" sz="quarter" idx="12"/>
          </p:nvPr>
        </p:nvSpPr>
        <p:spPr/>
        <p:txBody>
          <a:bodyPr/>
          <a:lstStyle/>
          <a:p>
            <a:fld id="{F32C8F3A-98E9-46B1-BAC9-77D093337233}" type="slidenum">
              <a:rPr kumimoji="1" lang="ja-JP" altLang="en-US" smtClean="0"/>
              <a:t>10</a:t>
            </a:fld>
            <a:endParaRPr kumimoji="1" lang="ja-JP" altLang="en-US"/>
          </a:p>
        </p:txBody>
      </p:sp>
      <p:graphicFrame>
        <p:nvGraphicFramePr>
          <p:cNvPr id="12" name="グラフ 11">
            <a:extLst>
              <a:ext uri="{FF2B5EF4-FFF2-40B4-BE49-F238E27FC236}">
                <a16:creationId xmlns:a16="http://schemas.microsoft.com/office/drawing/2014/main" id="{3A567038-DA06-C019-3780-DB89ADBD9072}"/>
              </a:ext>
            </a:extLst>
          </p:cNvPr>
          <p:cNvGraphicFramePr/>
          <p:nvPr>
            <p:extLst>
              <p:ext uri="{D42A27DB-BD31-4B8C-83A1-F6EECF244321}">
                <p14:modId xmlns:p14="http://schemas.microsoft.com/office/powerpoint/2010/main" val="105760390"/>
              </p:ext>
            </p:extLst>
          </p:nvPr>
        </p:nvGraphicFramePr>
        <p:xfrm>
          <a:off x="593493" y="1690688"/>
          <a:ext cx="5389618" cy="46656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グラフ 12">
            <a:extLst>
              <a:ext uri="{FF2B5EF4-FFF2-40B4-BE49-F238E27FC236}">
                <a16:creationId xmlns:a16="http://schemas.microsoft.com/office/drawing/2014/main" id="{5AE20213-E9F7-C634-8D5F-CCC8696BBD58}"/>
              </a:ext>
            </a:extLst>
          </p:cNvPr>
          <p:cNvGraphicFramePr/>
          <p:nvPr>
            <p:extLst>
              <p:ext uri="{D42A27DB-BD31-4B8C-83A1-F6EECF244321}">
                <p14:modId xmlns:p14="http://schemas.microsoft.com/office/powerpoint/2010/main" val="1183562224"/>
              </p:ext>
            </p:extLst>
          </p:nvPr>
        </p:nvGraphicFramePr>
        <p:xfrm>
          <a:off x="6227818" y="1690688"/>
          <a:ext cx="5389618" cy="466566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76824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98D89E-2D5A-7D05-0240-AA3467C97D3F}"/>
              </a:ext>
            </a:extLst>
          </p:cNvPr>
          <p:cNvSpPr>
            <a:spLocks noGrp="1"/>
          </p:cNvSpPr>
          <p:nvPr>
            <p:ph type="title"/>
          </p:nvPr>
        </p:nvSpPr>
        <p:spPr/>
        <p:txBody>
          <a:bodyPr/>
          <a:lstStyle/>
          <a:p>
            <a:r>
              <a:rPr kumimoji="1" lang="ja-JP" altLang="en-US" dirty="0"/>
              <a:t>実験②</a:t>
            </a:r>
            <a:r>
              <a:rPr kumimoji="1" lang="en-US" altLang="ja-JP" dirty="0"/>
              <a:t>: </a:t>
            </a:r>
            <a:r>
              <a:rPr lang="ja-JP" altLang="en-US" dirty="0"/>
              <a:t>汎化検証 結果</a:t>
            </a:r>
            <a:endParaRPr kumimoji="1" lang="ja-JP" altLang="en-US" dirty="0"/>
          </a:p>
        </p:txBody>
      </p:sp>
      <p:sp>
        <p:nvSpPr>
          <p:cNvPr id="4" name="スライド番号プレースホルダー 3">
            <a:extLst>
              <a:ext uri="{FF2B5EF4-FFF2-40B4-BE49-F238E27FC236}">
                <a16:creationId xmlns:a16="http://schemas.microsoft.com/office/drawing/2014/main" id="{F8252E95-4A09-CDA7-C765-69FD6465C91B}"/>
              </a:ext>
            </a:extLst>
          </p:cNvPr>
          <p:cNvSpPr>
            <a:spLocks noGrp="1"/>
          </p:cNvSpPr>
          <p:nvPr>
            <p:ph type="sldNum" sz="quarter" idx="12"/>
          </p:nvPr>
        </p:nvSpPr>
        <p:spPr/>
        <p:txBody>
          <a:bodyPr/>
          <a:lstStyle/>
          <a:p>
            <a:fld id="{F32C8F3A-98E9-46B1-BAC9-77D093337233}" type="slidenum">
              <a:rPr kumimoji="1" lang="ja-JP" altLang="en-US" smtClean="0"/>
              <a:t>11</a:t>
            </a:fld>
            <a:endParaRPr kumimoji="1" lang="ja-JP" altLang="en-US"/>
          </a:p>
        </p:txBody>
      </p:sp>
      <p:graphicFrame>
        <p:nvGraphicFramePr>
          <p:cNvPr id="5" name="表 4">
            <a:extLst>
              <a:ext uri="{FF2B5EF4-FFF2-40B4-BE49-F238E27FC236}">
                <a16:creationId xmlns:a16="http://schemas.microsoft.com/office/drawing/2014/main" id="{1244FE45-DD6E-EA90-63E7-420BEED10B0C}"/>
              </a:ext>
            </a:extLst>
          </p:cNvPr>
          <p:cNvGraphicFramePr>
            <a:graphicFrameLocks noGrp="1"/>
          </p:cNvGraphicFramePr>
          <p:nvPr>
            <p:extLst>
              <p:ext uri="{D42A27DB-BD31-4B8C-83A1-F6EECF244321}">
                <p14:modId xmlns:p14="http://schemas.microsoft.com/office/powerpoint/2010/main" val="2815987636"/>
              </p:ext>
            </p:extLst>
          </p:nvPr>
        </p:nvGraphicFramePr>
        <p:xfrm>
          <a:off x="1165723" y="2077064"/>
          <a:ext cx="8128001"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820177428"/>
                    </a:ext>
                  </a:extLst>
                </a:gridCol>
                <a:gridCol w="1161143">
                  <a:extLst>
                    <a:ext uri="{9D8B030D-6E8A-4147-A177-3AD203B41FA5}">
                      <a16:colId xmlns:a16="http://schemas.microsoft.com/office/drawing/2014/main" val="379214798"/>
                    </a:ext>
                  </a:extLst>
                </a:gridCol>
                <a:gridCol w="1161143">
                  <a:extLst>
                    <a:ext uri="{9D8B030D-6E8A-4147-A177-3AD203B41FA5}">
                      <a16:colId xmlns:a16="http://schemas.microsoft.com/office/drawing/2014/main" val="646519767"/>
                    </a:ext>
                  </a:extLst>
                </a:gridCol>
                <a:gridCol w="1161143">
                  <a:extLst>
                    <a:ext uri="{9D8B030D-6E8A-4147-A177-3AD203B41FA5}">
                      <a16:colId xmlns:a16="http://schemas.microsoft.com/office/drawing/2014/main" val="3964003927"/>
                    </a:ext>
                  </a:extLst>
                </a:gridCol>
                <a:gridCol w="1161143">
                  <a:extLst>
                    <a:ext uri="{9D8B030D-6E8A-4147-A177-3AD203B41FA5}">
                      <a16:colId xmlns:a16="http://schemas.microsoft.com/office/drawing/2014/main" val="1798176600"/>
                    </a:ext>
                  </a:extLst>
                </a:gridCol>
                <a:gridCol w="1161143">
                  <a:extLst>
                    <a:ext uri="{9D8B030D-6E8A-4147-A177-3AD203B41FA5}">
                      <a16:colId xmlns:a16="http://schemas.microsoft.com/office/drawing/2014/main" val="2602626616"/>
                    </a:ext>
                  </a:extLst>
                </a:gridCol>
                <a:gridCol w="1161143">
                  <a:extLst>
                    <a:ext uri="{9D8B030D-6E8A-4147-A177-3AD203B41FA5}">
                      <a16:colId xmlns:a16="http://schemas.microsoft.com/office/drawing/2014/main" val="3419468142"/>
                    </a:ext>
                  </a:extLst>
                </a:gridCol>
              </a:tblGrid>
              <a:tr h="370840">
                <a:tc>
                  <a:txBody>
                    <a:bodyPr/>
                    <a:lstStyle/>
                    <a:p>
                      <a:pPr algn="ctr"/>
                      <a:r>
                        <a:rPr kumimoji="1" lang="en-US" altLang="ja-JP" b="1" dirty="0">
                          <a:solidFill>
                            <a:schemeClr val="bg1"/>
                          </a:solidFill>
                        </a:rPr>
                        <a:t>DS</a:t>
                      </a:r>
                      <a:endParaRPr kumimoji="1" lang="ja-JP" altLang="en-US" b="1" dirty="0">
                        <a:solidFill>
                          <a:schemeClr val="bg1"/>
                        </a:solidFill>
                      </a:endParaRPr>
                    </a:p>
                  </a:txBody>
                  <a:tcPr/>
                </a:tc>
                <a:tc>
                  <a:txBody>
                    <a:bodyPr/>
                    <a:lstStyle/>
                    <a:p>
                      <a:pPr algn="ctr"/>
                      <a:r>
                        <a:rPr kumimoji="1" lang="ja-JP" altLang="en-US" dirty="0"/>
                        <a:t>最小数</a:t>
                      </a:r>
                    </a:p>
                  </a:txBody>
                  <a:tcPr/>
                </a:tc>
                <a:tc>
                  <a:txBody>
                    <a:bodyPr/>
                    <a:lstStyle/>
                    <a:p>
                      <a:pPr algn="ctr"/>
                      <a:r>
                        <a:rPr kumimoji="1" lang="ja-JP" altLang="en-US" dirty="0"/>
                        <a:t>最大数</a:t>
                      </a:r>
                    </a:p>
                  </a:txBody>
                  <a:tcPr/>
                </a:tc>
                <a:tc>
                  <a:txBody>
                    <a:bodyPr/>
                    <a:lstStyle/>
                    <a:p>
                      <a:pPr algn="ctr"/>
                      <a:r>
                        <a:rPr kumimoji="1" lang="ja-JP" altLang="en-US" dirty="0"/>
                        <a:t>平均数</a:t>
                      </a:r>
                    </a:p>
                  </a:txBody>
                  <a:tcPr/>
                </a:tc>
                <a:tc>
                  <a:txBody>
                    <a:bodyPr/>
                    <a:lstStyle/>
                    <a:p>
                      <a:pPr algn="ctr"/>
                      <a:r>
                        <a:rPr kumimoji="1" lang="ja-JP" altLang="en-US" dirty="0"/>
                        <a:t>最小時間</a:t>
                      </a:r>
                    </a:p>
                  </a:txBody>
                  <a:tcPr/>
                </a:tc>
                <a:tc>
                  <a:txBody>
                    <a:bodyPr/>
                    <a:lstStyle/>
                    <a:p>
                      <a:pPr algn="ctr"/>
                      <a:r>
                        <a:rPr kumimoji="1" lang="ja-JP" altLang="en-US" dirty="0"/>
                        <a:t>最大時間</a:t>
                      </a:r>
                    </a:p>
                  </a:txBody>
                  <a:tcPr/>
                </a:tc>
                <a:tc>
                  <a:txBody>
                    <a:bodyPr/>
                    <a:lstStyle/>
                    <a:p>
                      <a:pPr algn="ctr"/>
                      <a:r>
                        <a:rPr kumimoji="1" lang="ja-JP" altLang="en-US" dirty="0"/>
                        <a:t>平均時間</a:t>
                      </a:r>
                    </a:p>
                  </a:txBody>
                  <a:tcPr/>
                </a:tc>
                <a:extLst>
                  <a:ext uri="{0D108BD9-81ED-4DB2-BD59-A6C34878D82A}">
                    <a16:rowId xmlns:a16="http://schemas.microsoft.com/office/drawing/2014/main" val="3716155245"/>
                  </a:ext>
                </a:extLst>
              </a:tr>
              <a:tr h="370840">
                <a:tc>
                  <a:txBody>
                    <a:bodyPr/>
                    <a:lstStyle/>
                    <a:p>
                      <a:pPr algn="ctr"/>
                      <a:r>
                        <a:rPr kumimoji="1" lang="en-US" altLang="ja-JP" b="1" dirty="0">
                          <a:solidFill>
                            <a:schemeClr val="bg1"/>
                          </a:solidFill>
                        </a:rPr>
                        <a:t>DS1</a:t>
                      </a:r>
                      <a:endParaRPr kumimoji="1" lang="ja-JP" altLang="en-US" b="1" dirty="0">
                        <a:solidFill>
                          <a:schemeClr val="bg1"/>
                        </a:solidFill>
                      </a:endParaRPr>
                    </a:p>
                  </a:txBody>
                  <a:tcPr>
                    <a:solidFill>
                      <a:schemeClr val="accent1"/>
                    </a:solidFill>
                  </a:tcPr>
                </a:tc>
                <a:tc>
                  <a:txBody>
                    <a:bodyPr/>
                    <a:lstStyle/>
                    <a:p>
                      <a:pPr algn="ctr"/>
                      <a:r>
                        <a:rPr kumimoji="1" lang="en-US" altLang="ja-JP" dirty="0"/>
                        <a:t>8</a:t>
                      </a:r>
                      <a:endParaRPr kumimoji="1" lang="ja-JP" altLang="en-US" dirty="0"/>
                    </a:p>
                  </a:txBody>
                  <a:tcPr/>
                </a:tc>
                <a:tc>
                  <a:txBody>
                    <a:bodyPr/>
                    <a:lstStyle/>
                    <a:p>
                      <a:pPr algn="ctr"/>
                      <a:r>
                        <a:rPr kumimoji="1" lang="en-US" altLang="ja-JP" dirty="0"/>
                        <a:t>9</a:t>
                      </a:r>
                      <a:endParaRPr kumimoji="1" lang="ja-JP" altLang="en-US" dirty="0"/>
                    </a:p>
                  </a:txBody>
                  <a:tcPr/>
                </a:tc>
                <a:tc>
                  <a:txBody>
                    <a:bodyPr/>
                    <a:lstStyle/>
                    <a:p>
                      <a:pPr algn="ctr"/>
                      <a:r>
                        <a:rPr kumimoji="1" lang="en-US" altLang="ja-JP" dirty="0"/>
                        <a:t>8.2</a:t>
                      </a:r>
                      <a:endParaRPr kumimoji="1" lang="ja-JP" altLang="en-US" dirty="0"/>
                    </a:p>
                  </a:txBody>
                  <a:tcPr/>
                </a:tc>
                <a:tc>
                  <a:txBody>
                    <a:bodyPr/>
                    <a:lstStyle/>
                    <a:p>
                      <a:pPr algn="ctr"/>
                      <a:r>
                        <a:rPr kumimoji="1" lang="en-US" altLang="ja-JP" dirty="0"/>
                        <a:t>1m30s</a:t>
                      </a:r>
                      <a:endParaRPr kumimoji="1" lang="ja-JP" altLang="en-US" dirty="0"/>
                    </a:p>
                  </a:txBody>
                  <a:tcPr/>
                </a:tc>
                <a:tc>
                  <a:txBody>
                    <a:bodyPr/>
                    <a:lstStyle/>
                    <a:p>
                      <a:pPr algn="ctr"/>
                      <a:r>
                        <a:rPr kumimoji="1" lang="en-US" altLang="ja-JP" dirty="0"/>
                        <a:t>1m59s</a:t>
                      </a:r>
                      <a:endParaRPr kumimoji="1" lang="ja-JP" altLang="en-US" dirty="0"/>
                    </a:p>
                  </a:txBody>
                  <a:tcPr/>
                </a:tc>
                <a:tc>
                  <a:txBody>
                    <a:bodyPr/>
                    <a:lstStyle/>
                    <a:p>
                      <a:pPr algn="ctr"/>
                      <a:r>
                        <a:rPr kumimoji="1" lang="en-US" altLang="ja-JP" dirty="0"/>
                        <a:t>1m43s</a:t>
                      </a:r>
                      <a:endParaRPr kumimoji="1" lang="ja-JP" altLang="en-US" dirty="0"/>
                    </a:p>
                  </a:txBody>
                  <a:tcPr/>
                </a:tc>
                <a:extLst>
                  <a:ext uri="{0D108BD9-81ED-4DB2-BD59-A6C34878D82A}">
                    <a16:rowId xmlns:a16="http://schemas.microsoft.com/office/drawing/2014/main" val="166596958"/>
                  </a:ext>
                </a:extLst>
              </a:tr>
              <a:tr h="370840">
                <a:tc>
                  <a:txBody>
                    <a:bodyPr/>
                    <a:lstStyle/>
                    <a:p>
                      <a:pPr algn="ctr"/>
                      <a:r>
                        <a:rPr kumimoji="1" lang="en-US" altLang="ja-JP" b="1" dirty="0">
                          <a:solidFill>
                            <a:schemeClr val="bg1"/>
                          </a:solidFill>
                        </a:rPr>
                        <a:t>DS2</a:t>
                      </a:r>
                      <a:endParaRPr kumimoji="1" lang="ja-JP" altLang="en-US" b="1" dirty="0">
                        <a:solidFill>
                          <a:schemeClr val="bg1"/>
                        </a:solidFill>
                      </a:endParaRPr>
                    </a:p>
                  </a:txBody>
                  <a:tcPr>
                    <a:solidFill>
                      <a:schemeClr val="accent1"/>
                    </a:solidFill>
                  </a:tcPr>
                </a:tc>
                <a:tc>
                  <a:txBody>
                    <a:bodyPr/>
                    <a:lstStyle/>
                    <a:p>
                      <a:pPr algn="ctr"/>
                      <a:r>
                        <a:rPr kumimoji="1" lang="en-US" altLang="ja-JP" dirty="0"/>
                        <a:t>8</a:t>
                      </a:r>
                      <a:endParaRPr kumimoji="1" lang="ja-JP" altLang="en-US" dirty="0"/>
                    </a:p>
                  </a:txBody>
                  <a:tcPr/>
                </a:tc>
                <a:tc>
                  <a:txBody>
                    <a:bodyPr/>
                    <a:lstStyle/>
                    <a:p>
                      <a:pPr algn="ctr"/>
                      <a:r>
                        <a:rPr kumimoji="1" lang="en-US" altLang="ja-JP" dirty="0"/>
                        <a:t>11</a:t>
                      </a:r>
                      <a:endParaRPr kumimoji="1" lang="ja-JP" altLang="en-US" dirty="0"/>
                    </a:p>
                  </a:txBody>
                  <a:tcPr/>
                </a:tc>
                <a:tc>
                  <a:txBody>
                    <a:bodyPr/>
                    <a:lstStyle/>
                    <a:p>
                      <a:pPr algn="ctr"/>
                      <a:r>
                        <a:rPr kumimoji="1" lang="en-US" altLang="ja-JP" dirty="0"/>
                        <a:t>9.2</a:t>
                      </a:r>
                      <a:endParaRPr kumimoji="1" lang="ja-JP" altLang="en-US" dirty="0"/>
                    </a:p>
                  </a:txBody>
                  <a:tcPr/>
                </a:tc>
                <a:tc>
                  <a:txBody>
                    <a:bodyPr/>
                    <a:lstStyle/>
                    <a:p>
                      <a:pPr algn="ctr"/>
                      <a:r>
                        <a:rPr kumimoji="1" lang="en-US" altLang="ja-JP" dirty="0"/>
                        <a:t>1m37s</a:t>
                      </a:r>
                      <a:endParaRPr kumimoji="1" lang="ja-JP" altLang="en-US" dirty="0"/>
                    </a:p>
                  </a:txBody>
                  <a:tcPr/>
                </a:tc>
                <a:tc>
                  <a:txBody>
                    <a:bodyPr/>
                    <a:lstStyle/>
                    <a:p>
                      <a:pPr algn="ctr"/>
                      <a:r>
                        <a:rPr kumimoji="1" lang="en-US" altLang="ja-JP" dirty="0"/>
                        <a:t>2m12s</a:t>
                      </a:r>
                      <a:endParaRPr kumimoji="1" lang="ja-JP" altLang="en-US" dirty="0"/>
                    </a:p>
                  </a:txBody>
                  <a:tcPr/>
                </a:tc>
                <a:tc>
                  <a:txBody>
                    <a:bodyPr/>
                    <a:lstStyle/>
                    <a:p>
                      <a:pPr algn="ctr"/>
                      <a:r>
                        <a:rPr kumimoji="1" lang="en-US" altLang="ja-JP" dirty="0"/>
                        <a:t>1m59s</a:t>
                      </a:r>
                      <a:endParaRPr kumimoji="1" lang="ja-JP" altLang="en-US" dirty="0"/>
                    </a:p>
                  </a:txBody>
                  <a:tcPr/>
                </a:tc>
                <a:extLst>
                  <a:ext uri="{0D108BD9-81ED-4DB2-BD59-A6C34878D82A}">
                    <a16:rowId xmlns:a16="http://schemas.microsoft.com/office/drawing/2014/main" val="1708143926"/>
                  </a:ext>
                </a:extLst>
              </a:tr>
            </a:tbl>
          </a:graphicData>
        </a:graphic>
      </p:graphicFrame>
      <p:graphicFrame>
        <p:nvGraphicFramePr>
          <p:cNvPr id="6" name="表 5">
            <a:extLst>
              <a:ext uri="{FF2B5EF4-FFF2-40B4-BE49-F238E27FC236}">
                <a16:creationId xmlns:a16="http://schemas.microsoft.com/office/drawing/2014/main" id="{9AF010E3-781B-87A8-FB48-1FB1DEA761B6}"/>
              </a:ext>
            </a:extLst>
          </p:cNvPr>
          <p:cNvGraphicFramePr>
            <a:graphicFrameLocks noGrp="1"/>
          </p:cNvGraphicFramePr>
          <p:nvPr>
            <p:extLst>
              <p:ext uri="{D42A27DB-BD31-4B8C-83A1-F6EECF244321}">
                <p14:modId xmlns:p14="http://schemas.microsoft.com/office/powerpoint/2010/main" val="1512474180"/>
              </p:ext>
            </p:extLst>
          </p:nvPr>
        </p:nvGraphicFramePr>
        <p:xfrm>
          <a:off x="1165724" y="3948619"/>
          <a:ext cx="8128001"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820177428"/>
                    </a:ext>
                  </a:extLst>
                </a:gridCol>
                <a:gridCol w="1161143">
                  <a:extLst>
                    <a:ext uri="{9D8B030D-6E8A-4147-A177-3AD203B41FA5}">
                      <a16:colId xmlns:a16="http://schemas.microsoft.com/office/drawing/2014/main" val="379214798"/>
                    </a:ext>
                  </a:extLst>
                </a:gridCol>
                <a:gridCol w="1161143">
                  <a:extLst>
                    <a:ext uri="{9D8B030D-6E8A-4147-A177-3AD203B41FA5}">
                      <a16:colId xmlns:a16="http://schemas.microsoft.com/office/drawing/2014/main" val="646519767"/>
                    </a:ext>
                  </a:extLst>
                </a:gridCol>
                <a:gridCol w="1161143">
                  <a:extLst>
                    <a:ext uri="{9D8B030D-6E8A-4147-A177-3AD203B41FA5}">
                      <a16:colId xmlns:a16="http://schemas.microsoft.com/office/drawing/2014/main" val="3964003927"/>
                    </a:ext>
                  </a:extLst>
                </a:gridCol>
                <a:gridCol w="1161143">
                  <a:extLst>
                    <a:ext uri="{9D8B030D-6E8A-4147-A177-3AD203B41FA5}">
                      <a16:colId xmlns:a16="http://schemas.microsoft.com/office/drawing/2014/main" val="1798176600"/>
                    </a:ext>
                  </a:extLst>
                </a:gridCol>
                <a:gridCol w="1161143">
                  <a:extLst>
                    <a:ext uri="{9D8B030D-6E8A-4147-A177-3AD203B41FA5}">
                      <a16:colId xmlns:a16="http://schemas.microsoft.com/office/drawing/2014/main" val="2602626616"/>
                    </a:ext>
                  </a:extLst>
                </a:gridCol>
                <a:gridCol w="1161143">
                  <a:extLst>
                    <a:ext uri="{9D8B030D-6E8A-4147-A177-3AD203B41FA5}">
                      <a16:colId xmlns:a16="http://schemas.microsoft.com/office/drawing/2014/main" val="3419468142"/>
                    </a:ext>
                  </a:extLst>
                </a:gridCol>
              </a:tblGrid>
              <a:tr h="370840">
                <a:tc>
                  <a:txBody>
                    <a:bodyPr/>
                    <a:lstStyle/>
                    <a:p>
                      <a:pPr algn="ctr"/>
                      <a:r>
                        <a:rPr kumimoji="1" lang="en-US" altLang="ja-JP" b="1" dirty="0">
                          <a:solidFill>
                            <a:schemeClr val="bg1"/>
                          </a:solidFill>
                        </a:rPr>
                        <a:t>DS</a:t>
                      </a:r>
                      <a:endParaRPr kumimoji="1" lang="ja-JP" altLang="en-US" b="1" dirty="0">
                        <a:solidFill>
                          <a:schemeClr val="bg1"/>
                        </a:solidFill>
                      </a:endParaRPr>
                    </a:p>
                  </a:txBody>
                  <a:tcPr/>
                </a:tc>
                <a:tc>
                  <a:txBody>
                    <a:bodyPr/>
                    <a:lstStyle/>
                    <a:p>
                      <a:pPr algn="ctr"/>
                      <a:r>
                        <a:rPr kumimoji="1" lang="ja-JP" altLang="en-US" dirty="0"/>
                        <a:t>最小数</a:t>
                      </a:r>
                    </a:p>
                  </a:txBody>
                  <a:tcPr/>
                </a:tc>
                <a:tc>
                  <a:txBody>
                    <a:bodyPr/>
                    <a:lstStyle/>
                    <a:p>
                      <a:pPr algn="ctr"/>
                      <a:r>
                        <a:rPr kumimoji="1" lang="ja-JP" altLang="en-US" dirty="0"/>
                        <a:t>最大数</a:t>
                      </a:r>
                    </a:p>
                  </a:txBody>
                  <a:tcPr/>
                </a:tc>
                <a:tc>
                  <a:txBody>
                    <a:bodyPr/>
                    <a:lstStyle/>
                    <a:p>
                      <a:pPr algn="ctr"/>
                      <a:r>
                        <a:rPr kumimoji="1" lang="ja-JP" altLang="en-US" dirty="0"/>
                        <a:t>平均数</a:t>
                      </a:r>
                    </a:p>
                  </a:txBody>
                  <a:tcPr/>
                </a:tc>
                <a:tc>
                  <a:txBody>
                    <a:bodyPr/>
                    <a:lstStyle/>
                    <a:p>
                      <a:pPr algn="ctr"/>
                      <a:r>
                        <a:rPr kumimoji="1" lang="ja-JP" altLang="en-US" dirty="0"/>
                        <a:t>最小時間</a:t>
                      </a:r>
                    </a:p>
                  </a:txBody>
                  <a:tcPr/>
                </a:tc>
                <a:tc>
                  <a:txBody>
                    <a:bodyPr/>
                    <a:lstStyle/>
                    <a:p>
                      <a:pPr algn="ctr"/>
                      <a:r>
                        <a:rPr kumimoji="1" lang="ja-JP" altLang="en-US" dirty="0"/>
                        <a:t>最大時間</a:t>
                      </a:r>
                    </a:p>
                  </a:txBody>
                  <a:tcPr/>
                </a:tc>
                <a:tc>
                  <a:txBody>
                    <a:bodyPr/>
                    <a:lstStyle/>
                    <a:p>
                      <a:pPr algn="ctr"/>
                      <a:r>
                        <a:rPr kumimoji="1" lang="ja-JP" altLang="en-US" dirty="0"/>
                        <a:t>平均時間</a:t>
                      </a:r>
                    </a:p>
                  </a:txBody>
                  <a:tcPr/>
                </a:tc>
                <a:extLst>
                  <a:ext uri="{0D108BD9-81ED-4DB2-BD59-A6C34878D82A}">
                    <a16:rowId xmlns:a16="http://schemas.microsoft.com/office/drawing/2014/main" val="3716155245"/>
                  </a:ext>
                </a:extLst>
              </a:tr>
              <a:tr h="370840">
                <a:tc>
                  <a:txBody>
                    <a:bodyPr/>
                    <a:lstStyle/>
                    <a:p>
                      <a:pPr algn="ctr"/>
                      <a:r>
                        <a:rPr kumimoji="1" lang="en-US" altLang="ja-JP" b="1" dirty="0">
                          <a:solidFill>
                            <a:schemeClr val="bg1"/>
                          </a:solidFill>
                        </a:rPr>
                        <a:t>DS1</a:t>
                      </a:r>
                      <a:endParaRPr kumimoji="1" lang="ja-JP" altLang="en-US" b="1" dirty="0">
                        <a:solidFill>
                          <a:schemeClr val="bg1"/>
                        </a:solidFill>
                      </a:endParaRPr>
                    </a:p>
                  </a:txBody>
                  <a:tcPr>
                    <a:solidFill>
                      <a:schemeClr val="accent1"/>
                    </a:solidFill>
                  </a:tcPr>
                </a:tc>
                <a:tc>
                  <a:txBody>
                    <a:bodyPr/>
                    <a:lstStyle/>
                    <a:p>
                      <a:pPr algn="ctr"/>
                      <a:r>
                        <a:rPr kumimoji="1" lang="en-US" altLang="ja-JP" dirty="0"/>
                        <a:t>7</a:t>
                      </a:r>
                      <a:endParaRPr kumimoji="1" lang="ja-JP" altLang="en-US" dirty="0"/>
                    </a:p>
                  </a:txBody>
                  <a:tcPr/>
                </a:tc>
                <a:tc>
                  <a:txBody>
                    <a:bodyPr/>
                    <a:lstStyle/>
                    <a:p>
                      <a:pPr algn="ctr"/>
                      <a:r>
                        <a:rPr kumimoji="1" lang="en-US" altLang="ja-JP" dirty="0"/>
                        <a:t>13</a:t>
                      </a:r>
                      <a:endParaRPr kumimoji="1" lang="ja-JP" altLang="en-US" dirty="0"/>
                    </a:p>
                  </a:txBody>
                  <a:tcPr/>
                </a:tc>
                <a:tc>
                  <a:txBody>
                    <a:bodyPr/>
                    <a:lstStyle/>
                    <a:p>
                      <a:pPr algn="ctr"/>
                      <a:r>
                        <a:rPr kumimoji="1" lang="en-US" altLang="ja-JP" dirty="0"/>
                        <a:t>9.6</a:t>
                      </a:r>
                      <a:endParaRPr kumimoji="1" lang="ja-JP" altLang="en-US" dirty="0"/>
                    </a:p>
                  </a:txBody>
                  <a:tcPr/>
                </a:tc>
                <a:tc>
                  <a:txBody>
                    <a:bodyPr/>
                    <a:lstStyle/>
                    <a:p>
                      <a:pPr algn="ctr"/>
                      <a:r>
                        <a:rPr kumimoji="1" lang="en-US" altLang="ja-JP" dirty="0"/>
                        <a:t>1m26s</a:t>
                      </a:r>
                      <a:endParaRPr kumimoji="1" lang="ja-JP" altLang="en-US" dirty="0"/>
                    </a:p>
                  </a:txBody>
                  <a:tcPr/>
                </a:tc>
                <a:tc>
                  <a:txBody>
                    <a:bodyPr/>
                    <a:lstStyle/>
                    <a:p>
                      <a:pPr algn="ctr"/>
                      <a:r>
                        <a:rPr kumimoji="1" lang="en-US" altLang="ja-JP" dirty="0"/>
                        <a:t>2m07s</a:t>
                      </a:r>
                      <a:endParaRPr kumimoji="1" lang="ja-JP" altLang="en-US" dirty="0"/>
                    </a:p>
                  </a:txBody>
                  <a:tcPr/>
                </a:tc>
                <a:tc>
                  <a:txBody>
                    <a:bodyPr/>
                    <a:lstStyle/>
                    <a:p>
                      <a:pPr algn="ctr"/>
                      <a:r>
                        <a:rPr kumimoji="1" lang="en-US" altLang="ja-JP" dirty="0"/>
                        <a:t>1m47s</a:t>
                      </a:r>
                      <a:endParaRPr kumimoji="1" lang="ja-JP" altLang="en-US" dirty="0"/>
                    </a:p>
                  </a:txBody>
                  <a:tcPr/>
                </a:tc>
                <a:extLst>
                  <a:ext uri="{0D108BD9-81ED-4DB2-BD59-A6C34878D82A}">
                    <a16:rowId xmlns:a16="http://schemas.microsoft.com/office/drawing/2014/main" val="166596958"/>
                  </a:ext>
                </a:extLst>
              </a:tr>
              <a:tr h="370840">
                <a:tc>
                  <a:txBody>
                    <a:bodyPr/>
                    <a:lstStyle/>
                    <a:p>
                      <a:pPr algn="ctr"/>
                      <a:r>
                        <a:rPr kumimoji="1" lang="en-US" altLang="ja-JP" b="1" dirty="0">
                          <a:solidFill>
                            <a:schemeClr val="bg1"/>
                          </a:solidFill>
                        </a:rPr>
                        <a:t>DS2</a:t>
                      </a:r>
                      <a:endParaRPr kumimoji="1" lang="ja-JP" altLang="en-US" b="1" dirty="0">
                        <a:solidFill>
                          <a:schemeClr val="bg1"/>
                        </a:solidFill>
                      </a:endParaRPr>
                    </a:p>
                  </a:txBody>
                  <a:tcPr>
                    <a:solidFill>
                      <a:schemeClr val="accent1"/>
                    </a:solidFill>
                  </a:tcPr>
                </a:tc>
                <a:tc>
                  <a:txBody>
                    <a:bodyPr/>
                    <a:lstStyle/>
                    <a:p>
                      <a:pPr algn="ctr"/>
                      <a:r>
                        <a:rPr kumimoji="1" lang="en-US" altLang="ja-JP" dirty="0"/>
                        <a:t>8</a:t>
                      </a:r>
                      <a:endParaRPr kumimoji="1" lang="ja-JP" altLang="en-US" dirty="0"/>
                    </a:p>
                  </a:txBody>
                  <a:tcPr/>
                </a:tc>
                <a:tc>
                  <a:txBody>
                    <a:bodyPr/>
                    <a:lstStyle/>
                    <a:p>
                      <a:pPr algn="ctr"/>
                      <a:r>
                        <a:rPr kumimoji="1" lang="en-US" altLang="ja-JP" dirty="0"/>
                        <a:t>14</a:t>
                      </a:r>
                    </a:p>
                  </a:txBody>
                  <a:tcPr/>
                </a:tc>
                <a:tc>
                  <a:txBody>
                    <a:bodyPr/>
                    <a:lstStyle/>
                    <a:p>
                      <a:pPr algn="ctr"/>
                      <a:r>
                        <a:rPr kumimoji="1" lang="en-US" altLang="ja-JP" dirty="0"/>
                        <a:t>10.9</a:t>
                      </a:r>
                      <a:endParaRPr kumimoji="1" lang="ja-JP" altLang="en-US" dirty="0"/>
                    </a:p>
                  </a:txBody>
                  <a:tcPr/>
                </a:tc>
                <a:tc>
                  <a:txBody>
                    <a:bodyPr/>
                    <a:lstStyle/>
                    <a:p>
                      <a:pPr algn="ctr"/>
                      <a:r>
                        <a:rPr kumimoji="1" lang="en-US" altLang="ja-JP" dirty="0"/>
                        <a:t>1m29s</a:t>
                      </a:r>
                      <a:endParaRPr kumimoji="1" lang="ja-JP" altLang="en-US" dirty="0"/>
                    </a:p>
                  </a:txBody>
                  <a:tcPr/>
                </a:tc>
                <a:tc>
                  <a:txBody>
                    <a:bodyPr/>
                    <a:lstStyle/>
                    <a:p>
                      <a:pPr algn="ctr"/>
                      <a:r>
                        <a:rPr kumimoji="1" lang="en-US" altLang="ja-JP" dirty="0"/>
                        <a:t>2m01s</a:t>
                      </a:r>
                      <a:endParaRPr kumimoji="1" lang="ja-JP" altLang="en-US" dirty="0"/>
                    </a:p>
                  </a:txBody>
                  <a:tcPr/>
                </a:tc>
                <a:tc>
                  <a:txBody>
                    <a:bodyPr/>
                    <a:lstStyle/>
                    <a:p>
                      <a:pPr algn="ctr"/>
                      <a:r>
                        <a:rPr kumimoji="1" lang="en-US" altLang="ja-JP" dirty="0"/>
                        <a:t>1m57s</a:t>
                      </a:r>
                      <a:endParaRPr kumimoji="1" lang="ja-JP" altLang="en-US" dirty="0"/>
                    </a:p>
                  </a:txBody>
                  <a:tcPr/>
                </a:tc>
                <a:extLst>
                  <a:ext uri="{0D108BD9-81ED-4DB2-BD59-A6C34878D82A}">
                    <a16:rowId xmlns:a16="http://schemas.microsoft.com/office/drawing/2014/main" val="1708143926"/>
                  </a:ext>
                </a:extLst>
              </a:tr>
            </a:tbl>
          </a:graphicData>
        </a:graphic>
      </p:graphicFrame>
      <p:sp>
        <p:nvSpPr>
          <p:cNvPr id="7" name="テキスト ボックス 6">
            <a:extLst>
              <a:ext uri="{FF2B5EF4-FFF2-40B4-BE49-F238E27FC236}">
                <a16:creationId xmlns:a16="http://schemas.microsoft.com/office/drawing/2014/main" id="{04713E09-AD36-58B9-FE3E-E2E1A76F8724}"/>
              </a:ext>
            </a:extLst>
          </p:cNvPr>
          <p:cNvSpPr txBox="1"/>
          <p:nvPr/>
        </p:nvSpPr>
        <p:spPr>
          <a:xfrm>
            <a:off x="1165723" y="1690688"/>
            <a:ext cx="8128001" cy="369332"/>
          </a:xfrm>
          <a:prstGeom prst="rect">
            <a:avLst/>
          </a:prstGeom>
          <a:noFill/>
        </p:spPr>
        <p:txBody>
          <a:bodyPr wrap="square" rtlCol="0">
            <a:spAutoFit/>
          </a:bodyPr>
          <a:lstStyle/>
          <a:p>
            <a:pPr algn="ctr"/>
            <a:r>
              <a:rPr kumimoji="1" lang="en-US" altLang="ja-JP" b="1" dirty="0"/>
              <a:t>Lock_ds1</a:t>
            </a:r>
            <a:r>
              <a:rPr kumimoji="1" lang="ja-JP" altLang="en-US" b="1" dirty="0"/>
              <a:t>を用いた汎化検証</a:t>
            </a:r>
            <a:r>
              <a:rPr kumimoji="1" lang="en-US" altLang="ja-JP" b="1" dirty="0"/>
              <a:t>(temperature=0.2)</a:t>
            </a:r>
            <a:endParaRPr kumimoji="1" lang="ja-JP" altLang="en-US" b="1" dirty="0"/>
          </a:p>
        </p:txBody>
      </p:sp>
      <p:sp>
        <p:nvSpPr>
          <p:cNvPr id="9" name="テキスト ボックス 8">
            <a:extLst>
              <a:ext uri="{FF2B5EF4-FFF2-40B4-BE49-F238E27FC236}">
                <a16:creationId xmlns:a16="http://schemas.microsoft.com/office/drawing/2014/main" id="{21A418DD-BFEB-86B3-067C-47437891DF19}"/>
              </a:ext>
            </a:extLst>
          </p:cNvPr>
          <p:cNvSpPr txBox="1"/>
          <p:nvPr/>
        </p:nvSpPr>
        <p:spPr>
          <a:xfrm>
            <a:off x="1165722" y="3539003"/>
            <a:ext cx="8128001" cy="369332"/>
          </a:xfrm>
          <a:prstGeom prst="rect">
            <a:avLst/>
          </a:prstGeom>
          <a:noFill/>
        </p:spPr>
        <p:txBody>
          <a:bodyPr wrap="square" rtlCol="0">
            <a:spAutoFit/>
          </a:bodyPr>
          <a:lstStyle/>
          <a:p>
            <a:pPr algn="ctr"/>
            <a:r>
              <a:rPr kumimoji="1" lang="en-US" altLang="ja-JP" b="1" dirty="0"/>
              <a:t>Lock_ds2</a:t>
            </a:r>
            <a:r>
              <a:rPr kumimoji="1" lang="ja-JP" altLang="en-US" b="1" dirty="0"/>
              <a:t>を用いた汎化検証</a:t>
            </a:r>
            <a:r>
              <a:rPr kumimoji="1" lang="en-US" altLang="ja-JP" b="1" dirty="0"/>
              <a:t>(temperature=0.6)</a:t>
            </a:r>
            <a:endParaRPr kumimoji="1" lang="ja-JP" altLang="en-US" b="1" dirty="0"/>
          </a:p>
        </p:txBody>
      </p:sp>
      <p:sp>
        <p:nvSpPr>
          <p:cNvPr id="3" name="テキスト ボックス 2">
            <a:extLst>
              <a:ext uri="{FF2B5EF4-FFF2-40B4-BE49-F238E27FC236}">
                <a16:creationId xmlns:a16="http://schemas.microsoft.com/office/drawing/2014/main" id="{D24F11C6-F6F8-1E1C-D55C-66AC85F02E8F}"/>
              </a:ext>
            </a:extLst>
          </p:cNvPr>
          <p:cNvSpPr txBox="1"/>
          <p:nvPr/>
        </p:nvSpPr>
        <p:spPr>
          <a:xfrm flipH="1">
            <a:off x="1165722" y="5508689"/>
            <a:ext cx="9777919" cy="400110"/>
          </a:xfrm>
          <a:prstGeom prst="rect">
            <a:avLst/>
          </a:prstGeom>
          <a:noFill/>
        </p:spPr>
        <p:txBody>
          <a:bodyPr wrap="square" rtlCol="0">
            <a:spAutoFit/>
          </a:bodyPr>
          <a:lstStyle/>
          <a:p>
            <a:r>
              <a:rPr lang="ja-JP" altLang="en-US" sz="2000" b="1" dirty="0"/>
              <a:t>同系統のデータセットに対して、温度調整・固定情報の保持は、有効である</a:t>
            </a:r>
            <a:endParaRPr kumimoji="1" lang="ja-JP" altLang="en-US" sz="2000" b="1" dirty="0"/>
          </a:p>
        </p:txBody>
      </p:sp>
    </p:spTree>
    <p:extLst>
      <p:ext uri="{BB962C8B-B14F-4D97-AF65-F5344CB8AC3E}">
        <p14:creationId xmlns:p14="http://schemas.microsoft.com/office/powerpoint/2010/main" val="1495915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DECEB6-5612-3DAA-BB7F-25C0ED12C101}"/>
              </a:ext>
            </a:extLst>
          </p:cNvPr>
          <p:cNvSpPr>
            <a:spLocks noGrp="1"/>
          </p:cNvSpPr>
          <p:nvPr>
            <p:ph type="title"/>
          </p:nvPr>
        </p:nvSpPr>
        <p:spPr/>
        <p:txBody>
          <a:bodyPr/>
          <a:lstStyle/>
          <a:p>
            <a:r>
              <a:rPr kumimoji="1" lang="ja-JP" altLang="en-US" dirty="0"/>
              <a:t>比較検証</a:t>
            </a:r>
          </a:p>
        </p:txBody>
      </p:sp>
      <p:sp>
        <p:nvSpPr>
          <p:cNvPr id="3" name="コンテンツ プレースホルダー 2">
            <a:extLst>
              <a:ext uri="{FF2B5EF4-FFF2-40B4-BE49-F238E27FC236}">
                <a16:creationId xmlns:a16="http://schemas.microsoft.com/office/drawing/2014/main" id="{AC5C6F51-5286-5CEC-B3CC-0F5E4015A42C}"/>
              </a:ext>
            </a:extLst>
          </p:cNvPr>
          <p:cNvSpPr>
            <a:spLocks noGrp="1"/>
          </p:cNvSpPr>
          <p:nvPr>
            <p:ph idx="1"/>
          </p:nvPr>
        </p:nvSpPr>
        <p:spPr/>
        <p:txBody>
          <a:bodyPr>
            <a:normAutofit/>
          </a:bodyPr>
          <a:lstStyle/>
          <a:p>
            <a:pPr marL="0" indent="0">
              <a:buNone/>
            </a:pPr>
            <a:r>
              <a:rPr kumimoji="1" lang="ja-JP" altLang="en-US" dirty="0"/>
              <a:t>比較対象</a:t>
            </a:r>
            <a:r>
              <a:rPr kumimoji="1" lang="en-US" altLang="ja-JP" dirty="0"/>
              <a:t>:</a:t>
            </a:r>
          </a:p>
          <a:p>
            <a:pPr marL="514350" indent="-514350">
              <a:buFont typeface="+mj-ea"/>
              <a:buAutoNum type="circleNumDbPlain"/>
            </a:pPr>
            <a:r>
              <a:rPr lang="ja-JP" altLang="en-US" dirty="0"/>
              <a:t>素の</a:t>
            </a:r>
            <a:r>
              <a:rPr lang="en-US" altLang="ja-JP" dirty="0"/>
              <a:t>AI vs </a:t>
            </a:r>
            <a:r>
              <a:rPr lang="ja-JP" altLang="en-US" dirty="0"/>
              <a:t>本研究プログラム</a:t>
            </a:r>
            <a:endParaRPr lang="en-US" altLang="ja-JP" dirty="0"/>
          </a:p>
          <a:p>
            <a:pPr marL="514350" indent="-514350">
              <a:buFont typeface="+mj-ea"/>
              <a:buAutoNum type="circleNumDbPlain"/>
            </a:pPr>
            <a:r>
              <a:rPr kumimoji="1" lang="ja-JP" altLang="en-US" dirty="0"/>
              <a:t>本研究プログラム </a:t>
            </a:r>
            <a:r>
              <a:rPr kumimoji="1" lang="en-US" altLang="ja-JP" dirty="0"/>
              <a:t>vs </a:t>
            </a:r>
            <a:r>
              <a:rPr kumimoji="1" lang="ja-JP" altLang="en-US" dirty="0"/>
              <a:t>人手作成</a:t>
            </a:r>
            <a:endParaRPr kumimoji="1" lang="en-US" altLang="ja-JP" dirty="0"/>
          </a:p>
          <a:p>
            <a:pPr marL="0" indent="0">
              <a:buNone/>
            </a:pPr>
            <a:endParaRPr lang="en-US" altLang="ja-JP" dirty="0"/>
          </a:p>
          <a:p>
            <a:pPr marL="0" indent="0">
              <a:buNone/>
            </a:pPr>
            <a:r>
              <a:rPr lang="ja-JP" altLang="en-US" dirty="0"/>
              <a:t>対象詳細</a:t>
            </a:r>
            <a:r>
              <a:rPr lang="en-US" altLang="ja-JP" dirty="0"/>
              <a:t>:</a:t>
            </a:r>
          </a:p>
        </p:txBody>
      </p:sp>
      <p:sp>
        <p:nvSpPr>
          <p:cNvPr id="4" name="スライド番号プレースホルダー 3">
            <a:extLst>
              <a:ext uri="{FF2B5EF4-FFF2-40B4-BE49-F238E27FC236}">
                <a16:creationId xmlns:a16="http://schemas.microsoft.com/office/drawing/2014/main" id="{9A9E4BE7-3989-BF36-84CF-0EE294A04704}"/>
              </a:ext>
            </a:extLst>
          </p:cNvPr>
          <p:cNvSpPr>
            <a:spLocks noGrp="1"/>
          </p:cNvSpPr>
          <p:nvPr>
            <p:ph type="sldNum" sz="quarter" idx="12"/>
          </p:nvPr>
        </p:nvSpPr>
        <p:spPr/>
        <p:txBody>
          <a:bodyPr/>
          <a:lstStyle/>
          <a:p>
            <a:fld id="{F32C8F3A-98E9-46B1-BAC9-77D093337233}" type="slidenum">
              <a:rPr kumimoji="1" lang="ja-JP" altLang="en-US" smtClean="0"/>
              <a:t>12</a:t>
            </a:fld>
            <a:endParaRPr kumimoji="1" lang="ja-JP" altLang="en-US"/>
          </a:p>
        </p:txBody>
      </p:sp>
      <p:graphicFrame>
        <p:nvGraphicFramePr>
          <p:cNvPr id="5" name="表 4">
            <a:extLst>
              <a:ext uri="{FF2B5EF4-FFF2-40B4-BE49-F238E27FC236}">
                <a16:creationId xmlns:a16="http://schemas.microsoft.com/office/drawing/2014/main" id="{5FBE708D-F15C-7AB5-9E5C-E80005A57D29}"/>
              </a:ext>
            </a:extLst>
          </p:cNvPr>
          <p:cNvGraphicFramePr>
            <a:graphicFrameLocks noGrp="1"/>
          </p:cNvGraphicFramePr>
          <p:nvPr>
            <p:extLst>
              <p:ext uri="{D42A27DB-BD31-4B8C-83A1-F6EECF244321}">
                <p14:modId xmlns:p14="http://schemas.microsoft.com/office/powerpoint/2010/main" val="4125843114"/>
              </p:ext>
            </p:extLst>
          </p:nvPr>
        </p:nvGraphicFramePr>
        <p:xfrm>
          <a:off x="1044675" y="4463179"/>
          <a:ext cx="9913375" cy="1483170"/>
        </p:xfrm>
        <a:graphic>
          <a:graphicData uri="http://schemas.openxmlformats.org/drawingml/2006/table">
            <a:tbl>
              <a:tblPr firstCol="1" bandRow="1">
                <a:tableStyleId>{5C22544A-7EE6-4342-B048-85BDC9FD1C3A}</a:tableStyleId>
              </a:tblPr>
              <a:tblGrid>
                <a:gridCol w="2406446">
                  <a:extLst>
                    <a:ext uri="{9D8B030D-6E8A-4147-A177-3AD203B41FA5}">
                      <a16:colId xmlns:a16="http://schemas.microsoft.com/office/drawing/2014/main" val="1431813937"/>
                    </a:ext>
                  </a:extLst>
                </a:gridCol>
                <a:gridCol w="7506929">
                  <a:extLst>
                    <a:ext uri="{9D8B030D-6E8A-4147-A177-3AD203B41FA5}">
                      <a16:colId xmlns:a16="http://schemas.microsoft.com/office/drawing/2014/main" val="1646843001"/>
                    </a:ext>
                  </a:extLst>
                </a:gridCol>
              </a:tblGrid>
              <a:tr h="521776">
                <a:tc>
                  <a:txBody>
                    <a:bodyPr/>
                    <a:lstStyle/>
                    <a:p>
                      <a:r>
                        <a:rPr kumimoji="1" lang="ja-JP" altLang="en-US" dirty="0"/>
                        <a:t>素の</a:t>
                      </a:r>
                      <a:r>
                        <a:rPr kumimoji="1" lang="en-US" altLang="ja-JP" dirty="0"/>
                        <a:t>AI</a:t>
                      </a:r>
                      <a:endParaRPr kumimoji="1" lang="ja-JP" altLang="en-US" dirty="0"/>
                    </a:p>
                  </a:txBody>
                  <a:tcPr/>
                </a:tc>
                <a:tc>
                  <a:txBody>
                    <a:bodyPr/>
                    <a:lstStyle/>
                    <a:p>
                      <a:r>
                        <a:rPr kumimoji="1" lang="ja-JP" altLang="en-US" dirty="0"/>
                        <a:t>実験①同様の条件で</a:t>
                      </a:r>
                      <a:r>
                        <a:rPr kumimoji="1" lang="en-US" altLang="ja-JP" dirty="0"/>
                        <a:t>10</a:t>
                      </a:r>
                      <a:r>
                        <a:rPr kumimoji="1" lang="ja-JP" altLang="en-US" dirty="0"/>
                        <a:t>回試行</a:t>
                      </a:r>
                    </a:p>
                  </a:txBody>
                  <a:tcPr/>
                </a:tc>
                <a:extLst>
                  <a:ext uri="{0D108BD9-81ED-4DB2-BD59-A6C34878D82A}">
                    <a16:rowId xmlns:a16="http://schemas.microsoft.com/office/drawing/2014/main" val="2485479736"/>
                  </a:ext>
                </a:extLst>
              </a:tr>
              <a:tr h="501445">
                <a:tc>
                  <a:txBody>
                    <a:bodyPr/>
                    <a:lstStyle/>
                    <a:p>
                      <a:r>
                        <a:rPr kumimoji="1" lang="ja-JP" altLang="en-US" dirty="0"/>
                        <a:t>本研究プログラム</a:t>
                      </a:r>
                    </a:p>
                  </a:txBody>
                  <a:tcPr/>
                </a:tc>
                <a:tc>
                  <a:txBody>
                    <a:bodyPr/>
                    <a:lstStyle/>
                    <a:p>
                      <a:r>
                        <a:rPr kumimoji="1" lang="ja-JP" altLang="en-US" dirty="0"/>
                        <a:t>実験②での最適凍結ファイルを用いた同一データセットで</a:t>
                      </a:r>
                      <a:r>
                        <a:rPr kumimoji="1" lang="en-US" altLang="ja-JP" dirty="0"/>
                        <a:t>10</a:t>
                      </a:r>
                      <a:r>
                        <a:rPr kumimoji="1" lang="ja-JP" altLang="en-US" dirty="0"/>
                        <a:t>回試行</a:t>
                      </a:r>
                    </a:p>
                  </a:txBody>
                  <a:tcPr/>
                </a:tc>
                <a:extLst>
                  <a:ext uri="{0D108BD9-81ED-4DB2-BD59-A6C34878D82A}">
                    <a16:rowId xmlns:a16="http://schemas.microsoft.com/office/drawing/2014/main" val="769327421"/>
                  </a:ext>
                </a:extLst>
              </a:tr>
              <a:tr h="459949">
                <a:tc>
                  <a:txBody>
                    <a:bodyPr/>
                    <a:lstStyle/>
                    <a:p>
                      <a:r>
                        <a:rPr kumimoji="1" lang="ja-JP" altLang="en-US" dirty="0"/>
                        <a:t>人手作成</a:t>
                      </a:r>
                    </a:p>
                  </a:txBody>
                  <a:tcPr/>
                </a:tc>
                <a:tc>
                  <a:txBody>
                    <a:bodyPr/>
                    <a:lstStyle/>
                    <a:p>
                      <a:r>
                        <a:rPr kumimoji="1" lang="ja-JP" altLang="en-US" dirty="0"/>
                        <a:t>抽出率</a:t>
                      </a:r>
                      <a:r>
                        <a:rPr kumimoji="1" lang="en-US" altLang="ja-JP" dirty="0"/>
                        <a:t>100%, </a:t>
                      </a:r>
                      <a:r>
                        <a:rPr kumimoji="1" lang="ja-JP" altLang="en-US" dirty="0"/>
                        <a:t>誤りがないようになるまで</a:t>
                      </a:r>
                      <a:r>
                        <a:rPr kumimoji="1" lang="en-US" altLang="ja-JP" dirty="0"/>
                        <a:t>1</a:t>
                      </a:r>
                      <a:r>
                        <a:rPr kumimoji="1" lang="ja-JP" altLang="en-US" dirty="0"/>
                        <a:t>回試行</a:t>
                      </a:r>
                    </a:p>
                  </a:txBody>
                  <a:tcPr/>
                </a:tc>
                <a:extLst>
                  <a:ext uri="{0D108BD9-81ED-4DB2-BD59-A6C34878D82A}">
                    <a16:rowId xmlns:a16="http://schemas.microsoft.com/office/drawing/2014/main" val="1849375189"/>
                  </a:ext>
                </a:extLst>
              </a:tr>
            </a:tbl>
          </a:graphicData>
        </a:graphic>
      </p:graphicFrame>
    </p:spTree>
    <p:extLst>
      <p:ext uri="{BB962C8B-B14F-4D97-AF65-F5344CB8AC3E}">
        <p14:creationId xmlns:p14="http://schemas.microsoft.com/office/powerpoint/2010/main" val="2878310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2405-34C3-FAC0-B7D4-4AFBD31D5A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E87880-E042-CF62-B967-1760B0BCF57E}"/>
              </a:ext>
            </a:extLst>
          </p:cNvPr>
          <p:cNvSpPr>
            <a:spLocks noGrp="1"/>
          </p:cNvSpPr>
          <p:nvPr>
            <p:ph type="title"/>
          </p:nvPr>
        </p:nvSpPr>
        <p:spPr/>
        <p:txBody>
          <a:bodyPr/>
          <a:lstStyle/>
          <a:p>
            <a:r>
              <a:rPr lang="ja-JP" altLang="en-US" dirty="0"/>
              <a:t>比較</a:t>
            </a:r>
            <a:r>
              <a:rPr kumimoji="1" lang="ja-JP" altLang="en-US" dirty="0"/>
              <a:t>①</a:t>
            </a:r>
            <a:r>
              <a:rPr kumimoji="1" lang="en-US" altLang="ja-JP" dirty="0"/>
              <a:t>:</a:t>
            </a:r>
            <a:r>
              <a:rPr kumimoji="1" lang="ja-JP" altLang="en-US" dirty="0"/>
              <a:t>素の</a:t>
            </a:r>
            <a:r>
              <a:rPr kumimoji="1" lang="en-US" altLang="ja-JP" dirty="0"/>
              <a:t>AI vs </a:t>
            </a:r>
            <a:r>
              <a:rPr kumimoji="1" lang="ja-JP" altLang="en-US" dirty="0"/>
              <a:t>本研究プログラム</a:t>
            </a:r>
          </a:p>
        </p:txBody>
      </p:sp>
      <p:sp>
        <p:nvSpPr>
          <p:cNvPr id="4" name="スライド番号プレースホルダー 3">
            <a:extLst>
              <a:ext uri="{FF2B5EF4-FFF2-40B4-BE49-F238E27FC236}">
                <a16:creationId xmlns:a16="http://schemas.microsoft.com/office/drawing/2014/main" id="{DCD3AA53-2B55-9F32-1C63-3C1528B94E31}"/>
              </a:ext>
            </a:extLst>
          </p:cNvPr>
          <p:cNvSpPr>
            <a:spLocks noGrp="1"/>
          </p:cNvSpPr>
          <p:nvPr>
            <p:ph type="sldNum" sz="quarter" idx="12"/>
          </p:nvPr>
        </p:nvSpPr>
        <p:spPr/>
        <p:txBody>
          <a:bodyPr/>
          <a:lstStyle/>
          <a:p>
            <a:fld id="{F32C8F3A-98E9-46B1-BAC9-77D093337233}" type="slidenum">
              <a:rPr kumimoji="1" lang="ja-JP" altLang="en-US" smtClean="0"/>
              <a:t>13</a:t>
            </a:fld>
            <a:endParaRPr kumimoji="1" lang="ja-JP" altLang="en-US"/>
          </a:p>
        </p:txBody>
      </p:sp>
      <p:graphicFrame>
        <p:nvGraphicFramePr>
          <p:cNvPr id="5" name="表 4">
            <a:extLst>
              <a:ext uri="{FF2B5EF4-FFF2-40B4-BE49-F238E27FC236}">
                <a16:creationId xmlns:a16="http://schemas.microsoft.com/office/drawing/2014/main" id="{E3D12A0F-85AD-AA91-BA24-FF6934D6534D}"/>
              </a:ext>
            </a:extLst>
          </p:cNvPr>
          <p:cNvGraphicFramePr>
            <a:graphicFrameLocks noGrp="1"/>
          </p:cNvGraphicFramePr>
          <p:nvPr>
            <p:extLst>
              <p:ext uri="{D42A27DB-BD31-4B8C-83A1-F6EECF244321}">
                <p14:modId xmlns:p14="http://schemas.microsoft.com/office/powerpoint/2010/main" val="2470816522"/>
              </p:ext>
            </p:extLst>
          </p:nvPr>
        </p:nvGraphicFramePr>
        <p:xfrm>
          <a:off x="1046747" y="2100304"/>
          <a:ext cx="9553076" cy="1381760"/>
        </p:xfrm>
        <a:graphic>
          <a:graphicData uri="http://schemas.openxmlformats.org/drawingml/2006/table">
            <a:tbl>
              <a:tblPr firstRow="1" bandRow="1">
                <a:tableStyleId>{5C22544A-7EE6-4342-B048-85BDC9FD1C3A}</a:tableStyleId>
              </a:tblPr>
              <a:tblGrid>
                <a:gridCol w="1700522">
                  <a:extLst>
                    <a:ext uri="{9D8B030D-6E8A-4147-A177-3AD203B41FA5}">
                      <a16:colId xmlns:a16="http://schemas.microsoft.com/office/drawing/2014/main" val="820177428"/>
                    </a:ext>
                  </a:extLst>
                </a:gridCol>
                <a:gridCol w="1175026">
                  <a:extLst>
                    <a:ext uri="{9D8B030D-6E8A-4147-A177-3AD203B41FA5}">
                      <a16:colId xmlns:a16="http://schemas.microsoft.com/office/drawing/2014/main" val="379214798"/>
                    </a:ext>
                  </a:extLst>
                </a:gridCol>
                <a:gridCol w="1275347">
                  <a:extLst>
                    <a:ext uri="{9D8B030D-6E8A-4147-A177-3AD203B41FA5}">
                      <a16:colId xmlns:a16="http://schemas.microsoft.com/office/drawing/2014/main" val="646519767"/>
                    </a:ext>
                  </a:extLst>
                </a:gridCol>
                <a:gridCol w="1239253">
                  <a:extLst>
                    <a:ext uri="{9D8B030D-6E8A-4147-A177-3AD203B41FA5}">
                      <a16:colId xmlns:a16="http://schemas.microsoft.com/office/drawing/2014/main" val="3964003927"/>
                    </a:ext>
                  </a:extLst>
                </a:gridCol>
                <a:gridCol w="1545410">
                  <a:extLst>
                    <a:ext uri="{9D8B030D-6E8A-4147-A177-3AD203B41FA5}">
                      <a16:colId xmlns:a16="http://schemas.microsoft.com/office/drawing/2014/main" val="1798176600"/>
                    </a:ext>
                  </a:extLst>
                </a:gridCol>
                <a:gridCol w="1308759">
                  <a:extLst>
                    <a:ext uri="{9D8B030D-6E8A-4147-A177-3AD203B41FA5}">
                      <a16:colId xmlns:a16="http://schemas.microsoft.com/office/drawing/2014/main" val="2602626616"/>
                    </a:ext>
                  </a:extLst>
                </a:gridCol>
                <a:gridCol w="1308759">
                  <a:extLst>
                    <a:ext uri="{9D8B030D-6E8A-4147-A177-3AD203B41FA5}">
                      <a16:colId xmlns:a16="http://schemas.microsoft.com/office/drawing/2014/main" val="3419468142"/>
                    </a:ext>
                  </a:extLst>
                </a:gridCol>
              </a:tblGrid>
              <a:tr h="370840">
                <a:tc>
                  <a:txBody>
                    <a:bodyPr/>
                    <a:lstStyle/>
                    <a:p>
                      <a:pPr algn="ctr"/>
                      <a:r>
                        <a:rPr kumimoji="1" lang="ja-JP" altLang="en-US" b="1" dirty="0">
                          <a:solidFill>
                            <a:schemeClr val="bg1"/>
                          </a:solidFill>
                        </a:rPr>
                        <a:t>対象</a:t>
                      </a:r>
                    </a:p>
                  </a:txBody>
                  <a:tcPr/>
                </a:tc>
                <a:tc>
                  <a:txBody>
                    <a:bodyPr/>
                    <a:lstStyle/>
                    <a:p>
                      <a:pPr algn="ctr"/>
                      <a:r>
                        <a:rPr kumimoji="1" lang="ja-JP" altLang="en-US" dirty="0"/>
                        <a:t>最小数</a:t>
                      </a:r>
                    </a:p>
                  </a:txBody>
                  <a:tcPr/>
                </a:tc>
                <a:tc>
                  <a:txBody>
                    <a:bodyPr/>
                    <a:lstStyle/>
                    <a:p>
                      <a:pPr algn="ctr"/>
                      <a:r>
                        <a:rPr kumimoji="1" lang="ja-JP" altLang="en-US" dirty="0"/>
                        <a:t>最大数</a:t>
                      </a:r>
                    </a:p>
                  </a:txBody>
                  <a:tcPr/>
                </a:tc>
                <a:tc>
                  <a:txBody>
                    <a:bodyPr/>
                    <a:lstStyle/>
                    <a:p>
                      <a:pPr algn="ctr"/>
                      <a:r>
                        <a:rPr kumimoji="1" lang="ja-JP" altLang="en-US" dirty="0"/>
                        <a:t>平均数</a:t>
                      </a:r>
                    </a:p>
                  </a:txBody>
                  <a:tcPr/>
                </a:tc>
                <a:tc>
                  <a:txBody>
                    <a:bodyPr/>
                    <a:lstStyle/>
                    <a:p>
                      <a:pPr algn="ctr"/>
                      <a:r>
                        <a:rPr kumimoji="1" lang="ja-JP" altLang="en-US" dirty="0"/>
                        <a:t>平均抽出率</a:t>
                      </a:r>
                    </a:p>
                  </a:txBody>
                  <a:tcPr/>
                </a:tc>
                <a:tc>
                  <a:txBody>
                    <a:bodyPr/>
                    <a:lstStyle/>
                    <a:p>
                      <a:pPr algn="ctr"/>
                      <a:r>
                        <a:rPr kumimoji="1" lang="ja-JP" altLang="en-US" dirty="0"/>
                        <a:t>書式の</a:t>
                      </a:r>
                      <a:endParaRPr kumimoji="1" lang="en-US" altLang="ja-JP" dirty="0"/>
                    </a:p>
                    <a:p>
                      <a:pPr algn="ctr"/>
                      <a:r>
                        <a:rPr kumimoji="1" lang="ja-JP" altLang="en-US" dirty="0"/>
                        <a:t>統一性</a:t>
                      </a:r>
                    </a:p>
                  </a:txBody>
                  <a:tcPr/>
                </a:tc>
                <a:tc>
                  <a:txBody>
                    <a:bodyPr/>
                    <a:lstStyle/>
                    <a:p>
                      <a:pPr algn="ctr"/>
                      <a:r>
                        <a:rPr kumimoji="1" lang="ja-JP" altLang="en-US" dirty="0"/>
                        <a:t>平均時間</a:t>
                      </a:r>
                    </a:p>
                  </a:txBody>
                  <a:tcPr/>
                </a:tc>
                <a:extLst>
                  <a:ext uri="{0D108BD9-81ED-4DB2-BD59-A6C34878D82A}">
                    <a16:rowId xmlns:a16="http://schemas.microsoft.com/office/drawing/2014/main" val="3716155245"/>
                  </a:ext>
                </a:extLst>
              </a:tr>
              <a:tr h="370840">
                <a:tc>
                  <a:txBody>
                    <a:bodyPr/>
                    <a:lstStyle/>
                    <a:p>
                      <a:pPr algn="ctr"/>
                      <a:r>
                        <a:rPr kumimoji="1" lang="ja-JP" altLang="en-US" b="1" dirty="0">
                          <a:solidFill>
                            <a:schemeClr val="bg1"/>
                          </a:solidFill>
                        </a:rPr>
                        <a:t>素の生成</a:t>
                      </a:r>
                      <a:r>
                        <a:rPr kumimoji="1" lang="en-US" altLang="ja-JP" b="1" dirty="0">
                          <a:solidFill>
                            <a:schemeClr val="bg1"/>
                          </a:solidFill>
                        </a:rPr>
                        <a:t>AI</a:t>
                      </a:r>
                      <a:endParaRPr kumimoji="1" lang="ja-JP" altLang="en-US" b="1" dirty="0">
                        <a:solidFill>
                          <a:schemeClr val="bg1"/>
                        </a:solidFill>
                      </a:endParaRPr>
                    </a:p>
                  </a:txBody>
                  <a:tcPr>
                    <a:solidFill>
                      <a:schemeClr val="accent1"/>
                    </a:solidFill>
                  </a:tcPr>
                </a:tc>
                <a:tc>
                  <a:txBody>
                    <a:bodyPr/>
                    <a:lstStyle/>
                    <a:p>
                      <a:pPr algn="ctr"/>
                      <a:r>
                        <a:rPr kumimoji="1" lang="en-US" altLang="ja-JP" dirty="0"/>
                        <a:t>5</a:t>
                      </a:r>
                      <a:endParaRPr kumimoji="1" lang="ja-JP" altLang="en-US" dirty="0"/>
                    </a:p>
                  </a:txBody>
                  <a:tcPr/>
                </a:tc>
                <a:tc>
                  <a:txBody>
                    <a:bodyPr/>
                    <a:lstStyle/>
                    <a:p>
                      <a:pPr algn="ctr"/>
                      <a:r>
                        <a:rPr kumimoji="1" lang="en-US" altLang="ja-JP" dirty="0"/>
                        <a:t>8</a:t>
                      </a:r>
                      <a:endParaRPr kumimoji="1" lang="ja-JP" altLang="en-US" dirty="0"/>
                    </a:p>
                  </a:txBody>
                  <a:tcPr/>
                </a:tc>
                <a:tc>
                  <a:txBody>
                    <a:bodyPr/>
                    <a:lstStyle/>
                    <a:p>
                      <a:pPr algn="ctr"/>
                      <a:r>
                        <a:rPr kumimoji="1" lang="en-US" altLang="ja-JP" dirty="0"/>
                        <a:t>6.2</a:t>
                      </a:r>
                      <a:endParaRPr kumimoji="1" lang="ja-JP" altLang="en-US" dirty="0"/>
                    </a:p>
                  </a:txBody>
                  <a:tcPr/>
                </a:tc>
                <a:tc>
                  <a:txBody>
                    <a:bodyPr/>
                    <a:lstStyle/>
                    <a:p>
                      <a:pPr algn="ctr"/>
                      <a:r>
                        <a:rPr kumimoji="1" lang="en-US" altLang="ja-JP" dirty="0"/>
                        <a:t>68.89%</a:t>
                      </a:r>
                      <a:endParaRPr kumimoji="1" lang="ja-JP" altLang="en-US" dirty="0"/>
                    </a:p>
                  </a:txBody>
                  <a:tcPr/>
                </a:tc>
                <a:tc>
                  <a:txBody>
                    <a:bodyPr/>
                    <a:lstStyle/>
                    <a:p>
                      <a:pPr algn="ctr"/>
                      <a:r>
                        <a:rPr kumimoji="1" lang="en-US" altLang="ja-JP" b="1" dirty="0"/>
                        <a:t>×</a:t>
                      </a:r>
                      <a:endParaRPr kumimoji="1" lang="ja-JP" altLang="en-US" b="1" dirty="0"/>
                    </a:p>
                  </a:txBody>
                  <a:tcPr/>
                </a:tc>
                <a:tc>
                  <a:txBody>
                    <a:bodyPr/>
                    <a:lstStyle/>
                    <a:p>
                      <a:pPr algn="ctr"/>
                      <a:r>
                        <a:rPr kumimoji="1" lang="en-US" altLang="ja-JP" dirty="0"/>
                        <a:t>2m16s</a:t>
                      </a:r>
                      <a:endParaRPr kumimoji="1" lang="ja-JP" altLang="en-US" dirty="0"/>
                    </a:p>
                  </a:txBody>
                  <a:tcPr/>
                </a:tc>
                <a:extLst>
                  <a:ext uri="{0D108BD9-81ED-4DB2-BD59-A6C34878D82A}">
                    <a16:rowId xmlns:a16="http://schemas.microsoft.com/office/drawing/2014/main" val="166596958"/>
                  </a:ext>
                </a:extLst>
              </a:tr>
              <a:tr h="370840">
                <a:tc>
                  <a:txBody>
                    <a:bodyPr/>
                    <a:lstStyle/>
                    <a:p>
                      <a:pPr algn="ctr"/>
                      <a:r>
                        <a:rPr kumimoji="1" lang="ja-JP" altLang="en-US" b="1" dirty="0">
                          <a:solidFill>
                            <a:schemeClr val="bg1"/>
                          </a:solidFill>
                        </a:rPr>
                        <a:t>本研究</a:t>
                      </a:r>
                    </a:p>
                  </a:txBody>
                  <a:tcPr>
                    <a:solidFill>
                      <a:schemeClr val="accent1"/>
                    </a:solidFill>
                  </a:tcPr>
                </a:tc>
                <a:tc>
                  <a:txBody>
                    <a:bodyPr/>
                    <a:lstStyle/>
                    <a:p>
                      <a:pPr algn="ctr"/>
                      <a:r>
                        <a:rPr kumimoji="1" lang="en-US" altLang="ja-JP" dirty="0"/>
                        <a:t>8</a:t>
                      </a:r>
                      <a:endParaRPr kumimoji="1" lang="ja-JP" altLang="en-US" dirty="0"/>
                    </a:p>
                  </a:txBody>
                  <a:tcPr/>
                </a:tc>
                <a:tc>
                  <a:txBody>
                    <a:bodyPr/>
                    <a:lstStyle/>
                    <a:p>
                      <a:pPr algn="ctr"/>
                      <a:r>
                        <a:rPr kumimoji="1" lang="en-US" altLang="ja-JP" dirty="0"/>
                        <a:t>10</a:t>
                      </a:r>
                      <a:endParaRPr kumimoji="1" lang="ja-JP" altLang="en-US" dirty="0"/>
                    </a:p>
                  </a:txBody>
                  <a:tcPr/>
                </a:tc>
                <a:tc>
                  <a:txBody>
                    <a:bodyPr/>
                    <a:lstStyle/>
                    <a:p>
                      <a:pPr algn="ctr"/>
                      <a:r>
                        <a:rPr kumimoji="1" lang="en-US" altLang="ja-JP" dirty="0"/>
                        <a:t>8.4</a:t>
                      </a:r>
                      <a:endParaRPr kumimoji="1" lang="ja-JP" altLang="en-US" dirty="0"/>
                    </a:p>
                  </a:txBody>
                  <a:tcPr/>
                </a:tc>
                <a:tc>
                  <a:txBody>
                    <a:bodyPr/>
                    <a:lstStyle/>
                    <a:p>
                      <a:pPr algn="ctr"/>
                      <a:r>
                        <a:rPr kumimoji="1" lang="en-US" altLang="ja-JP" dirty="0"/>
                        <a:t>93.33%</a:t>
                      </a:r>
                      <a:endParaRPr kumimoji="1" lang="ja-JP" altLang="en-US" dirty="0"/>
                    </a:p>
                  </a:txBody>
                  <a:tcPr/>
                </a:tc>
                <a:tc>
                  <a:txBody>
                    <a:bodyPr/>
                    <a:lstStyle/>
                    <a:p>
                      <a:pPr algn="ctr"/>
                      <a:r>
                        <a:rPr kumimoji="1" lang="ja-JP" altLang="en-US" b="1" dirty="0"/>
                        <a:t>〇</a:t>
                      </a:r>
                    </a:p>
                  </a:txBody>
                  <a:tcPr/>
                </a:tc>
                <a:tc>
                  <a:txBody>
                    <a:bodyPr/>
                    <a:lstStyle/>
                    <a:p>
                      <a:pPr algn="ctr"/>
                      <a:r>
                        <a:rPr kumimoji="1" lang="en-US" altLang="ja-JP" dirty="0"/>
                        <a:t>2m04s</a:t>
                      </a:r>
                      <a:endParaRPr kumimoji="1" lang="ja-JP" altLang="en-US" dirty="0"/>
                    </a:p>
                  </a:txBody>
                  <a:tcPr/>
                </a:tc>
                <a:extLst>
                  <a:ext uri="{0D108BD9-81ED-4DB2-BD59-A6C34878D82A}">
                    <a16:rowId xmlns:a16="http://schemas.microsoft.com/office/drawing/2014/main" val="1708143926"/>
                  </a:ext>
                </a:extLst>
              </a:tr>
            </a:tbl>
          </a:graphicData>
        </a:graphic>
      </p:graphicFrame>
      <p:sp>
        <p:nvSpPr>
          <p:cNvPr id="7" name="テキスト ボックス 6">
            <a:extLst>
              <a:ext uri="{FF2B5EF4-FFF2-40B4-BE49-F238E27FC236}">
                <a16:creationId xmlns:a16="http://schemas.microsoft.com/office/drawing/2014/main" id="{1A60CF87-8135-6804-92C1-D997A5325F5B}"/>
              </a:ext>
            </a:extLst>
          </p:cNvPr>
          <p:cNvSpPr txBox="1"/>
          <p:nvPr/>
        </p:nvSpPr>
        <p:spPr>
          <a:xfrm>
            <a:off x="1046747" y="1710830"/>
            <a:ext cx="9553076" cy="369332"/>
          </a:xfrm>
          <a:prstGeom prst="rect">
            <a:avLst/>
          </a:prstGeom>
          <a:noFill/>
        </p:spPr>
        <p:txBody>
          <a:bodyPr wrap="square" rtlCol="0">
            <a:spAutoFit/>
          </a:bodyPr>
          <a:lstStyle/>
          <a:p>
            <a:pPr algn="ctr"/>
            <a:r>
              <a:rPr kumimoji="1" lang="en-US" altLang="ja-JP" b="1" dirty="0"/>
              <a:t>DS1 </a:t>
            </a:r>
            <a:r>
              <a:rPr kumimoji="1" lang="ja-JP" altLang="en-US" b="1" dirty="0"/>
              <a:t>比較結果</a:t>
            </a:r>
          </a:p>
        </p:txBody>
      </p:sp>
      <p:graphicFrame>
        <p:nvGraphicFramePr>
          <p:cNvPr id="3" name="表 2">
            <a:extLst>
              <a:ext uri="{FF2B5EF4-FFF2-40B4-BE49-F238E27FC236}">
                <a16:creationId xmlns:a16="http://schemas.microsoft.com/office/drawing/2014/main" id="{50960F2A-B7F2-7BC6-0CA7-A1B160688C35}"/>
              </a:ext>
            </a:extLst>
          </p:cNvPr>
          <p:cNvGraphicFramePr>
            <a:graphicFrameLocks noGrp="1"/>
          </p:cNvGraphicFramePr>
          <p:nvPr>
            <p:extLst>
              <p:ext uri="{D42A27DB-BD31-4B8C-83A1-F6EECF244321}">
                <p14:modId xmlns:p14="http://schemas.microsoft.com/office/powerpoint/2010/main" val="1793181948"/>
              </p:ext>
            </p:extLst>
          </p:nvPr>
        </p:nvGraphicFramePr>
        <p:xfrm>
          <a:off x="1046747" y="4165725"/>
          <a:ext cx="9553076" cy="1381760"/>
        </p:xfrm>
        <a:graphic>
          <a:graphicData uri="http://schemas.openxmlformats.org/drawingml/2006/table">
            <a:tbl>
              <a:tblPr firstRow="1" bandRow="1">
                <a:tableStyleId>{5C22544A-7EE6-4342-B048-85BDC9FD1C3A}</a:tableStyleId>
              </a:tblPr>
              <a:tblGrid>
                <a:gridCol w="1700522">
                  <a:extLst>
                    <a:ext uri="{9D8B030D-6E8A-4147-A177-3AD203B41FA5}">
                      <a16:colId xmlns:a16="http://schemas.microsoft.com/office/drawing/2014/main" val="820177428"/>
                    </a:ext>
                  </a:extLst>
                </a:gridCol>
                <a:gridCol w="1175026">
                  <a:extLst>
                    <a:ext uri="{9D8B030D-6E8A-4147-A177-3AD203B41FA5}">
                      <a16:colId xmlns:a16="http://schemas.microsoft.com/office/drawing/2014/main" val="379214798"/>
                    </a:ext>
                  </a:extLst>
                </a:gridCol>
                <a:gridCol w="1275347">
                  <a:extLst>
                    <a:ext uri="{9D8B030D-6E8A-4147-A177-3AD203B41FA5}">
                      <a16:colId xmlns:a16="http://schemas.microsoft.com/office/drawing/2014/main" val="646519767"/>
                    </a:ext>
                  </a:extLst>
                </a:gridCol>
                <a:gridCol w="1239253">
                  <a:extLst>
                    <a:ext uri="{9D8B030D-6E8A-4147-A177-3AD203B41FA5}">
                      <a16:colId xmlns:a16="http://schemas.microsoft.com/office/drawing/2014/main" val="3964003927"/>
                    </a:ext>
                  </a:extLst>
                </a:gridCol>
                <a:gridCol w="1545410">
                  <a:extLst>
                    <a:ext uri="{9D8B030D-6E8A-4147-A177-3AD203B41FA5}">
                      <a16:colId xmlns:a16="http://schemas.microsoft.com/office/drawing/2014/main" val="1798176600"/>
                    </a:ext>
                  </a:extLst>
                </a:gridCol>
                <a:gridCol w="1308759">
                  <a:extLst>
                    <a:ext uri="{9D8B030D-6E8A-4147-A177-3AD203B41FA5}">
                      <a16:colId xmlns:a16="http://schemas.microsoft.com/office/drawing/2014/main" val="2602626616"/>
                    </a:ext>
                  </a:extLst>
                </a:gridCol>
                <a:gridCol w="1308759">
                  <a:extLst>
                    <a:ext uri="{9D8B030D-6E8A-4147-A177-3AD203B41FA5}">
                      <a16:colId xmlns:a16="http://schemas.microsoft.com/office/drawing/2014/main" val="3419468142"/>
                    </a:ext>
                  </a:extLst>
                </a:gridCol>
              </a:tblGrid>
              <a:tr h="370840">
                <a:tc>
                  <a:txBody>
                    <a:bodyPr/>
                    <a:lstStyle/>
                    <a:p>
                      <a:pPr algn="ctr"/>
                      <a:r>
                        <a:rPr kumimoji="1" lang="ja-JP" altLang="en-US" b="1" dirty="0">
                          <a:solidFill>
                            <a:schemeClr val="bg1"/>
                          </a:solidFill>
                        </a:rPr>
                        <a:t>対象</a:t>
                      </a:r>
                    </a:p>
                  </a:txBody>
                  <a:tcPr/>
                </a:tc>
                <a:tc>
                  <a:txBody>
                    <a:bodyPr/>
                    <a:lstStyle/>
                    <a:p>
                      <a:pPr algn="ctr"/>
                      <a:r>
                        <a:rPr kumimoji="1" lang="ja-JP" altLang="en-US" dirty="0"/>
                        <a:t>最小数</a:t>
                      </a:r>
                    </a:p>
                  </a:txBody>
                  <a:tcPr/>
                </a:tc>
                <a:tc>
                  <a:txBody>
                    <a:bodyPr/>
                    <a:lstStyle/>
                    <a:p>
                      <a:pPr algn="ctr"/>
                      <a:r>
                        <a:rPr kumimoji="1" lang="ja-JP" altLang="en-US" dirty="0"/>
                        <a:t>最大数</a:t>
                      </a:r>
                    </a:p>
                  </a:txBody>
                  <a:tcPr/>
                </a:tc>
                <a:tc>
                  <a:txBody>
                    <a:bodyPr/>
                    <a:lstStyle/>
                    <a:p>
                      <a:pPr algn="ctr"/>
                      <a:r>
                        <a:rPr kumimoji="1" lang="ja-JP" altLang="en-US" dirty="0"/>
                        <a:t>平均数</a:t>
                      </a:r>
                    </a:p>
                  </a:txBody>
                  <a:tcPr/>
                </a:tc>
                <a:tc>
                  <a:txBody>
                    <a:bodyPr/>
                    <a:lstStyle/>
                    <a:p>
                      <a:pPr algn="ctr"/>
                      <a:r>
                        <a:rPr kumimoji="1" lang="ja-JP" altLang="en-US" dirty="0"/>
                        <a:t>平均抽出率</a:t>
                      </a:r>
                    </a:p>
                  </a:txBody>
                  <a:tcPr/>
                </a:tc>
                <a:tc>
                  <a:txBody>
                    <a:bodyPr/>
                    <a:lstStyle/>
                    <a:p>
                      <a:pPr algn="ctr"/>
                      <a:r>
                        <a:rPr kumimoji="1" lang="ja-JP" altLang="en-US" dirty="0"/>
                        <a:t>書式の</a:t>
                      </a:r>
                      <a:endParaRPr kumimoji="1" lang="en-US" altLang="ja-JP" dirty="0"/>
                    </a:p>
                    <a:p>
                      <a:pPr algn="ctr"/>
                      <a:r>
                        <a:rPr kumimoji="1" lang="ja-JP" altLang="en-US" dirty="0"/>
                        <a:t>統一性</a:t>
                      </a:r>
                    </a:p>
                  </a:txBody>
                  <a:tcPr/>
                </a:tc>
                <a:tc>
                  <a:txBody>
                    <a:bodyPr/>
                    <a:lstStyle/>
                    <a:p>
                      <a:pPr algn="ctr"/>
                      <a:r>
                        <a:rPr kumimoji="1" lang="ja-JP" altLang="en-US" dirty="0"/>
                        <a:t>平均時間</a:t>
                      </a:r>
                    </a:p>
                  </a:txBody>
                  <a:tcPr/>
                </a:tc>
                <a:extLst>
                  <a:ext uri="{0D108BD9-81ED-4DB2-BD59-A6C34878D82A}">
                    <a16:rowId xmlns:a16="http://schemas.microsoft.com/office/drawing/2014/main" val="3716155245"/>
                  </a:ext>
                </a:extLst>
              </a:tr>
              <a:tr h="370840">
                <a:tc>
                  <a:txBody>
                    <a:bodyPr/>
                    <a:lstStyle/>
                    <a:p>
                      <a:pPr algn="ctr"/>
                      <a:r>
                        <a:rPr kumimoji="1" lang="ja-JP" altLang="en-US" b="1" dirty="0">
                          <a:solidFill>
                            <a:schemeClr val="bg1"/>
                          </a:solidFill>
                        </a:rPr>
                        <a:t>素の生成</a:t>
                      </a:r>
                      <a:r>
                        <a:rPr kumimoji="1" lang="en-US" altLang="ja-JP" b="1" dirty="0">
                          <a:solidFill>
                            <a:schemeClr val="bg1"/>
                          </a:solidFill>
                        </a:rPr>
                        <a:t>AI</a:t>
                      </a:r>
                      <a:endParaRPr kumimoji="1" lang="ja-JP" altLang="en-US" b="1" dirty="0">
                        <a:solidFill>
                          <a:schemeClr val="bg1"/>
                        </a:solidFill>
                      </a:endParaRPr>
                    </a:p>
                  </a:txBody>
                  <a:tcPr>
                    <a:solidFill>
                      <a:schemeClr val="accent1"/>
                    </a:solidFill>
                  </a:tcPr>
                </a:tc>
                <a:tc>
                  <a:txBody>
                    <a:bodyPr/>
                    <a:lstStyle/>
                    <a:p>
                      <a:pPr algn="ctr"/>
                      <a:r>
                        <a:rPr kumimoji="1" lang="en-US" altLang="ja-JP" dirty="0"/>
                        <a:t>7</a:t>
                      </a:r>
                      <a:endParaRPr kumimoji="1" lang="ja-JP" altLang="en-US" dirty="0"/>
                    </a:p>
                  </a:txBody>
                  <a:tcPr/>
                </a:tc>
                <a:tc>
                  <a:txBody>
                    <a:bodyPr/>
                    <a:lstStyle/>
                    <a:p>
                      <a:pPr algn="ctr"/>
                      <a:r>
                        <a:rPr kumimoji="1" lang="en-US" altLang="ja-JP" dirty="0"/>
                        <a:t>12</a:t>
                      </a:r>
                      <a:endParaRPr kumimoji="1" lang="ja-JP" altLang="en-US" dirty="0"/>
                    </a:p>
                  </a:txBody>
                  <a:tcPr/>
                </a:tc>
                <a:tc>
                  <a:txBody>
                    <a:bodyPr/>
                    <a:lstStyle/>
                    <a:p>
                      <a:pPr algn="ctr"/>
                      <a:r>
                        <a:rPr kumimoji="1" lang="en-US" altLang="ja-JP" dirty="0"/>
                        <a:t>9.7</a:t>
                      </a:r>
                      <a:endParaRPr kumimoji="1" lang="ja-JP" altLang="en-US" dirty="0"/>
                    </a:p>
                  </a:txBody>
                  <a:tcPr/>
                </a:tc>
                <a:tc>
                  <a:txBody>
                    <a:bodyPr/>
                    <a:lstStyle/>
                    <a:p>
                      <a:pPr algn="ctr"/>
                      <a:r>
                        <a:rPr kumimoji="1" lang="en-US" altLang="ja-JP" dirty="0"/>
                        <a:t>69.29%</a:t>
                      </a:r>
                      <a:endParaRPr kumimoji="1" lang="ja-JP" altLang="en-US" dirty="0"/>
                    </a:p>
                  </a:txBody>
                  <a:tcPr/>
                </a:tc>
                <a:tc>
                  <a:txBody>
                    <a:bodyPr/>
                    <a:lstStyle/>
                    <a:p>
                      <a:pPr algn="ctr"/>
                      <a:r>
                        <a:rPr kumimoji="1" lang="en-US" altLang="ja-JP" b="1" dirty="0"/>
                        <a:t>×</a:t>
                      </a:r>
                      <a:endParaRPr kumimoji="1" lang="ja-JP" altLang="en-US" b="1" dirty="0"/>
                    </a:p>
                  </a:txBody>
                  <a:tcPr/>
                </a:tc>
                <a:tc>
                  <a:txBody>
                    <a:bodyPr/>
                    <a:lstStyle/>
                    <a:p>
                      <a:pPr algn="ctr"/>
                      <a:r>
                        <a:rPr kumimoji="1" lang="en-US" altLang="ja-JP" dirty="0"/>
                        <a:t>2m49s</a:t>
                      </a:r>
                      <a:endParaRPr kumimoji="1" lang="ja-JP" altLang="en-US" dirty="0"/>
                    </a:p>
                  </a:txBody>
                  <a:tcPr/>
                </a:tc>
                <a:extLst>
                  <a:ext uri="{0D108BD9-81ED-4DB2-BD59-A6C34878D82A}">
                    <a16:rowId xmlns:a16="http://schemas.microsoft.com/office/drawing/2014/main" val="166596958"/>
                  </a:ext>
                </a:extLst>
              </a:tr>
              <a:tr h="370840">
                <a:tc>
                  <a:txBody>
                    <a:bodyPr/>
                    <a:lstStyle/>
                    <a:p>
                      <a:pPr algn="ctr"/>
                      <a:r>
                        <a:rPr kumimoji="1" lang="ja-JP" altLang="en-US" b="1" dirty="0">
                          <a:solidFill>
                            <a:schemeClr val="bg1"/>
                          </a:solidFill>
                        </a:rPr>
                        <a:t>本研究</a:t>
                      </a:r>
                    </a:p>
                  </a:txBody>
                  <a:tcPr>
                    <a:solidFill>
                      <a:schemeClr val="accent1"/>
                    </a:solidFill>
                  </a:tcPr>
                </a:tc>
                <a:tc>
                  <a:txBody>
                    <a:bodyPr/>
                    <a:lstStyle/>
                    <a:p>
                      <a:pPr algn="ctr"/>
                      <a:r>
                        <a:rPr kumimoji="1" lang="en-US" altLang="ja-JP" dirty="0"/>
                        <a:t>9</a:t>
                      </a:r>
                      <a:endParaRPr kumimoji="1" lang="ja-JP" altLang="en-US" dirty="0"/>
                    </a:p>
                  </a:txBody>
                  <a:tcPr/>
                </a:tc>
                <a:tc>
                  <a:txBody>
                    <a:bodyPr/>
                    <a:lstStyle/>
                    <a:p>
                      <a:pPr algn="ctr"/>
                      <a:r>
                        <a:rPr kumimoji="1" lang="en-US" altLang="ja-JP" dirty="0"/>
                        <a:t>14</a:t>
                      </a:r>
                      <a:endParaRPr kumimoji="1" lang="ja-JP" altLang="en-US" dirty="0"/>
                    </a:p>
                  </a:txBody>
                  <a:tcPr/>
                </a:tc>
                <a:tc>
                  <a:txBody>
                    <a:bodyPr/>
                    <a:lstStyle/>
                    <a:p>
                      <a:pPr algn="ctr"/>
                      <a:r>
                        <a:rPr kumimoji="1" lang="en-US" altLang="ja-JP" dirty="0"/>
                        <a:t>10.7</a:t>
                      </a:r>
                      <a:endParaRPr kumimoji="1" lang="ja-JP" altLang="en-US" dirty="0"/>
                    </a:p>
                  </a:txBody>
                  <a:tcPr/>
                </a:tc>
                <a:tc>
                  <a:txBody>
                    <a:bodyPr/>
                    <a:lstStyle/>
                    <a:p>
                      <a:pPr algn="ctr"/>
                      <a:r>
                        <a:rPr kumimoji="1" lang="en-US" altLang="ja-JP" dirty="0"/>
                        <a:t>76.43%</a:t>
                      </a:r>
                      <a:endParaRPr kumimoji="1" lang="ja-JP" altLang="en-US" dirty="0"/>
                    </a:p>
                  </a:txBody>
                  <a:tcPr/>
                </a:tc>
                <a:tc>
                  <a:txBody>
                    <a:bodyPr/>
                    <a:lstStyle/>
                    <a:p>
                      <a:pPr algn="ctr"/>
                      <a:r>
                        <a:rPr kumimoji="1" lang="ja-JP" altLang="en-US" b="1" dirty="0"/>
                        <a:t>〇</a:t>
                      </a:r>
                    </a:p>
                  </a:txBody>
                  <a:tcPr/>
                </a:tc>
                <a:tc>
                  <a:txBody>
                    <a:bodyPr/>
                    <a:lstStyle/>
                    <a:p>
                      <a:pPr algn="ctr"/>
                      <a:r>
                        <a:rPr kumimoji="1" lang="en-US" altLang="ja-JP" dirty="0"/>
                        <a:t>2m43s</a:t>
                      </a:r>
                      <a:endParaRPr kumimoji="1" lang="ja-JP" altLang="en-US" dirty="0"/>
                    </a:p>
                  </a:txBody>
                  <a:tcPr/>
                </a:tc>
                <a:extLst>
                  <a:ext uri="{0D108BD9-81ED-4DB2-BD59-A6C34878D82A}">
                    <a16:rowId xmlns:a16="http://schemas.microsoft.com/office/drawing/2014/main" val="1708143926"/>
                  </a:ext>
                </a:extLst>
              </a:tr>
            </a:tbl>
          </a:graphicData>
        </a:graphic>
      </p:graphicFrame>
      <p:sp>
        <p:nvSpPr>
          <p:cNvPr id="8" name="テキスト ボックス 7">
            <a:extLst>
              <a:ext uri="{FF2B5EF4-FFF2-40B4-BE49-F238E27FC236}">
                <a16:creationId xmlns:a16="http://schemas.microsoft.com/office/drawing/2014/main" id="{FC899BD6-9A1B-321F-8CDF-C572EA4B408D}"/>
              </a:ext>
            </a:extLst>
          </p:cNvPr>
          <p:cNvSpPr txBox="1"/>
          <p:nvPr/>
        </p:nvSpPr>
        <p:spPr>
          <a:xfrm>
            <a:off x="1046747" y="3776251"/>
            <a:ext cx="9553076" cy="369332"/>
          </a:xfrm>
          <a:prstGeom prst="rect">
            <a:avLst/>
          </a:prstGeom>
          <a:noFill/>
        </p:spPr>
        <p:txBody>
          <a:bodyPr wrap="square" rtlCol="0">
            <a:spAutoFit/>
          </a:bodyPr>
          <a:lstStyle/>
          <a:p>
            <a:pPr algn="ctr"/>
            <a:r>
              <a:rPr kumimoji="1" lang="en-US" altLang="ja-JP" b="1" dirty="0"/>
              <a:t>DS2 </a:t>
            </a:r>
            <a:r>
              <a:rPr kumimoji="1" lang="ja-JP" altLang="en-US" b="1" dirty="0"/>
              <a:t>比較結果</a:t>
            </a:r>
          </a:p>
        </p:txBody>
      </p:sp>
      <p:sp>
        <p:nvSpPr>
          <p:cNvPr id="6" name="テキスト ボックス 5">
            <a:extLst>
              <a:ext uri="{FF2B5EF4-FFF2-40B4-BE49-F238E27FC236}">
                <a16:creationId xmlns:a16="http://schemas.microsoft.com/office/drawing/2014/main" id="{30FA2AF0-0AAF-8F5F-D0B6-F1AC0F94A0ED}"/>
              </a:ext>
            </a:extLst>
          </p:cNvPr>
          <p:cNvSpPr txBox="1"/>
          <p:nvPr/>
        </p:nvSpPr>
        <p:spPr>
          <a:xfrm>
            <a:off x="1303507" y="5897899"/>
            <a:ext cx="8648521" cy="400110"/>
          </a:xfrm>
          <a:prstGeom prst="rect">
            <a:avLst/>
          </a:prstGeom>
          <a:noFill/>
        </p:spPr>
        <p:txBody>
          <a:bodyPr wrap="none" rtlCol="0">
            <a:spAutoFit/>
          </a:bodyPr>
          <a:lstStyle/>
          <a:p>
            <a:r>
              <a:rPr kumimoji="1" lang="ja-JP" altLang="en-US" sz="2000" b="1" dirty="0"/>
              <a:t>温度調整・段階処理・テンプレートエンジンによって、精度・品質が向上</a:t>
            </a:r>
          </a:p>
        </p:txBody>
      </p:sp>
    </p:spTree>
    <p:extLst>
      <p:ext uri="{BB962C8B-B14F-4D97-AF65-F5344CB8AC3E}">
        <p14:creationId xmlns:p14="http://schemas.microsoft.com/office/powerpoint/2010/main" val="3714662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EBC5C0-DAEB-24D4-71E9-F99F7953C98F}"/>
              </a:ext>
            </a:extLst>
          </p:cNvPr>
          <p:cNvSpPr>
            <a:spLocks noGrp="1"/>
          </p:cNvSpPr>
          <p:nvPr>
            <p:ph type="title"/>
          </p:nvPr>
        </p:nvSpPr>
        <p:spPr/>
        <p:txBody>
          <a:bodyPr/>
          <a:lstStyle/>
          <a:p>
            <a:r>
              <a:rPr kumimoji="1" lang="ja-JP" altLang="en-US" dirty="0"/>
              <a:t>比較②</a:t>
            </a:r>
            <a:r>
              <a:rPr kumimoji="1" lang="en-US" altLang="ja-JP" dirty="0"/>
              <a:t>: </a:t>
            </a:r>
            <a:r>
              <a:rPr kumimoji="1" lang="ja-JP" altLang="en-US" dirty="0"/>
              <a:t>本研究プログラム </a:t>
            </a:r>
            <a:r>
              <a:rPr kumimoji="1" lang="en-US" altLang="ja-JP" dirty="0"/>
              <a:t>vs </a:t>
            </a:r>
            <a:r>
              <a:rPr kumimoji="1" lang="ja-JP" altLang="en-US" dirty="0"/>
              <a:t>人手作成</a:t>
            </a:r>
          </a:p>
        </p:txBody>
      </p:sp>
      <p:sp>
        <p:nvSpPr>
          <p:cNvPr id="4" name="スライド番号プレースホルダー 3">
            <a:extLst>
              <a:ext uri="{FF2B5EF4-FFF2-40B4-BE49-F238E27FC236}">
                <a16:creationId xmlns:a16="http://schemas.microsoft.com/office/drawing/2014/main" id="{E045C1DE-5D0D-14BF-4F80-D0766FB6C07C}"/>
              </a:ext>
            </a:extLst>
          </p:cNvPr>
          <p:cNvSpPr>
            <a:spLocks noGrp="1"/>
          </p:cNvSpPr>
          <p:nvPr>
            <p:ph type="sldNum" sz="quarter" idx="12"/>
          </p:nvPr>
        </p:nvSpPr>
        <p:spPr/>
        <p:txBody>
          <a:bodyPr/>
          <a:lstStyle/>
          <a:p>
            <a:fld id="{F32C8F3A-98E9-46B1-BAC9-77D093337233}" type="slidenum">
              <a:rPr kumimoji="1" lang="ja-JP" altLang="en-US" smtClean="0"/>
              <a:t>14</a:t>
            </a:fld>
            <a:endParaRPr kumimoji="1" lang="ja-JP" altLang="en-US"/>
          </a:p>
        </p:txBody>
      </p:sp>
      <p:graphicFrame>
        <p:nvGraphicFramePr>
          <p:cNvPr id="8" name="表 7">
            <a:extLst>
              <a:ext uri="{FF2B5EF4-FFF2-40B4-BE49-F238E27FC236}">
                <a16:creationId xmlns:a16="http://schemas.microsoft.com/office/drawing/2014/main" id="{C17DB10E-03B8-2AEC-7FD2-CF4711044EE0}"/>
              </a:ext>
            </a:extLst>
          </p:cNvPr>
          <p:cNvGraphicFramePr>
            <a:graphicFrameLocks noGrp="1"/>
          </p:cNvGraphicFramePr>
          <p:nvPr>
            <p:extLst>
              <p:ext uri="{D42A27DB-BD31-4B8C-83A1-F6EECF244321}">
                <p14:modId xmlns:p14="http://schemas.microsoft.com/office/powerpoint/2010/main" val="3721237503"/>
              </p:ext>
            </p:extLst>
          </p:nvPr>
        </p:nvGraphicFramePr>
        <p:xfrm>
          <a:off x="1046747" y="2100304"/>
          <a:ext cx="9553076" cy="1381760"/>
        </p:xfrm>
        <a:graphic>
          <a:graphicData uri="http://schemas.openxmlformats.org/drawingml/2006/table">
            <a:tbl>
              <a:tblPr firstRow="1" bandRow="1">
                <a:tableStyleId>{5C22544A-7EE6-4342-B048-85BDC9FD1C3A}</a:tableStyleId>
              </a:tblPr>
              <a:tblGrid>
                <a:gridCol w="1700522">
                  <a:extLst>
                    <a:ext uri="{9D8B030D-6E8A-4147-A177-3AD203B41FA5}">
                      <a16:colId xmlns:a16="http://schemas.microsoft.com/office/drawing/2014/main" val="820177428"/>
                    </a:ext>
                  </a:extLst>
                </a:gridCol>
                <a:gridCol w="1175026">
                  <a:extLst>
                    <a:ext uri="{9D8B030D-6E8A-4147-A177-3AD203B41FA5}">
                      <a16:colId xmlns:a16="http://schemas.microsoft.com/office/drawing/2014/main" val="379214798"/>
                    </a:ext>
                  </a:extLst>
                </a:gridCol>
                <a:gridCol w="1275347">
                  <a:extLst>
                    <a:ext uri="{9D8B030D-6E8A-4147-A177-3AD203B41FA5}">
                      <a16:colId xmlns:a16="http://schemas.microsoft.com/office/drawing/2014/main" val="646519767"/>
                    </a:ext>
                  </a:extLst>
                </a:gridCol>
                <a:gridCol w="1239253">
                  <a:extLst>
                    <a:ext uri="{9D8B030D-6E8A-4147-A177-3AD203B41FA5}">
                      <a16:colId xmlns:a16="http://schemas.microsoft.com/office/drawing/2014/main" val="3964003927"/>
                    </a:ext>
                  </a:extLst>
                </a:gridCol>
                <a:gridCol w="1545410">
                  <a:extLst>
                    <a:ext uri="{9D8B030D-6E8A-4147-A177-3AD203B41FA5}">
                      <a16:colId xmlns:a16="http://schemas.microsoft.com/office/drawing/2014/main" val="1798176600"/>
                    </a:ext>
                  </a:extLst>
                </a:gridCol>
                <a:gridCol w="1308759">
                  <a:extLst>
                    <a:ext uri="{9D8B030D-6E8A-4147-A177-3AD203B41FA5}">
                      <a16:colId xmlns:a16="http://schemas.microsoft.com/office/drawing/2014/main" val="2602626616"/>
                    </a:ext>
                  </a:extLst>
                </a:gridCol>
                <a:gridCol w="1308759">
                  <a:extLst>
                    <a:ext uri="{9D8B030D-6E8A-4147-A177-3AD203B41FA5}">
                      <a16:colId xmlns:a16="http://schemas.microsoft.com/office/drawing/2014/main" val="3419468142"/>
                    </a:ext>
                  </a:extLst>
                </a:gridCol>
              </a:tblGrid>
              <a:tr h="370840">
                <a:tc>
                  <a:txBody>
                    <a:bodyPr/>
                    <a:lstStyle/>
                    <a:p>
                      <a:pPr algn="ctr"/>
                      <a:r>
                        <a:rPr kumimoji="1" lang="ja-JP" altLang="en-US" b="1" dirty="0">
                          <a:solidFill>
                            <a:schemeClr val="bg1"/>
                          </a:solidFill>
                        </a:rPr>
                        <a:t>対象</a:t>
                      </a:r>
                    </a:p>
                  </a:txBody>
                  <a:tcPr/>
                </a:tc>
                <a:tc>
                  <a:txBody>
                    <a:bodyPr/>
                    <a:lstStyle/>
                    <a:p>
                      <a:pPr algn="ctr"/>
                      <a:r>
                        <a:rPr kumimoji="1" lang="ja-JP" altLang="en-US"/>
                        <a:t>最小数</a:t>
                      </a:r>
                      <a:endParaRPr kumimoji="1" lang="ja-JP" altLang="en-US" dirty="0"/>
                    </a:p>
                  </a:txBody>
                  <a:tcPr/>
                </a:tc>
                <a:tc>
                  <a:txBody>
                    <a:bodyPr/>
                    <a:lstStyle/>
                    <a:p>
                      <a:pPr algn="ctr"/>
                      <a:r>
                        <a:rPr kumimoji="1" lang="ja-JP" altLang="en-US"/>
                        <a:t>最大数</a:t>
                      </a:r>
                      <a:endParaRPr kumimoji="1" lang="ja-JP" altLang="en-US" dirty="0"/>
                    </a:p>
                  </a:txBody>
                  <a:tcPr/>
                </a:tc>
                <a:tc>
                  <a:txBody>
                    <a:bodyPr/>
                    <a:lstStyle/>
                    <a:p>
                      <a:pPr algn="ctr"/>
                      <a:r>
                        <a:rPr kumimoji="1" lang="ja-JP" altLang="en-US"/>
                        <a:t>平均数</a:t>
                      </a:r>
                      <a:endParaRPr kumimoji="1" lang="ja-JP" altLang="en-US" dirty="0"/>
                    </a:p>
                  </a:txBody>
                  <a:tcPr/>
                </a:tc>
                <a:tc>
                  <a:txBody>
                    <a:bodyPr/>
                    <a:lstStyle/>
                    <a:p>
                      <a:pPr algn="ctr"/>
                      <a:r>
                        <a:rPr kumimoji="1" lang="ja-JP" altLang="en-US"/>
                        <a:t>平均抽出率</a:t>
                      </a:r>
                      <a:endParaRPr kumimoji="1" lang="ja-JP" altLang="en-US" dirty="0"/>
                    </a:p>
                  </a:txBody>
                  <a:tcPr/>
                </a:tc>
                <a:tc>
                  <a:txBody>
                    <a:bodyPr/>
                    <a:lstStyle/>
                    <a:p>
                      <a:pPr algn="ctr"/>
                      <a:r>
                        <a:rPr kumimoji="1" lang="ja-JP" altLang="en-US" dirty="0"/>
                        <a:t>重要項目の抽出率</a:t>
                      </a:r>
                    </a:p>
                  </a:txBody>
                  <a:tcPr/>
                </a:tc>
                <a:tc>
                  <a:txBody>
                    <a:bodyPr/>
                    <a:lstStyle/>
                    <a:p>
                      <a:pPr algn="ctr"/>
                      <a:r>
                        <a:rPr kumimoji="1" lang="ja-JP" altLang="en-US"/>
                        <a:t>平均時間</a:t>
                      </a:r>
                      <a:endParaRPr kumimoji="1" lang="ja-JP" altLang="en-US" dirty="0"/>
                    </a:p>
                  </a:txBody>
                  <a:tcPr/>
                </a:tc>
                <a:extLst>
                  <a:ext uri="{0D108BD9-81ED-4DB2-BD59-A6C34878D82A}">
                    <a16:rowId xmlns:a16="http://schemas.microsoft.com/office/drawing/2014/main" val="371615524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b="1" dirty="0">
                          <a:solidFill>
                            <a:schemeClr val="bg1"/>
                          </a:solidFill>
                        </a:rPr>
                        <a:t>本研究</a:t>
                      </a:r>
                    </a:p>
                  </a:txBody>
                  <a:tcPr>
                    <a:solidFill>
                      <a:schemeClr val="accent1"/>
                    </a:solidFill>
                  </a:tcPr>
                </a:tc>
                <a:tc>
                  <a:txBody>
                    <a:bodyPr/>
                    <a:lstStyle/>
                    <a:p>
                      <a:pPr algn="ctr"/>
                      <a:r>
                        <a:rPr kumimoji="1" lang="en-US" altLang="ja-JP" dirty="0"/>
                        <a:t>8</a:t>
                      </a:r>
                      <a:endParaRPr kumimoji="1" lang="ja-JP" altLang="en-US" dirty="0"/>
                    </a:p>
                  </a:txBody>
                  <a:tcPr/>
                </a:tc>
                <a:tc>
                  <a:txBody>
                    <a:bodyPr/>
                    <a:lstStyle/>
                    <a:p>
                      <a:pPr algn="ctr"/>
                      <a:r>
                        <a:rPr kumimoji="1" lang="en-US" altLang="ja-JP" dirty="0"/>
                        <a:t>10</a:t>
                      </a:r>
                      <a:endParaRPr kumimoji="1" lang="ja-JP" altLang="en-US" dirty="0"/>
                    </a:p>
                  </a:txBody>
                  <a:tcPr/>
                </a:tc>
                <a:tc>
                  <a:txBody>
                    <a:bodyPr/>
                    <a:lstStyle/>
                    <a:p>
                      <a:pPr algn="ctr"/>
                      <a:r>
                        <a:rPr kumimoji="1" lang="en-US" altLang="ja-JP" dirty="0"/>
                        <a:t>8.4</a:t>
                      </a:r>
                      <a:endParaRPr kumimoji="1" lang="ja-JP" altLang="en-US" dirty="0"/>
                    </a:p>
                  </a:txBody>
                  <a:tcPr/>
                </a:tc>
                <a:tc>
                  <a:txBody>
                    <a:bodyPr/>
                    <a:lstStyle/>
                    <a:p>
                      <a:pPr algn="ctr"/>
                      <a:r>
                        <a:rPr kumimoji="1" lang="en-US" altLang="ja-JP" dirty="0"/>
                        <a:t>93.33%</a:t>
                      </a:r>
                      <a:endParaRPr kumimoji="1" lang="ja-JP" altLang="en-US" dirty="0"/>
                    </a:p>
                  </a:txBody>
                  <a:tcPr/>
                </a:tc>
                <a:tc>
                  <a:txBody>
                    <a:bodyPr/>
                    <a:lstStyle/>
                    <a:p>
                      <a:pPr algn="ctr"/>
                      <a:r>
                        <a:rPr kumimoji="1" lang="en-US" altLang="ja-JP" b="0" dirty="0"/>
                        <a:t>87%</a:t>
                      </a:r>
                      <a:endParaRPr kumimoji="1" lang="ja-JP" altLang="en-US" b="0" dirty="0"/>
                    </a:p>
                  </a:txBody>
                  <a:tcPr/>
                </a:tc>
                <a:tc>
                  <a:txBody>
                    <a:bodyPr/>
                    <a:lstStyle/>
                    <a:p>
                      <a:pPr algn="ctr"/>
                      <a:r>
                        <a:rPr kumimoji="1" lang="en-US" altLang="ja-JP" dirty="0"/>
                        <a:t>2m04s</a:t>
                      </a:r>
                      <a:endParaRPr kumimoji="1" lang="ja-JP" altLang="en-US" dirty="0"/>
                    </a:p>
                  </a:txBody>
                  <a:tcPr/>
                </a:tc>
                <a:extLst>
                  <a:ext uri="{0D108BD9-81ED-4DB2-BD59-A6C34878D82A}">
                    <a16:rowId xmlns:a16="http://schemas.microsoft.com/office/drawing/2014/main" val="166596958"/>
                  </a:ext>
                </a:extLst>
              </a:tr>
              <a:tr h="370840">
                <a:tc>
                  <a:txBody>
                    <a:bodyPr/>
                    <a:lstStyle/>
                    <a:p>
                      <a:pPr algn="ctr"/>
                      <a:r>
                        <a:rPr kumimoji="1" lang="ja-JP" altLang="en-US" b="1" dirty="0">
                          <a:solidFill>
                            <a:schemeClr val="bg1"/>
                          </a:solidFill>
                        </a:rPr>
                        <a:t>人</a:t>
                      </a:r>
                    </a:p>
                  </a:txBody>
                  <a:tcPr>
                    <a:solidFill>
                      <a:schemeClr val="accent1"/>
                    </a:solidFill>
                  </a:tcPr>
                </a:tc>
                <a:tc>
                  <a:txBody>
                    <a:bodyPr/>
                    <a:lstStyle/>
                    <a:p>
                      <a:pPr algn="ctr"/>
                      <a:r>
                        <a:rPr kumimoji="1" lang="en-US" altLang="ja-JP" dirty="0"/>
                        <a:t>9</a:t>
                      </a:r>
                      <a:endParaRPr kumimoji="1" lang="ja-JP" altLang="en-US" dirty="0"/>
                    </a:p>
                  </a:txBody>
                  <a:tcPr/>
                </a:tc>
                <a:tc>
                  <a:txBody>
                    <a:bodyPr/>
                    <a:lstStyle/>
                    <a:p>
                      <a:pPr algn="ctr"/>
                      <a:r>
                        <a:rPr kumimoji="1" lang="en-US" altLang="ja-JP" dirty="0"/>
                        <a:t>9</a:t>
                      </a:r>
                      <a:endParaRPr kumimoji="1" lang="ja-JP" altLang="en-US" dirty="0"/>
                    </a:p>
                  </a:txBody>
                  <a:tcPr/>
                </a:tc>
                <a:tc>
                  <a:txBody>
                    <a:bodyPr/>
                    <a:lstStyle/>
                    <a:p>
                      <a:pPr algn="ctr"/>
                      <a:r>
                        <a:rPr kumimoji="1" lang="en-US" altLang="ja-JP" dirty="0"/>
                        <a:t>9</a:t>
                      </a:r>
                      <a:endParaRPr kumimoji="1" lang="ja-JP" altLang="en-US" dirty="0"/>
                    </a:p>
                  </a:txBody>
                  <a:tcPr/>
                </a:tc>
                <a:tc>
                  <a:txBody>
                    <a:bodyPr/>
                    <a:lstStyle/>
                    <a:p>
                      <a:pPr algn="ctr"/>
                      <a:r>
                        <a:rPr kumimoji="1" lang="en-US" altLang="ja-JP" dirty="0"/>
                        <a:t>100%</a:t>
                      </a:r>
                      <a:endParaRPr kumimoji="1" lang="ja-JP" altLang="en-US" dirty="0"/>
                    </a:p>
                  </a:txBody>
                  <a:tcPr/>
                </a:tc>
                <a:tc>
                  <a:txBody>
                    <a:bodyPr/>
                    <a:lstStyle/>
                    <a:p>
                      <a:pPr algn="ctr"/>
                      <a:r>
                        <a:rPr kumimoji="1" lang="en-US" altLang="ja-JP" dirty="0"/>
                        <a:t>100%</a:t>
                      </a:r>
                      <a:endParaRPr kumimoji="1" lang="ja-JP" altLang="en-US" dirty="0"/>
                    </a:p>
                  </a:txBody>
                  <a:tcPr/>
                </a:tc>
                <a:tc>
                  <a:txBody>
                    <a:bodyPr/>
                    <a:lstStyle/>
                    <a:p>
                      <a:pPr algn="ctr"/>
                      <a:r>
                        <a:rPr kumimoji="1" lang="en-US" altLang="ja-JP" dirty="0"/>
                        <a:t>196m27s</a:t>
                      </a:r>
                      <a:endParaRPr kumimoji="1" lang="ja-JP" altLang="en-US" dirty="0"/>
                    </a:p>
                  </a:txBody>
                  <a:tcPr/>
                </a:tc>
                <a:extLst>
                  <a:ext uri="{0D108BD9-81ED-4DB2-BD59-A6C34878D82A}">
                    <a16:rowId xmlns:a16="http://schemas.microsoft.com/office/drawing/2014/main" val="1708143926"/>
                  </a:ext>
                </a:extLst>
              </a:tr>
            </a:tbl>
          </a:graphicData>
        </a:graphic>
      </p:graphicFrame>
      <p:sp>
        <p:nvSpPr>
          <p:cNvPr id="9" name="テキスト ボックス 8">
            <a:extLst>
              <a:ext uri="{FF2B5EF4-FFF2-40B4-BE49-F238E27FC236}">
                <a16:creationId xmlns:a16="http://schemas.microsoft.com/office/drawing/2014/main" id="{ABD48794-4F57-D796-4F03-C90C519C4554}"/>
              </a:ext>
            </a:extLst>
          </p:cNvPr>
          <p:cNvSpPr txBox="1"/>
          <p:nvPr/>
        </p:nvSpPr>
        <p:spPr>
          <a:xfrm>
            <a:off x="1046747" y="1710830"/>
            <a:ext cx="9553076" cy="369332"/>
          </a:xfrm>
          <a:prstGeom prst="rect">
            <a:avLst/>
          </a:prstGeom>
          <a:noFill/>
        </p:spPr>
        <p:txBody>
          <a:bodyPr wrap="square" rtlCol="0">
            <a:spAutoFit/>
          </a:bodyPr>
          <a:lstStyle/>
          <a:p>
            <a:pPr algn="ctr"/>
            <a:r>
              <a:rPr kumimoji="1" lang="en-US" altLang="ja-JP" b="1" dirty="0"/>
              <a:t>DS1 </a:t>
            </a:r>
            <a:r>
              <a:rPr kumimoji="1" lang="ja-JP" altLang="en-US" b="1" dirty="0"/>
              <a:t>比較結果</a:t>
            </a:r>
          </a:p>
        </p:txBody>
      </p:sp>
      <p:graphicFrame>
        <p:nvGraphicFramePr>
          <p:cNvPr id="10" name="表 9">
            <a:extLst>
              <a:ext uri="{FF2B5EF4-FFF2-40B4-BE49-F238E27FC236}">
                <a16:creationId xmlns:a16="http://schemas.microsoft.com/office/drawing/2014/main" id="{A92FD34D-1510-6FE2-150E-2694A293C8A8}"/>
              </a:ext>
            </a:extLst>
          </p:cNvPr>
          <p:cNvGraphicFramePr>
            <a:graphicFrameLocks noGrp="1"/>
          </p:cNvGraphicFramePr>
          <p:nvPr>
            <p:extLst>
              <p:ext uri="{D42A27DB-BD31-4B8C-83A1-F6EECF244321}">
                <p14:modId xmlns:p14="http://schemas.microsoft.com/office/powerpoint/2010/main" val="285618792"/>
              </p:ext>
            </p:extLst>
          </p:nvPr>
        </p:nvGraphicFramePr>
        <p:xfrm>
          <a:off x="1046747" y="4165725"/>
          <a:ext cx="9553076" cy="1381760"/>
        </p:xfrm>
        <a:graphic>
          <a:graphicData uri="http://schemas.openxmlformats.org/drawingml/2006/table">
            <a:tbl>
              <a:tblPr firstRow="1" bandRow="1">
                <a:tableStyleId>{5C22544A-7EE6-4342-B048-85BDC9FD1C3A}</a:tableStyleId>
              </a:tblPr>
              <a:tblGrid>
                <a:gridCol w="1700522">
                  <a:extLst>
                    <a:ext uri="{9D8B030D-6E8A-4147-A177-3AD203B41FA5}">
                      <a16:colId xmlns:a16="http://schemas.microsoft.com/office/drawing/2014/main" val="820177428"/>
                    </a:ext>
                  </a:extLst>
                </a:gridCol>
                <a:gridCol w="1175026">
                  <a:extLst>
                    <a:ext uri="{9D8B030D-6E8A-4147-A177-3AD203B41FA5}">
                      <a16:colId xmlns:a16="http://schemas.microsoft.com/office/drawing/2014/main" val="379214798"/>
                    </a:ext>
                  </a:extLst>
                </a:gridCol>
                <a:gridCol w="1275347">
                  <a:extLst>
                    <a:ext uri="{9D8B030D-6E8A-4147-A177-3AD203B41FA5}">
                      <a16:colId xmlns:a16="http://schemas.microsoft.com/office/drawing/2014/main" val="646519767"/>
                    </a:ext>
                  </a:extLst>
                </a:gridCol>
                <a:gridCol w="1239253">
                  <a:extLst>
                    <a:ext uri="{9D8B030D-6E8A-4147-A177-3AD203B41FA5}">
                      <a16:colId xmlns:a16="http://schemas.microsoft.com/office/drawing/2014/main" val="3964003927"/>
                    </a:ext>
                  </a:extLst>
                </a:gridCol>
                <a:gridCol w="1545410">
                  <a:extLst>
                    <a:ext uri="{9D8B030D-6E8A-4147-A177-3AD203B41FA5}">
                      <a16:colId xmlns:a16="http://schemas.microsoft.com/office/drawing/2014/main" val="1798176600"/>
                    </a:ext>
                  </a:extLst>
                </a:gridCol>
                <a:gridCol w="1308759">
                  <a:extLst>
                    <a:ext uri="{9D8B030D-6E8A-4147-A177-3AD203B41FA5}">
                      <a16:colId xmlns:a16="http://schemas.microsoft.com/office/drawing/2014/main" val="2602626616"/>
                    </a:ext>
                  </a:extLst>
                </a:gridCol>
                <a:gridCol w="1308759">
                  <a:extLst>
                    <a:ext uri="{9D8B030D-6E8A-4147-A177-3AD203B41FA5}">
                      <a16:colId xmlns:a16="http://schemas.microsoft.com/office/drawing/2014/main" val="3419468142"/>
                    </a:ext>
                  </a:extLst>
                </a:gridCol>
              </a:tblGrid>
              <a:tr h="370840">
                <a:tc>
                  <a:txBody>
                    <a:bodyPr/>
                    <a:lstStyle/>
                    <a:p>
                      <a:pPr algn="ctr"/>
                      <a:r>
                        <a:rPr kumimoji="1" lang="ja-JP" altLang="en-US" b="1" dirty="0">
                          <a:solidFill>
                            <a:schemeClr val="bg1"/>
                          </a:solidFill>
                        </a:rPr>
                        <a:t>対象</a:t>
                      </a:r>
                    </a:p>
                  </a:txBody>
                  <a:tcPr/>
                </a:tc>
                <a:tc>
                  <a:txBody>
                    <a:bodyPr/>
                    <a:lstStyle/>
                    <a:p>
                      <a:pPr algn="ctr"/>
                      <a:r>
                        <a:rPr kumimoji="1" lang="ja-JP" altLang="en-US" dirty="0"/>
                        <a:t>最小数</a:t>
                      </a:r>
                    </a:p>
                  </a:txBody>
                  <a:tcPr/>
                </a:tc>
                <a:tc>
                  <a:txBody>
                    <a:bodyPr/>
                    <a:lstStyle/>
                    <a:p>
                      <a:pPr algn="ctr"/>
                      <a:r>
                        <a:rPr kumimoji="1" lang="ja-JP" altLang="en-US" dirty="0"/>
                        <a:t>最大数</a:t>
                      </a:r>
                    </a:p>
                  </a:txBody>
                  <a:tcPr/>
                </a:tc>
                <a:tc>
                  <a:txBody>
                    <a:bodyPr/>
                    <a:lstStyle/>
                    <a:p>
                      <a:pPr algn="ctr"/>
                      <a:r>
                        <a:rPr kumimoji="1" lang="ja-JP" altLang="en-US" dirty="0"/>
                        <a:t>平均数</a:t>
                      </a:r>
                    </a:p>
                  </a:txBody>
                  <a:tcPr/>
                </a:tc>
                <a:tc>
                  <a:txBody>
                    <a:bodyPr/>
                    <a:lstStyle/>
                    <a:p>
                      <a:pPr algn="ctr"/>
                      <a:r>
                        <a:rPr kumimoji="1" lang="ja-JP" altLang="en-US" dirty="0"/>
                        <a:t>平均抽出率</a:t>
                      </a:r>
                    </a:p>
                  </a:txBody>
                  <a:tcPr/>
                </a:tc>
                <a:tc>
                  <a:txBody>
                    <a:bodyPr/>
                    <a:lstStyle/>
                    <a:p>
                      <a:pPr algn="ctr"/>
                      <a:r>
                        <a:rPr kumimoji="1" lang="ja-JP" altLang="en-US" dirty="0"/>
                        <a:t>重要項目の抽出率</a:t>
                      </a:r>
                    </a:p>
                  </a:txBody>
                  <a:tcPr/>
                </a:tc>
                <a:tc>
                  <a:txBody>
                    <a:bodyPr/>
                    <a:lstStyle/>
                    <a:p>
                      <a:pPr algn="ctr"/>
                      <a:r>
                        <a:rPr kumimoji="1" lang="ja-JP" altLang="en-US" dirty="0"/>
                        <a:t>平均時間</a:t>
                      </a:r>
                    </a:p>
                  </a:txBody>
                  <a:tcPr/>
                </a:tc>
                <a:extLst>
                  <a:ext uri="{0D108BD9-81ED-4DB2-BD59-A6C34878D82A}">
                    <a16:rowId xmlns:a16="http://schemas.microsoft.com/office/drawing/2014/main" val="3716155245"/>
                  </a:ext>
                </a:extLst>
              </a:tr>
              <a:tr h="370840">
                <a:tc>
                  <a:txBody>
                    <a:bodyPr/>
                    <a:lstStyle/>
                    <a:p>
                      <a:pPr algn="ctr"/>
                      <a:r>
                        <a:rPr kumimoji="1" lang="ja-JP" altLang="en-US" b="1" dirty="0">
                          <a:solidFill>
                            <a:schemeClr val="bg1"/>
                          </a:solidFill>
                        </a:rPr>
                        <a:t>本研究</a:t>
                      </a:r>
                    </a:p>
                  </a:txBody>
                  <a:tcPr>
                    <a:solidFill>
                      <a:schemeClr val="accent1"/>
                    </a:solidFill>
                  </a:tcPr>
                </a:tc>
                <a:tc>
                  <a:txBody>
                    <a:bodyPr/>
                    <a:lstStyle/>
                    <a:p>
                      <a:pPr algn="ctr"/>
                      <a:r>
                        <a:rPr kumimoji="1" lang="en-US" altLang="ja-JP" dirty="0"/>
                        <a:t>9</a:t>
                      </a:r>
                      <a:endParaRPr kumimoji="1" lang="ja-JP" altLang="en-US" dirty="0"/>
                    </a:p>
                  </a:txBody>
                  <a:tcPr/>
                </a:tc>
                <a:tc>
                  <a:txBody>
                    <a:bodyPr/>
                    <a:lstStyle/>
                    <a:p>
                      <a:pPr algn="ctr"/>
                      <a:r>
                        <a:rPr kumimoji="1" lang="en-US" altLang="ja-JP" dirty="0"/>
                        <a:t>14</a:t>
                      </a:r>
                      <a:endParaRPr kumimoji="1" lang="ja-JP" altLang="en-US" dirty="0"/>
                    </a:p>
                  </a:txBody>
                  <a:tcPr/>
                </a:tc>
                <a:tc>
                  <a:txBody>
                    <a:bodyPr/>
                    <a:lstStyle/>
                    <a:p>
                      <a:pPr algn="ctr"/>
                      <a:r>
                        <a:rPr kumimoji="1" lang="en-US" altLang="ja-JP" dirty="0"/>
                        <a:t>10.7</a:t>
                      </a:r>
                      <a:endParaRPr kumimoji="1" lang="ja-JP" altLang="en-US" dirty="0"/>
                    </a:p>
                  </a:txBody>
                  <a:tcPr/>
                </a:tc>
                <a:tc>
                  <a:txBody>
                    <a:bodyPr/>
                    <a:lstStyle/>
                    <a:p>
                      <a:pPr algn="ctr"/>
                      <a:r>
                        <a:rPr kumimoji="1" lang="en-US" altLang="ja-JP" dirty="0"/>
                        <a:t>76.43%</a:t>
                      </a:r>
                      <a:endParaRPr kumimoji="1" lang="ja-JP" altLang="en-US" dirty="0"/>
                    </a:p>
                  </a:txBody>
                  <a:tcPr/>
                </a:tc>
                <a:tc>
                  <a:txBody>
                    <a:bodyPr/>
                    <a:lstStyle/>
                    <a:p>
                      <a:pPr algn="ctr"/>
                      <a:r>
                        <a:rPr kumimoji="1" lang="en-US" altLang="ja-JP" b="0" dirty="0"/>
                        <a:t>84%</a:t>
                      </a:r>
                      <a:endParaRPr kumimoji="1" lang="ja-JP" altLang="en-US" b="0" dirty="0"/>
                    </a:p>
                  </a:txBody>
                  <a:tcPr/>
                </a:tc>
                <a:tc>
                  <a:txBody>
                    <a:bodyPr/>
                    <a:lstStyle/>
                    <a:p>
                      <a:pPr algn="ctr"/>
                      <a:r>
                        <a:rPr kumimoji="1" lang="en-US" altLang="ja-JP" dirty="0"/>
                        <a:t>2m43s</a:t>
                      </a:r>
                      <a:endParaRPr kumimoji="1" lang="ja-JP" altLang="en-US" dirty="0"/>
                    </a:p>
                  </a:txBody>
                  <a:tcPr/>
                </a:tc>
                <a:extLst>
                  <a:ext uri="{0D108BD9-81ED-4DB2-BD59-A6C34878D82A}">
                    <a16:rowId xmlns:a16="http://schemas.microsoft.com/office/drawing/2014/main" val="166596958"/>
                  </a:ext>
                </a:extLst>
              </a:tr>
              <a:tr h="370840">
                <a:tc>
                  <a:txBody>
                    <a:bodyPr/>
                    <a:lstStyle/>
                    <a:p>
                      <a:pPr algn="ctr"/>
                      <a:r>
                        <a:rPr kumimoji="1" lang="ja-JP" altLang="en-US" b="1" dirty="0">
                          <a:solidFill>
                            <a:schemeClr val="bg1"/>
                          </a:solidFill>
                        </a:rPr>
                        <a:t>人</a:t>
                      </a:r>
                    </a:p>
                  </a:txBody>
                  <a:tcPr>
                    <a:solidFill>
                      <a:schemeClr val="accent1"/>
                    </a:solidFill>
                  </a:tcPr>
                </a:tc>
                <a:tc>
                  <a:txBody>
                    <a:bodyPr/>
                    <a:lstStyle/>
                    <a:p>
                      <a:pPr algn="ctr"/>
                      <a:r>
                        <a:rPr kumimoji="1" lang="en-US" altLang="ja-JP" dirty="0"/>
                        <a:t>14</a:t>
                      </a:r>
                      <a:endParaRPr kumimoji="1" lang="ja-JP" altLang="en-US" dirty="0"/>
                    </a:p>
                  </a:txBody>
                  <a:tcPr/>
                </a:tc>
                <a:tc>
                  <a:txBody>
                    <a:bodyPr/>
                    <a:lstStyle/>
                    <a:p>
                      <a:pPr algn="ctr"/>
                      <a:r>
                        <a:rPr kumimoji="1" lang="en-US" altLang="ja-JP" dirty="0"/>
                        <a:t>14</a:t>
                      </a:r>
                      <a:endParaRPr kumimoji="1" lang="ja-JP" altLang="en-US" dirty="0"/>
                    </a:p>
                  </a:txBody>
                  <a:tcPr/>
                </a:tc>
                <a:tc>
                  <a:txBody>
                    <a:bodyPr/>
                    <a:lstStyle/>
                    <a:p>
                      <a:pPr algn="ctr"/>
                      <a:r>
                        <a:rPr kumimoji="1" lang="en-US" altLang="ja-JP" dirty="0"/>
                        <a:t>14</a:t>
                      </a:r>
                      <a:endParaRPr kumimoji="1" lang="ja-JP" altLang="en-US" dirty="0"/>
                    </a:p>
                  </a:txBody>
                  <a:tcPr/>
                </a:tc>
                <a:tc>
                  <a:txBody>
                    <a:bodyPr/>
                    <a:lstStyle/>
                    <a:p>
                      <a:pPr algn="ctr"/>
                      <a:r>
                        <a:rPr kumimoji="1" lang="en-US" altLang="ja-JP" dirty="0"/>
                        <a:t>100%</a:t>
                      </a:r>
                      <a:endParaRPr kumimoji="1" lang="ja-JP" altLang="en-US" dirty="0"/>
                    </a:p>
                  </a:txBody>
                  <a:tcPr/>
                </a:tc>
                <a:tc>
                  <a:txBody>
                    <a:bodyPr/>
                    <a:lstStyle/>
                    <a:p>
                      <a:pPr algn="ctr"/>
                      <a:r>
                        <a:rPr kumimoji="1" lang="en-US" altLang="ja-JP" dirty="0"/>
                        <a:t>100%</a:t>
                      </a:r>
                      <a:endParaRPr kumimoji="1" lang="ja-JP" altLang="en-US" dirty="0"/>
                    </a:p>
                  </a:txBody>
                  <a:tcPr/>
                </a:tc>
                <a:tc>
                  <a:txBody>
                    <a:bodyPr/>
                    <a:lstStyle/>
                    <a:p>
                      <a:pPr algn="ctr"/>
                      <a:r>
                        <a:rPr kumimoji="1" lang="en-US" altLang="ja-JP" dirty="0"/>
                        <a:t>213m42s</a:t>
                      </a:r>
                      <a:endParaRPr kumimoji="1" lang="ja-JP" altLang="en-US" dirty="0"/>
                    </a:p>
                  </a:txBody>
                  <a:tcPr/>
                </a:tc>
                <a:extLst>
                  <a:ext uri="{0D108BD9-81ED-4DB2-BD59-A6C34878D82A}">
                    <a16:rowId xmlns:a16="http://schemas.microsoft.com/office/drawing/2014/main" val="1708143926"/>
                  </a:ext>
                </a:extLst>
              </a:tr>
            </a:tbl>
          </a:graphicData>
        </a:graphic>
      </p:graphicFrame>
      <p:sp>
        <p:nvSpPr>
          <p:cNvPr id="11" name="テキスト ボックス 10">
            <a:extLst>
              <a:ext uri="{FF2B5EF4-FFF2-40B4-BE49-F238E27FC236}">
                <a16:creationId xmlns:a16="http://schemas.microsoft.com/office/drawing/2014/main" id="{81FF728B-DD7C-E7BB-60D0-53AD401BE4D7}"/>
              </a:ext>
            </a:extLst>
          </p:cNvPr>
          <p:cNvSpPr txBox="1"/>
          <p:nvPr/>
        </p:nvSpPr>
        <p:spPr>
          <a:xfrm>
            <a:off x="1046747" y="3776251"/>
            <a:ext cx="9553076" cy="369332"/>
          </a:xfrm>
          <a:prstGeom prst="rect">
            <a:avLst/>
          </a:prstGeom>
          <a:noFill/>
        </p:spPr>
        <p:txBody>
          <a:bodyPr wrap="square" rtlCol="0">
            <a:spAutoFit/>
          </a:bodyPr>
          <a:lstStyle/>
          <a:p>
            <a:pPr algn="ctr"/>
            <a:r>
              <a:rPr kumimoji="1" lang="en-US" altLang="ja-JP" b="1" dirty="0"/>
              <a:t>DS2 </a:t>
            </a:r>
            <a:r>
              <a:rPr kumimoji="1" lang="ja-JP" altLang="en-US" b="1" dirty="0"/>
              <a:t>比較結果</a:t>
            </a:r>
          </a:p>
        </p:txBody>
      </p:sp>
    </p:spTree>
    <p:extLst>
      <p:ext uri="{BB962C8B-B14F-4D97-AF65-F5344CB8AC3E}">
        <p14:creationId xmlns:p14="http://schemas.microsoft.com/office/powerpoint/2010/main" val="690693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0B8726-2F14-6E86-3EE0-073DC0749652}"/>
              </a:ext>
            </a:extLst>
          </p:cNvPr>
          <p:cNvSpPr>
            <a:spLocks noGrp="1"/>
          </p:cNvSpPr>
          <p:nvPr>
            <p:ph type="title"/>
          </p:nvPr>
        </p:nvSpPr>
        <p:spPr/>
        <p:txBody>
          <a:bodyPr/>
          <a:lstStyle/>
          <a:p>
            <a:r>
              <a:rPr kumimoji="1" lang="ja-JP" altLang="en-US" dirty="0"/>
              <a:t>評価まとめ</a:t>
            </a:r>
          </a:p>
        </p:txBody>
      </p:sp>
      <p:sp>
        <p:nvSpPr>
          <p:cNvPr id="3" name="コンテンツ プレースホルダー 2">
            <a:extLst>
              <a:ext uri="{FF2B5EF4-FFF2-40B4-BE49-F238E27FC236}">
                <a16:creationId xmlns:a16="http://schemas.microsoft.com/office/drawing/2014/main" id="{91A01277-3616-851A-7BBC-AF5B59E4B1C4}"/>
              </a:ext>
            </a:extLst>
          </p:cNvPr>
          <p:cNvSpPr>
            <a:spLocks noGrp="1"/>
          </p:cNvSpPr>
          <p:nvPr>
            <p:ph idx="1"/>
          </p:nvPr>
        </p:nvSpPr>
        <p:spPr/>
        <p:txBody>
          <a:bodyPr/>
          <a:lstStyle/>
          <a:p>
            <a:r>
              <a:rPr kumimoji="1" lang="ja-JP" altLang="en-US" dirty="0"/>
              <a:t>温度パラメータの最適化により、</a:t>
            </a:r>
            <a:r>
              <a:rPr kumimoji="1" lang="en-US" altLang="ja-JP" dirty="0"/>
              <a:t>AI</a:t>
            </a:r>
            <a:r>
              <a:rPr kumimoji="1" lang="ja-JP" altLang="en-US" dirty="0"/>
              <a:t>生成の精度が向上したが、人の作成には達しなかった</a:t>
            </a:r>
            <a:endParaRPr kumimoji="1" lang="en-US" altLang="ja-JP" dirty="0"/>
          </a:p>
          <a:p>
            <a:r>
              <a:rPr kumimoji="1" lang="ja-JP" altLang="en-US" dirty="0"/>
              <a:t>所要時間のみの評価では、人よりはるかに短い時間で作成された</a:t>
            </a:r>
            <a:endParaRPr kumimoji="1" lang="en-US" altLang="ja-JP" dirty="0"/>
          </a:p>
          <a:p>
            <a:r>
              <a:rPr lang="ja-JP" altLang="en-US" dirty="0"/>
              <a:t>項目の過抽出や情報の欠落、日本語・英語の混在の問題が見られ、これは生成</a:t>
            </a:r>
            <a:r>
              <a:rPr lang="en-US" altLang="ja-JP" dirty="0"/>
              <a:t>AI</a:t>
            </a:r>
            <a:r>
              <a:rPr lang="ja-JP" altLang="en-US" dirty="0"/>
              <a:t>の分析・出力特性によるものだと考える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21FE781-C1E2-FB7D-0EC7-BA82BC686AFD}"/>
              </a:ext>
            </a:extLst>
          </p:cNvPr>
          <p:cNvSpPr>
            <a:spLocks noGrp="1"/>
          </p:cNvSpPr>
          <p:nvPr>
            <p:ph type="sldNum" sz="quarter" idx="12"/>
          </p:nvPr>
        </p:nvSpPr>
        <p:spPr/>
        <p:txBody>
          <a:bodyPr/>
          <a:lstStyle/>
          <a:p>
            <a:fld id="{F32C8F3A-98E9-46B1-BAC9-77D093337233}" type="slidenum">
              <a:rPr kumimoji="1" lang="ja-JP" altLang="en-US" smtClean="0"/>
              <a:t>15</a:t>
            </a:fld>
            <a:endParaRPr kumimoji="1" lang="ja-JP" altLang="en-US"/>
          </a:p>
        </p:txBody>
      </p:sp>
    </p:spTree>
    <p:extLst>
      <p:ext uri="{BB962C8B-B14F-4D97-AF65-F5344CB8AC3E}">
        <p14:creationId xmlns:p14="http://schemas.microsoft.com/office/powerpoint/2010/main" val="166997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AE8212-C173-D0BF-AE35-5BB6317B2719}"/>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447ED471-E859-31E5-570F-B1FF39B0C9D1}"/>
              </a:ext>
            </a:extLst>
          </p:cNvPr>
          <p:cNvSpPr>
            <a:spLocks noGrp="1"/>
          </p:cNvSpPr>
          <p:nvPr>
            <p:ph idx="1"/>
          </p:nvPr>
        </p:nvSpPr>
        <p:spPr/>
        <p:txBody>
          <a:bodyPr>
            <a:normAutofit lnSpcReduction="10000"/>
          </a:bodyPr>
          <a:lstStyle/>
          <a:p>
            <a:pPr marL="514350" indent="-514350">
              <a:buFont typeface="+mj-ea"/>
              <a:buAutoNum type="circleNumDbPlain"/>
            </a:pPr>
            <a:r>
              <a:rPr kumimoji="1" lang="ja-JP" altLang="en-US" dirty="0"/>
              <a:t>言語の混在</a:t>
            </a:r>
            <a:endParaRPr lang="en-US" altLang="ja-JP" dirty="0"/>
          </a:p>
          <a:p>
            <a:pPr marL="457200" lvl="1" indent="0">
              <a:buNone/>
            </a:pPr>
            <a:r>
              <a:rPr lang="en-US" altLang="ja-JP" dirty="0"/>
              <a:t>GPT</a:t>
            </a:r>
            <a:r>
              <a:rPr lang="ja-JP" altLang="en-US" dirty="0"/>
              <a:t>自体が多言語を用いた学習を行っていることが考えられ、データやプロンプト内に複数の言語が含まれることから出力仕様の誘導により言語の混在が生じたと推察する。</a:t>
            </a:r>
            <a:endParaRPr kumimoji="1" lang="en-US" altLang="ja-JP" dirty="0"/>
          </a:p>
          <a:p>
            <a:pPr marL="514350" indent="-514350">
              <a:buFont typeface="+mj-ea"/>
              <a:buAutoNum type="circleNumDbPlain"/>
            </a:pPr>
            <a:r>
              <a:rPr lang="ja-JP" altLang="en-US" dirty="0"/>
              <a:t>人の代替になりえるか</a:t>
            </a:r>
            <a:endParaRPr lang="en-US" altLang="ja-JP" dirty="0"/>
          </a:p>
          <a:p>
            <a:pPr marL="457200" lvl="1" indent="0">
              <a:buNone/>
            </a:pPr>
            <a:r>
              <a:rPr kumimoji="1" lang="ja-JP" altLang="en-US" b="1" u="sng" dirty="0"/>
              <a:t>結論</a:t>
            </a:r>
            <a:r>
              <a:rPr kumimoji="1" lang="en-US" altLang="ja-JP" b="1" u="sng" dirty="0"/>
              <a:t>: </a:t>
            </a:r>
            <a:r>
              <a:rPr kumimoji="1" lang="ja-JP" altLang="en-US" b="1" u="sng" dirty="0"/>
              <a:t>現状かなり難しい</a:t>
            </a:r>
            <a:endParaRPr kumimoji="1" lang="en-US" altLang="ja-JP" b="1" u="sng" dirty="0"/>
          </a:p>
          <a:p>
            <a:pPr marL="914400" lvl="1" indent="-457200">
              <a:buAutoNum type="arabicPeriod"/>
            </a:pPr>
            <a:r>
              <a:rPr kumimoji="1" lang="ja-JP" altLang="en-US" dirty="0"/>
              <a:t>同項重複・推測補完により、過抽出が増え、内容の誤りゼロの保証ができない</a:t>
            </a:r>
            <a:endParaRPr kumimoji="1" lang="en-US" altLang="ja-JP" dirty="0"/>
          </a:p>
          <a:p>
            <a:pPr marL="914400" lvl="1" indent="-457200">
              <a:buAutoNum type="arabicPeriod"/>
            </a:pPr>
            <a:r>
              <a:rPr lang="ja-JP" altLang="en-US" dirty="0"/>
              <a:t>発言によっては、決定的判断がとれなかったり、暗黙な合意などが見られると生成</a:t>
            </a:r>
            <a:r>
              <a:rPr lang="en-US" altLang="ja-JP" dirty="0"/>
              <a:t>AI</a:t>
            </a:r>
            <a:r>
              <a:rPr lang="ja-JP" altLang="en-US" dirty="0"/>
              <a:t>では識別できない</a:t>
            </a:r>
            <a:endParaRPr lang="en-US" altLang="ja-JP" dirty="0"/>
          </a:p>
          <a:p>
            <a:pPr marL="914400" lvl="1" indent="-457200">
              <a:buAutoNum type="arabicPeriod"/>
            </a:pPr>
            <a:r>
              <a:rPr kumimoji="1" lang="ja-JP" altLang="en-US" dirty="0"/>
              <a:t>モデル進化で改善余地はあるが、確率的生成の性質が残る限り、課題解</a:t>
            </a:r>
            <a:r>
              <a:rPr lang="ja-JP" altLang="en-US" dirty="0"/>
              <a:t>決</a:t>
            </a:r>
            <a:r>
              <a:rPr kumimoji="1" lang="ja-JP" altLang="en-US" dirty="0"/>
              <a:t>は見込めない</a:t>
            </a:r>
            <a:endParaRPr kumimoji="1" lang="en-US" altLang="ja-JP" dirty="0"/>
          </a:p>
          <a:p>
            <a:pPr marL="457200" lvl="1" indent="0">
              <a:buNone/>
            </a:pPr>
            <a:endParaRPr kumimoji="1" lang="ja-JP" altLang="en-US" dirty="0"/>
          </a:p>
        </p:txBody>
      </p:sp>
      <p:sp>
        <p:nvSpPr>
          <p:cNvPr id="4" name="スライド番号プレースホルダー 3">
            <a:extLst>
              <a:ext uri="{FF2B5EF4-FFF2-40B4-BE49-F238E27FC236}">
                <a16:creationId xmlns:a16="http://schemas.microsoft.com/office/drawing/2014/main" id="{D9205E4C-02D6-C007-5E02-433E66051DC5}"/>
              </a:ext>
            </a:extLst>
          </p:cNvPr>
          <p:cNvSpPr>
            <a:spLocks noGrp="1"/>
          </p:cNvSpPr>
          <p:nvPr>
            <p:ph type="sldNum" sz="quarter" idx="12"/>
          </p:nvPr>
        </p:nvSpPr>
        <p:spPr/>
        <p:txBody>
          <a:bodyPr/>
          <a:lstStyle/>
          <a:p>
            <a:fld id="{F32C8F3A-98E9-46B1-BAC9-77D093337233}" type="slidenum">
              <a:rPr kumimoji="1" lang="ja-JP" altLang="en-US" smtClean="0"/>
              <a:t>16</a:t>
            </a:fld>
            <a:endParaRPr kumimoji="1" lang="ja-JP" altLang="en-US" dirty="0"/>
          </a:p>
        </p:txBody>
      </p:sp>
    </p:spTree>
    <p:extLst>
      <p:ext uri="{BB962C8B-B14F-4D97-AF65-F5344CB8AC3E}">
        <p14:creationId xmlns:p14="http://schemas.microsoft.com/office/powerpoint/2010/main" val="3500393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A863AB-7D98-4734-8F3C-55234BE5B0C1}"/>
              </a:ext>
            </a:extLst>
          </p:cNvPr>
          <p:cNvSpPr>
            <a:spLocks noGrp="1"/>
          </p:cNvSpPr>
          <p:nvPr>
            <p:ph type="title"/>
          </p:nvPr>
        </p:nvSpPr>
        <p:spPr/>
        <p:txBody>
          <a:bodyPr/>
          <a:lstStyle/>
          <a:p>
            <a:r>
              <a:rPr kumimoji="1" lang="ja-JP" altLang="en-US" dirty="0"/>
              <a:t>結論</a:t>
            </a:r>
          </a:p>
        </p:txBody>
      </p:sp>
      <p:sp>
        <p:nvSpPr>
          <p:cNvPr id="3" name="コンテンツ プレースホルダー 2">
            <a:extLst>
              <a:ext uri="{FF2B5EF4-FFF2-40B4-BE49-F238E27FC236}">
                <a16:creationId xmlns:a16="http://schemas.microsoft.com/office/drawing/2014/main" id="{3132E176-FCD7-3C70-78D1-FEFDE228BF41}"/>
              </a:ext>
            </a:extLst>
          </p:cNvPr>
          <p:cNvSpPr>
            <a:spLocks noGrp="1"/>
          </p:cNvSpPr>
          <p:nvPr>
            <p:ph idx="1"/>
          </p:nvPr>
        </p:nvSpPr>
        <p:spPr/>
        <p:txBody>
          <a:bodyPr/>
          <a:lstStyle/>
          <a:p>
            <a:r>
              <a:rPr kumimoji="1" lang="ja-JP" altLang="en-US" dirty="0"/>
              <a:t>議事録ログから要求要件を抽出し、テンプレートで仕様書化する段階処理・温度パラメータの最適化は有効であった</a:t>
            </a:r>
            <a:endParaRPr kumimoji="1" lang="en-US" altLang="ja-JP" dirty="0"/>
          </a:p>
          <a:p>
            <a:r>
              <a:rPr lang="ja-JP" altLang="en-US" dirty="0"/>
              <a:t>実験により、生成</a:t>
            </a:r>
            <a:r>
              <a:rPr lang="en-US" altLang="ja-JP" dirty="0"/>
              <a:t>AI</a:t>
            </a:r>
            <a:r>
              <a:rPr lang="ja-JP" altLang="en-US" dirty="0"/>
              <a:t>を用いることで人の負担を大幅に改善できる希望は見えた。一方で、抽出精度・過抽出・最終状態の判定などの課題を抱えており、現状は人の完全代替にはなりえない</a:t>
            </a:r>
            <a:endParaRPr lang="en-US" altLang="ja-JP" dirty="0"/>
          </a:p>
          <a:p>
            <a:r>
              <a:rPr kumimoji="1" lang="ja-JP" altLang="en-US" dirty="0"/>
              <a:t>今後の生成</a:t>
            </a:r>
            <a:r>
              <a:rPr kumimoji="1" lang="en-US" altLang="ja-JP" dirty="0"/>
              <a:t>AI</a:t>
            </a:r>
            <a:r>
              <a:rPr kumimoji="1" lang="ja-JP" altLang="en-US" dirty="0"/>
              <a:t>の進化傾向や生成</a:t>
            </a:r>
            <a:r>
              <a:rPr kumimoji="1" lang="en-US" altLang="ja-JP" dirty="0"/>
              <a:t>AI</a:t>
            </a:r>
            <a:r>
              <a:rPr kumimoji="1" lang="ja-JP" altLang="en-US" dirty="0"/>
              <a:t>の特性に人が合わせることで解消できる見込みはある</a:t>
            </a:r>
          </a:p>
        </p:txBody>
      </p:sp>
      <p:sp>
        <p:nvSpPr>
          <p:cNvPr id="4" name="スライド番号プレースホルダー 3">
            <a:extLst>
              <a:ext uri="{FF2B5EF4-FFF2-40B4-BE49-F238E27FC236}">
                <a16:creationId xmlns:a16="http://schemas.microsoft.com/office/drawing/2014/main" id="{3E16830D-5AE5-1862-4234-E4A5BDA485B7}"/>
              </a:ext>
            </a:extLst>
          </p:cNvPr>
          <p:cNvSpPr>
            <a:spLocks noGrp="1"/>
          </p:cNvSpPr>
          <p:nvPr>
            <p:ph type="sldNum" sz="quarter" idx="12"/>
          </p:nvPr>
        </p:nvSpPr>
        <p:spPr/>
        <p:txBody>
          <a:bodyPr/>
          <a:lstStyle/>
          <a:p>
            <a:fld id="{F32C8F3A-98E9-46B1-BAC9-77D093337233}" type="slidenum">
              <a:rPr kumimoji="1" lang="ja-JP" altLang="en-US" smtClean="0"/>
              <a:t>17</a:t>
            </a:fld>
            <a:endParaRPr kumimoji="1" lang="ja-JP" altLang="en-US"/>
          </a:p>
        </p:txBody>
      </p:sp>
    </p:spTree>
    <p:extLst>
      <p:ext uri="{BB962C8B-B14F-4D97-AF65-F5344CB8AC3E}">
        <p14:creationId xmlns:p14="http://schemas.microsoft.com/office/powerpoint/2010/main" val="46700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19FA5C-2E60-9E37-507E-B3AC6FDA58AA}"/>
              </a:ext>
            </a:extLst>
          </p:cNvPr>
          <p:cNvSpPr>
            <a:spLocks noGrp="1"/>
          </p:cNvSpPr>
          <p:nvPr>
            <p:ph type="title"/>
          </p:nvPr>
        </p:nvSpPr>
        <p:spPr>
          <a:xfrm>
            <a:off x="2039352" y="2766218"/>
            <a:ext cx="8113295" cy="1325563"/>
          </a:xfrm>
        </p:spPr>
        <p:txBody>
          <a:bodyPr/>
          <a:lstStyle/>
          <a:p>
            <a:r>
              <a:rPr kumimoji="1" lang="ja-JP" altLang="en-US" dirty="0"/>
              <a:t>ご清聴ありがとうございました</a:t>
            </a:r>
          </a:p>
        </p:txBody>
      </p:sp>
      <p:sp>
        <p:nvSpPr>
          <p:cNvPr id="4" name="スライド番号プレースホルダー 3">
            <a:extLst>
              <a:ext uri="{FF2B5EF4-FFF2-40B4-BE49-F238E27FC236}">
                <a16:creationId xmlns:a16="http://schemas.microsoft.com/office/drawing/2014/main" id="{C0396061-894C-1538-9906-34F655A08DE5}"/>
              </a:ext>
            </a:extLst>
          </p:cNvPr>
          <p:cNvSpPr>
            <a:spLocks noGrp="1"/>
          </p:cNvSpPr>
          <p:nvPr>
            <p:ph type="sldNum" sz="quarter" idx="12"/>
          </p:nvPr>
        </p:nvSpPr>
        <p:spPr/>
        <p:txBody>
          <a:bodyPr/>
          <a:lstStyle/>
          <a:p>
            <a:fld id="{F32C8F3A-98E9-46B1-BAC9-77D093337233}" type="slidenum">
              <a:rPr kumimoji="1" lang="ja-JP" altLang="en-US" smtClean="0"/>
              <a:t>18</a:t>
            </a:fld>
            <a:endParaRPr kumimoji="1" lang="ja-JP" altLang="en-US"/>
          </a:p>
        </p:txBody>
      </p:sp>
    </p:spTree>
    <p:extLst>
      <p:ext uri="{BB962C8B-B14F-4D97-AF65-F5344CB8AC3E}">
        <p14:creationId xmlns:p14="http://schemas.microsoft.com/office/powerpoint/2010/main" val="115552488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2652</TotalTime>
  <Words>3354</Words>
  <Application>Microsoft Office PowerPoint</Application>
  <PresentationFormat>ワイド画面</PresentationFormat>
  <Paragraphs>429</Paragraphs>
  <Slides>18</Slides>
  <Notes>18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18</vt:i4>
      </vt:variant>
    </vt:vector>
  </HeadingPairs>
  <TitlesOfParts>
    <vt:vector size="22" baseType="lpstr">
      <vt:lpstr>游ゴシック</vt:lpstr>
      <vt:lpstr>游ゴシック Light</vt:lpstr>
      <vt:lpstr>Arial</vt:lpstr>
      <vt:lpstr>Office テーマ</vt:lpstr>
      <vt:lpstr>LLMによる打合せログからの要求仕様書生成</vt:lpstr>
      <vt:lpstr>背景</vt:lpstr>
      <vt:lpstr>実験①: 素の生成AIでの生成処理</vt:lpstr>
      <vt:lpstr>生成AIの限界</vt:lpstr>
      <vt:lpstr>目的</vt:lpstr>
      <vt:lpstr>提案手法</vt:lpstr>
      <vt:lpstr>アプローチ手法</vt:lpstr>
      <vt:lpstr>使用データ</vt:lpstr>
      <vt:lpstr>実験②: 最適凍結ファイル調査</vt:lpstr>
      <vt:lpstr>実験②: 性能検証 結果</vt:lpstr>
      <vt:lpstr>実験②: 汎化検証 結果</vt:lpstr>
      <vt:lpstr>比較検証</vt:lpstr>
      <vt:lpstr>比較①:素のAI vs 本研究プログラム</vt:lpstr>
      <vt:lpstr>比較②: 本研究プログラム vs 人手作成</vt:lpstr>
      <vt:lpstr>評価まとめ</vt:lpstr>
      <vt:lpstr>考察</vt:lpstr>
      <vt:lpstr>結論</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琉斗 飯田</dc:creator>
  <cp:lastModifiedBy>琉斗 飯田</cp:lastModifiedBy>
  <cp:revision>21</cp:revision>
  <cp:lastPrinted>2026-02-08T22:42:24Z</cp:lastPrinted>
  <dcterms:created xsi:type="dcterms:W3CDTF">2026-02-01T02:28:45Z</dcterms:created>
  <dcterms:modified xsi:type="dcterms:W3CDTF">2026-02-08T22:58:43Z</dcterms:modified>
</cp:coreProperties>
</file>